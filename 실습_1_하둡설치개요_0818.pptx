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880" r:id="rId3"/>
    <p:sldMasterId id="2147483882" r:id="rId4"/>
  </p:sldMasterIdLst>
  <p:notesMasterIdLst>
    <p:notesMasterId r:id="rId16"/>
  </p:notesMasterIdLst>
  <p:sldIdLst>
    <p:sldId id="606" r:id="rId5"/>
    <p:sldId id="810" r:id="rId6"/>
    <p:sldId id="797" r:id="rId7"/>
    <p:sldId id="800" r:id="rId8"/>
    <p:sldId id="804" r:id="rId9"/>
    <p:sldId id="812" r:id="rId10"/>
    <p:sldId id="811" r:id="rId11"/>
    <p:sldId id="809" r:id="rId12"/>
    <p:sldId id="813" r:id="rId13"/>
    <p:sldId id="814" r:id="rId14"/>
    <p:sldId id="640" r:id="rId15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07" autoAdjust="0"/>
  </p:normalViewPr>
  <p:slideViewPr>
    <p:cSldViewPr>
      <p:cViewPr varScale="1">
        <p:scale>
          <a:sx n="57" d="100"/>
          <a:sy n="57" d="100"/>
        </p:scale>
        <p:origin x="78" y="180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82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4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773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980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04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45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 dirty="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92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4A25CFD3-BACC-4D4F-83A0-F184EEC9A2A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657219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131A4479-03CB-4EB7-AD7F-CD6AC9B4F09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979276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0CFB7DD8-CC4A-43BB-888D-85488F3141E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974359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FDDD355A-61A2-48AB-975A-44032B8C25B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2638992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E3FEA2F3-C5A1-4A97-B08A-B61BCFDA786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2201675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87790DE3-6263-4973-9FB7-BB1B4E8ADC6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334950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EB5AA734-D198-4812-96F1-89B81FFA6F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335361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A70D72DC-DFF4-41C5-BFE1-8429F95A5B7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2127994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31051C9F-507F-4EF2-A3FC-369B420E894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408879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E132BC9B-2184-4574-8D73-9B0FEE8FDBA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25561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0852E051-381D-4344-B11E-4BF7C7588CF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2014622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870" y="274638"/>
            <a:ext cx="7705234" cy="4180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1" hangingPunct="1">
              <a:spcBef>
                <a:spcPct val="0"/>
              </a:spcBef>
              <a:buNone/>
              <a:defRPr lang="ko-KR" altLang="en-US" sz="2800" b="1" kern="12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193011" y="836613"/>
            <a:ext cx="9541529" cy="6481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44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23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2055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7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>
                <a:defRPr/>
              </a:pPr>
              <a:endParaRPr lang="ko-KR" altLang="en-US" sz="1500" b="1" smtClean="0">
                <a:solidFill>
                  <a:srgbClr val="FFFFFF"/>
                </a:solidFill>
              </a:endParaRPr>
            </a:p>
          </p:txBody>
        </p:sp>
      </p:grpSp>
      <p:pic>
        <p:nvPicPr>
          <p:cNvPr id="2051" name="Picture 8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mtClean="0"/>
            </a:lvl1pPr>
          </a:lstStyle>
          <a:p>
            <a:pPr>
              <a:defRPr/>
            </a:pPr>
            <a:r>
              <a:rPr lang="en-US" altLang="ko-KR">
                <a:solidFill>
                  <a:srgbClr val="000000"/>
                </a:solidFill>
              </a:rPr>
              <a:t>- </a:t>
            </a:r>
            <a:fld id="{BAD5C776-6192-4BBB-BAD6-3CC35295E61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08473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1. </a:t>
            </a:r>
            <a:r>
              <a:rPr lang="ko-KR" altLang="en-US" sz="4400" b="1" smtClean="0">
                <a:solidFill>
                  <a:schemeClr val="tx2"/>
                </a:solidFill>
              </a:rPr>
              <a:t>하둡 설치 개요</a:t>
            </a:r>
            <a:endParaRPr lang="ko-KR" altLang="en-US" sz="4400" b="1" dirty="0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빅데이터 플랫폼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8669" y="1018121"/>
            <a:ext cx="9540875" cy="1008062"/>
          </a:xfrm>
        </p:spPr>
        <p:txBody>
          <a:bodyPr/>
          <a:lstStyle/>
          <a:p>
            <a:pPr marL="285750" indent="-285750" latinLnBrk="0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l"/>
            </a:pPr>
            <a:r>
              <a:rPr lang="ko-KR" altLang="en-US" sz="1600" smtClean="0">
                <a:latin typeface="+mn-ea"/>
              </a:rPr>
              <a:t>  빅데이터 플랫폼과 소프트웨어</a:t>
            </a:r>
          </a:p>
        </p:txBody>
      </p:sp>
      <p:sp>
        <p:nvSpPr>
          <p:cNvPr id="12" name="제목 8"/>
          <p:cNvSpPr>
            <a:spLocks noGrp="1"/>
          </p:cNvSpPr>
          <p:nvPr>
            <p:ph type="title"/>
          </p:nvPr>
        </p:nvSpPr>
        <p:spPr>
          <a:xfrm>
            <a:off x="201613" y="274638"/>
            <a:ext cx="7704137" cy="41751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1. </a:t>
            </a:r>
            <a:r>
              <a:rPr/>
              <a:t>빅데이터 </a:t>
            </a:r>
            <a:r>
              <a:rPr lang="ko-KR" altLang="en-US" smtClean="0"/>
              <a:t>플랫폼</a:t>
            </a:r>
            <a:endParaRPr/>
          </a:p>
        </p:txBody>
      </p:sp>
      <p:sp>
        <p:nvSpPr>
          <p:cNvPr id="117" name="모서리가 둥근 직사각형 116"/>
          <p:cNvSpPr/>
          <p:nvPr/>
        </p:nvSpPr>
        <p:spPr bwMode="auto">
          <a:xfrm>
            <a:off x="361057" y="1538821"/>
            <a:ext cx="1079500" cy="414337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데이터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361057" y="1964271"/>
            <a:ext cx="1079500" cy="406558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endParaRPr lang="ko-KR" altLang="en-US" sz="1100" b="1" dirty="0">
              <a:solidFill>
                <a:srgbClr val="FFFFFF"/>
              </a:solidFill>
            </a:endParaRPr>
          </a:p>
        </p:txBody>
      </p:sp>
      <p:sp>
        <p:nvSpPr>
          <p:cNvPr id="175" name="직사각형 174"/>
          <p:cNvSpPr/>
          <p:nvPr/>
        </p:nvSpPr>
        <p:spPr bwMode="auto">
          <a:xfrm>
            <a:off x="2334319" y="1449921"/>
            <a:ext cx="7192963" cy="2682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서비스</a:t>
            </a:r>
            <a:r>
              <a:rPr lang="en-US" altLang="ko-KR" sz="1400" b="1">
                <a:solidFill>
                  <a:srgbClr val="000000"/>
                </a:solidFill>
              </a:rPr>
              <a:t> </a:t>
            </a:r>
            <a:r>
              <a:rPr lang="en-US" altLang="ko-KR" sz="1400" b="1" smtClean="0">
                <a:solidFill>
                  <a:srgbClr val="000000"/>
                </a:solidFill>
              </a:rPr>
              <a:t>/ </a:t>
            </a:r>
            <a:r>
              <a:rPr lang="ko-KR" altLang="en-US" sz="1400" b="1" smtClean="0">
                <a:solidFill>
                  <a:srgbClr val="000000"/>
                </a:solidFill>
              </a:rPr>
              <a:t>시각화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76" name="직사각형 175"/>
          <p:cNvSpPr/>
          <p:nvPr/>
        </p:nvSpPr>
        <p:spPr bwMode="auto">
          <a:xfrm>
            <a:off x="2342257" y="2297646"/>
            <a:ext cx="7191375" cy="2809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분석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87" name="직사각형 186"/>
          <p:cNvSpPr/>
          <p:nvPr/>
        </p:nvSpPr>
        <p:spPr bwMode="auto">
          <a:xfrm>
            <a:off x="2312094" y="3412071"/>
            <a:ext cx="7191375" cy="2984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저장 </a:t>
            </a:r>
            <a:r>
              <a:rPr lang="en-US" altLang="ko-KR" sz="1400" b="1">
                <a:solidFill>
                  <a:srgbClr val="000000"/>
                </a:solidFill>
              </a:rPr>
              <a:t>/</a:t>
            </a:r>
            <a:r>
              <a:rPr lang="ko-KR" altLang="en-US" sz="1400" b="1">
                <a:solidFill>
                  <a:srgbClr val="000000"/>
                </a:solidFill>
              </a:rPr>
              <a:t> 처리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88" name="직사각형 187"/>
          <p:cNvSpPr/>
          <p:nvPr/>
        </p:nvSpPr>
        <p:spPr bwMode="auto">
          <a:xfrm>
            <a:off x="2312094" y="5480583"/>
            <a:ext cx="7191375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인프라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90" name="오른쪽 화살표 189"/>
          <p:cNvSpPr/>
          <p:nvPr/>
        </p:nvSpPr>
        <p:spPr bwMode="auto">
          <a:xfrm>
            <a:off x="1661219" y="3559708"/>
            <a:ext cx="481013" cy="266700"/>
          </a:xfrm>
          <a:prstGeom prst="rightArrow">
            <a:avLst/>
          </a:prstGeom>
          <a:solidFill>
            <a:srgbClr val="DDDDDD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000" rIns="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endParaRPr lang="ko-KR" altLang="en-US" sz="800" b="1" dirty="0">
              <a:solidFill>
                <a:srgbClr val="000000"/>
              </a:solidFill>
            </a:endParaRPr>
          </a:p>
        </p:txBody>
      </p:sp>
      <p:sp>
        <p:nvSpPr>
          <p:cNvPr id="193" name="직사각형 192"/>
          <p:cNvSpPr/>
          <p:nvPr/>
        </p:nvSpPr>
        <p:spPr bwMode="auto">
          <a:xfrm>
            <a:off x="2342257" y="1792821"/>
            <a:ext cx="4459287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50" b="1">
                <a:solidFill>
                  <a:srgbClr val="000000"/>
                </a:solidFill>
                <a:latin typeface="맑은 고딕"/>
              </a:rPr>
              <a:t>빅데이터 분석가 및 </a:t>
            </a:r>
            <a:r>
              <a:rPr lang="ko-KR" altLang="en-US" sz="1050" b="1" smtClean="0">
                <a:solidFill>
                  <a:srgbClr val="000000"/>
                </a:solidFill>
                <a:latin typeface="맑은 고딕"/>
              </a:rPr>
              <a:t>고객</a:t>
            </a:r>
            <a:r>
              <a:rPr lang="en-US" altLang="ko-KR" sz="1050" b="1" smtClean="0">
                <a:solidFill>
                  <a:srgbClr val="000000"/>
                </a:solidFill>
                <a:latin typeface="맑은 고딕"/>
              </a:rPr>
              <a:t>(</a:t>
            </a:r>
            <a:r>
              <a:rPr lang="ko-KR" altLang="en-US" sz="1050" b="1" smtClean="0">
                <a:solidFill>
                  <a:srgbClr val="000000"/>
                </a:solidFill>
                <a:latin typeface="맑은 고딕"/>
              </a:rPr>
              <a:t>서비스</a:t>
            </a:r>
            <a:r>
              <a:rPr lang="en-US" altLang="ko-KR" sz="1050" b="1" smtClean="0">
                <a:solidFill>
                  <a:srgbClr val="000000"/>
                </a:solidFill>
                <a:latin typeface="맑은 고딕"/>
              </a:rPr>
              <a:t>)</a:t>
            </a:r>
            <a:r>
              <a:rPr lang="ko-KR" altLang="en-US" sz="1050" b="1" smtClean="0">
                <a:solidFill>
                  <a:srgbClr val="000000"/>
                </a:solidFill>
                <a:latin typeface="맑은 고딕"/>
              </a:rPr>
              <a:t>을 </a:t>
            </a:r>
            <a:r>
              <a:rPr lang="ko-KR" altLang="en-US" sz="1050" b="1">
                <a:solidFill>
                  <a:srgbClr val="000000"/>
                </a:solidFill>
                <a:latin typeface="맑은 고딕"/>
              </a:rPr>
              <a:t>위한 </a:t>
            </a:r>
            <a:r>
              <a:rPr lang="ko-KR" altLang="en-US" sz="1050" b="1" smtClean="0">
                <a:solidFill>
                  <a:srgbClr val="000000"/>
                </a:solidFill>
                <a:latin typeface="맑은 고딕"/>
              </a:rPr>
              <a:t>웹 </a:t>
            </a:r>
            <a:r>
              <a:rPr lang="ko-KR" altLang="en-US" sz="1050" b="1">
                <a:solidFill>
                  <a:srgbClr val="000000"/>
                </a:solidFill>
                <a:latin typeface="맑은 고딕"/>
              </a:rPr>
              <a:t>인터페이스</a:t>
            </a:r>
            <a:endParaRPr lang="en-US" altLang="ko-KR" sz="1050" b="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" name="직사각형 193"/>
          <p:cNvSpPr/>
          <p:nvPr/>
        </p:nvSpPr>
        <p:spPr bwMode="auto">
          <a:xfrm>
            <a:off x="2370832" y="2683408"/>
            <a:ext cx="2468562" cy="673100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spcAft>
                <a:spcPts val="100"/>
              </a:spcAft>
              <a:buClr>
                <a:srgbClr val="00BDFA"/>
              </a:buClr>
              <a:defRPr/>
            </a:pPr>
            <a:r>
              <a:rPr lang="ko-KR" altLang="en-US" sz="1050" b="1" dirty="0">
                <a:solidFill>
                  <a:srgbClr val="000000"/>
                </a:solidFill>
                <a:latin typeface="맑은 고딕"/>
              </a:rPr>
              <a:t>통계</a:t>
            </a:r>
            <a:r>
              <a:rPr lang="en-US" altLang="ko-KR" sz="1050" b="1" dirty="0">
                <a:solidFill>
                  <a:srgbClr val="000000"/>
                </a:solidFill>
                <a:latin typeface="맑은 고딕"/>
              </a:rPr>
              <a:t>/</a:t>
            </a:r>
            <a:r>
              <a:rPr lang="ko-KR" altLang="en-US" sz="1050" b="1" dirty="0">
                <a:solidFill>
                  <a:srgbClr val="000000"/>
                </a:solidFill>
                <a:latin typeface="맑은 고딕"/>
              </a:rPr>
              <a:t>분석</a:t>
            </a:r>
            <a:r>
              <a:rPr lang="en-US" altLang="ko-KR" sz="1050" b="1" dirty="0">
                <a:solidFill>
                  <a:srgbClr val="000000"/>
                </a:solidFill>
                <a:latin typeface="맑은 고딕"/>
              </a:rPr>
              <a:t>/</a:t>
            </a:r>
            <a:r>
              <a:rPr lang="ko-KR" altLang="en-US" sz="1050" b="1" dirty="0" err="1">
                <a:solidFill>
                  <a:srgbClr val="000000"/>
                </a:solidFill>
                <a:latin typeface="맑은 고딕"/>
              </a:rPr>
              <a:t>마이닝</a:t>
            </a:r>
            <a:endParaRPr lang="ko-KR" altLang="en-US" sz="105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" name="직사각형 194"/>
          <p:cNvSpPr/>
          <p:nvPr/>
        </p:nvSpPr>
        <p:spPr bwMode="auto">
          <a:xfrm>
            <a:off x="4909244" y="2683408"/>
            <a:ext cx="1866900" cy="666750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spcAft>
                <a:spcPts val="100"/>
              </a:spcAft>
              <a:buClr>
                <a:srgbClr val="00BDFA"/>
              </a:buClr>
              <a:defRPr/>
            </a:pPr>
            <a:r>
              <a:rPr lang="ko-KR" altLang="en-US" sz="1050" b="1" smtClean="0">
                <a:solidFill>
                  <a:srgbClr val="000000"/>
                </a:solidFill>
                <a:latin typeface="맑은 고딕"/>
              </a:rPr>
              <a:t>고급 </a:t>
            </a:r>
            <a:r>
              <a:rPr lang="ko-KR" altLang="en-US" sz="1050" b="1" dirty="0">
                <a:solidFill>
                  <a:srgbClr val="000000"/>
                </a:solidFill>
                <a:latin typeface="맑은 고딕"/>
              </a:rPr>
              <a:t>분석</a:t>
            </a:r>
          </a:p>
        </p:txBody>
      </p:sp>
      <p:sp>
        <p:nvSpPr>
          <p:cNvPr id="196" name="직사각형 195"/>
          <p:cNvSpPr/>
          <p:nvPr/>
        </p:nvSpPr>
        <p:spPr bwMode="auto">
          <a:xfrm>
            <a:off x="2429569" y="2962808"/>
            <a:ext cx="758825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36000" tIns="54000" rIns="36000" bIns="36000" anchor="ctr"/>
          <a:lstStyle/>
          <a:p>
            <a:pPr algn="ctr" latinLnBrk="0">
              <a:lnSpc>
                <a:spcPct val="7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</a:rPr>
              <a:t>통계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</a:rPr>
              <a:t>/</a:t>
            </a:r>
            <a:r>
              <a:rPr lang="ko-KR" altLang="en-US" sz="900" b="1" dirty="0">
                <a:solidFill>
                  <a:srgbClr val="000000"/>
                </a:solidFill>
                <a:latin typeface="맑은 고딕"/>
              </a:rPr>
              <a:t>분석</a:t>
            </a:r>
          </a:p>
        </p:txBody>
      </p:sp>
      <p:sp>
        <p:nvSpPr>
          <p:cNvPr id="197" name="직사각형 196"/>
          <p:cNvSpPr/>
          <p:nvPr/>
        </p:nvSpPr>
        <p:spPr bwMode="auto">
          <a:xfrm>
            <a:off x="3216969" y="2962808"/>
            <a:ext cx="81915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36000" tIns="54000" rIns="36000" bIns="36000" anchor="ctr"/>
          <a:lstStyle/>
          <a:p>
            <a:pPr algn="ctr" latinLnBrk="0">
              <a:lnSpc>
                <a:spcPct val="7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900" b="1" dirty="0" err="1">
                <a:solidFill>
                  <a:srgbClr val="000000"/>
                </a:solidFill>
                <a:latin typeface="맑은 고딕"/>
              </a:rPr>
              <a:t>데이터마이닝</a:t>
            </a:r>
            <a:endParaRPr lang="ko-KR" altLang="en-US" sz="9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8" name="직사각형 197"/>
          <p:cNvSpPr/>
          <p:nvPr/>
        </p:nvSpPr>
        <p:spPr bwMode="auto">
          <a:xfrm>
            <a:off x="4972744" y="2962808"/>
            <a:ext cx="757238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54000" bIns="36000" anchor="ctr"/>
          <a:lstStyle/>
          <a:p>
            <a:pPr algn="ctr" latinLnBrk="0">
              <a:lnSpc>
                <a:spcPct val="7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맑은 고딕"/>
              </a:rPr>
              <a:t>머신러닝</a:t>
            </a:r>
            <a:endParaRPr lang="en-US" altLang="ko-KR" sz="9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9" name="직사각형 198"/>
          <p:cNvSpPr/>
          <p:nvPr/>
        </p:nvSpPr>
        <p:spPr bwMode="auto">
          <a:xfrm>
            <a:off x="5777607" y="2962808"/>
            <a:ext cx="963612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54000" bIns="36000" anchor="ctr"/>
          <a:lstStyle/>
          <a:p>
            <a:pPr algn="ctr" latinLnBrk="0">
              <a:lnSpc>
                <a:spcPct val="7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맑은 고딕"/>
              </a:rPr>
              <a:t>실시간 </a:t>
            </a:r>
            <a:r>
              <a:rPr lang="ko-KR" altLang="en-US" sz="900" b="1">
                <a:solidFill>
                  <a:srgbClr val="000000"/>
                </a:solidFill>
                <a:latin typeface="맑은 고딕"/>
              </a:rPr>
              <a:t>분석</a:t>
            </a:r>
            <a:endParaRPr lang="en-US" altLang="ko-KR" sz="9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0" name="순서도: 추출 199"/>
          <p:cNvSpPr/>
          <p:nvPr/>
        </p:nvSpPr>
        <p:spPr bwMode="auto">
          <a:xfrm>
            <a:off x="2437507" y="5113871"/>
            <a:ext cx="1066800" cy="331787"/>
          </a:xfrm>
          <a:prstGeom prst="flowChartExtract">
            <a:avLst/>
          </a:prstGeom>
          <a:solidFill>
            <a:srgbClr val="868686">
              <a:alpha val="10196"/>
            </a:srgbClr>
          </a:solidFill>
          <a:ln w="6350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b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추출</a:t>
            </a:r>
          </a:p>
        </p:txBody>
      </p:sp>
      <p:sp>
        <p:nvSpPr>
          <p:cNvPr id="201" name="순서도: 추출 200"/>
          <p:cNvSpPr/>
          <p:nvPr/>
        </p:nvSpPr>
        <p:spPr bwMode="auto">
          <a:xfrm>
            <a:off x="3553519" y="5113871"/>
            <a:ext cx="1066800" cy="331787"/>
          </a:xfrm>
          <a:prstGeom prst="flowChartExtract">
            <a:avLst/>
          </a:prstGeom>
          <a:solidFill>
            <a:srgbClr val="868686">
              <a:alpha val="10196"/>
            </a:srgbClr>
          </a:solidFill>
          <a:ln w="6350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b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전송</a:t>
            </a:r>
          </a:p>
        </p:txBody>
      </p:sp>
      <p:sp>
        <p:nvSpPr>
          <p:cNvPr id="202" name="순서도: 추출 201"/>
          <p:cNvSpPr/>
          <p:nvPr/>
        </p:nvSpPr>
        <p:spPr bwMode="auto">
          <a:xfrm>
            <a:off x="4680644" y="5113871"/>
            <a:ext cx="1066800" cy="331787"/>
          </a:xfrm>
          <a:prstGeom prst="flowChartExtract">
            <a:avLst/>
          </a:prstGeom>
          <a:solidFill>
            <a:srgbClr val="868686">
              <a:alpha val="10196"/>
            </a:srgbClr>
          </a:solidFill>
          <a:ln w="6350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b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변환</a:t>
            </a:r>
          </a:p>
        </p:txBody>
      </p:sp>
      <p:sp>
        <p:nvSpPr>
          <p:cNvPr id="203" name="순서도: 추출 202"/>
          <p:cNvSpPr/>
          <p:nvPr/>
        </p:nvSpPr>
        <p:spPr bwMode="auto">
          <a:xfrm>
            <a:off x="5796657" y="5113871"/>
            <a:ext cx="1066800" cy="331787"/>
          </a:xfrm>
          <a:prstGeom prst="flowChartExtract">
            <a:avLst/>
          </a:prstGeom>
          <a:solidFill>
            <a:srgbClr val="868686">
              <a:alpha val="10196"/>
            </a:srgbClr>
          </a:solidFill>
          <a:ln w="6350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b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저장</a:t>
            </a:r>
          </a:p>
        </p:txBody>
      </p:sp>
      <p:sp>
        <p:nvSpPr>
          <p:cNvPr id="204" name="직사각형 203"/>
          <p:cNvSpPr/>
          <p:nvPr/>
        </p:nvSpPr>
        <p:spPr bwMode="auto">
          <a:xfrm>
            <a:off x="2413694" y="5853646"/>
            <a:ext cx="844550" cy="315912"/>
          </a:xfrm>
          <a:prstGeom prst="rect">
            <a:avLst/>
          </a:prstGeom>
          <a:solidFill>
            <a:srgbClr val="D7D7D7"/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통합보안</a:t>
            </a:r>
          </a:p>
        </p:txBody>
      </p:sp>
      <p:sp>
        <p:nvSpPr>
          <p:cNvPr id="205" name="직사각형 204"/>
          <p:cNvSpPr/>
          <p:nvPr/>
        </p:nvSpPr>
        <p:spPr bwMode="auto">
          <a:xfrm>
            <a:off x="3316982" y="5853646"/>
            <a:ext cx="817562" cy="315912"/>
          </a:xfrm>
          <a:prstGeom prst="rect">
            <a:avLst/>
          </a:prstGeom>
          <a:solidFill>
            <a:srgbClr val="D7D7D7"/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/>
              </a:rPr>
              <a:t>H/W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6" name="직사각형 205"/>
          <p:cNvSpPr/>
          <p:nvPr/>
        </p:nvSpPr>
        <p:spPr bwMode="auto">
          <a:xfrm>
            <a:off x="5956994" y="5853646"/>
            <a:ext cx="873125" cy="315912"/>
          </a:xfrm>
          <a:prstGeom prst="rect">
            <a:avLst/>
          </a:prstGeom>
          <a:solidFill>
            <a:srgbClr val="D7D7D7"/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인증</a:t>
            </a:r>
          </a:p>
        </p:txBody>
      </p:sp>
      <p:sp>
        <p:nvSpPr>
          <p:cNvPr id="207" name="직사각형 206"/>
          <p:cNvSpPr/>
          <p:nvPr/>
        </p:nvSpPr>
        <p:spPr bwMode="auto">
          <a:xfrm>
            <a:off x="2342257" y="4574121"/>
            <a:ext cx="1384300" cy="219075"/>
          </a:xfrm>
          <a:prstGeom prst="rect">
            <a:avLst/>
          </a:prstGeom>
          <a:solidFill>
            <a:srgbClr val="D7D7D7"/>
          </a:solidFill>
          <a:ln w="635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ko-KR" sz="1000" b="1">
                <a:solidFill>
                  <a:srgbClr val="000000"/>
                </a:solidFill>
                <a:latin typeface="맑은 고딕"/>
              </a:rPr>
              <a:t>RDBMS/MPP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" name="직사각형 207"/>
          <p:cNvSpPr/>
          <p:nvPr/>
        </p:nvSpPr>
        <p:spPr bwMode="auto">
          <a:xfrm>
            <a:off x="3783707" y="4574121"/>
            <a:ext cx="1662112" cy="219075"/>
          </a:xfrm>
          <a:prstGeom prst="rect">
            <a:avLst/>
          </a:prstGeom>
          <a:solidFill>
            <a:srgbClr val="D7D7D7"/>
          </a:solidFill>
          <a:ln w="635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ko-KR" sz="1000" b="1" smtClean="0">
                <a:solidFill>
                  <a:srgbClr val="000000"/>
                </a:solidFill>
                <a:latin typeface="맑은 고딕"/>
              </a:rPr>
              <a:t>NoSQL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" name="직사각형 208"/>
          <p:cNvSpPr/>
          <p:nvPr/>
        </p:nvSpPr>
        <p:spPr bwMode="auto">
          <a:xfrm>
            <a:off x="5504557" y="4574121"/>
            <a:ext cx="1271587" cy="219075"/>
          </a:xfrm>
          <a:prstGeom prst="rect">
            <a:avLst/>
          </a:prstGeom>
          <a:solidFill>
            <a:srgbClr val="D7D7D7"/>
          </a:solidFill>
          <a:ln w="635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/>
              </a:rPr>
              <a:t>분산파일시스템</a:t>
            </a:r>
          </a:p>
        </p:txBody>
      </p:sp>
      <p:grpSp>
        <p:nvGrpSpPr>
          <p:cNvPr id="210" name="그룹 63"/>
          <p:cNvGrpSpPr/>
          <p:nvPr/>
        </p:nvGrpSpPr>
        <p:grpSpPr>
          <a:xfrm>
            <a:off x="2413498" y="3750002"/>
            <a:ext cx="1041091" cy="802576"/>
            <a:chOff x="2354477" y="3731814"/>
            <a:chExt cx="972000" cy="756000"/>
          </a:xfrm>
          <a:solidFill>
            <a:schemeClr val="bg1">
              <a:lumMod val="95000"/>
            </a:schemeClr>
          </a:solidFill>
        </p:grpSpPr>
        <p:sp>
          <p:nvSpPr>
            <p:cNvPr id="258" name="직사각형 257"/>
            <p:cNvSpPr/>
            <p:nvPr/>
          </p:nvSpPr>
          <p:spPr bwMode="auto">
            <a:xfrm>
              <a:off x="2354477" y="3865155"/>
              <a:ext cx="972000" cy="509982"/>
            </a:xfrm>
            <a:prstGeom prst="rect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9" name="타원 258"/>
            <p:cNvSpPr/>
            <p:nvPr/>
          </p:nvSpPr>
          <p:spPr bwMode="auto">
            <a:xfrm>
              <a:off x="2354477" y="4203769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60" name="타원 259"/>
            <p:cNvSpPr/>
            <p:nvPr/>
          </p:nvSpPr>
          <p:spPr bwMode="auto">
            <a:xfrm>
              <a:off x="2354477" y="3731814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ko-KR" altLang="en-US" sz="900" b="1" dirty="0">
                  <a:solidFill>
                    <a:srgbClr val="000000"/>
                  </a:solidFill>
                  <a:latin typeface="맑은 고딕"/>
                </a:rPr>
                <a:t>형태</a:t>
              </a:r>
            </a:p>
          </p:txBody>
        </p:sp>
        <p:sp>
          <p:nvSpPr>
            <p:cNvPr id="261" name="원통 260"/>
            <p:cNvSpPr/>
            <p:nvPr/>
          </p:nvSpPr>
          <p:spPr bwMode="auto">
            <a:xfrm>
              <a:off x="2487022" y="4004560"/>
              <a:ext cx="706909" cy="22292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 dirty="0">
                  <a:solidFill>
                    <a:srgbClr val="000000"/>
                  </a:solidFill>
                  <a:latin typeface="맑은 고딕"/>
                </a:rPr>
                <a:t>정형</a:t>
              </a:r>
              <a:r>
                <a:rPr lang="en-US" altLang="ko-KR" sz="800" b="1" dirty="0">
                  <a:solidFill>
                    <a:srgbClr val="000000"/>
                  </a:solidFill>
                  <a:latin typeface="맑은 고딕"/>
                </a:rPr>
                <a:t>/</a:t>
              </a:r>
              <a:r>
                <a:rPr lang="ko-KR" altLang="en-US" sz="800" b="1" dirty="0" err="1">
                  <a:solidFill>
                    <a:srgbClr val="000000"/>
                  </a:solidFill>
                  <a:latin typeface="맑은 고딕"/>
                </a:rPr>
                <a:t>준정형</a:t>
              </a:r>
              <a:endParaRPr lang="ko-KR" altLang="en-US" sz="8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62" name="원통 261"/>
            <p:cNvSpPr/>
            <p:nvPr/>
          </p:nvSpPr>
          <p:spPr bwMode="auto">
            <a:xfrm>
              <a:off x="2480753" y="4277075"/>
              <a:ext cx="706909" cy="18000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 dirty="0">
                  <a:solidFill>
                    <a:srgbClr val="000000"/>
                  </a:solidFill>
                  <a:latin typeface="맑은 고딕"/>
                </a:rPr>
                <a:t>비정형</a:t>
              </a:r>
            </a:p>
          </p:txBody>
        </p:sp>
      </p:grpSp>
      <p:grpSp>
        <p:nvGrpSpPr>
          <p:cNvPr id="211" name="그룹 69"/>
          <p:cNvGrpSpPr/>
          <p:nvPr/>
        </p:nvGrpSpPr>
        <p:grpSpPr>
          <a:xfrm>
            <a:off x="3497189" y="3755372"/>
            <a:ext cx="1041091" cy="802576"/>
            <a:chOff x="3475468" y="3704214"/>
            <a:chExt cx="972000" cy="756000"/>
          </a:xfrm>
          <a:solidFill>
            <a:schemeClr val="bg1">
              <a:lumMod val="95000"/>
            </a:schemeClr>
          </a:solidFill>
        </p:grpSpPr>
        <p:sp>
          <p:nvSpPr>
            <p:cNvPr id="253" name="직사각형 252"/>
            <p:cNvSpPr/>
            <p:nvPr/>
          </p:nvSpPr>
          <p:spPr bwMode="auto">
            <a:xfrm>
              <a:off x="3475468" y="3837555"/>
              <a:ext cx="972000" cy="509982"/>
            </a:xfrm>
            <a:prstGeom prst="rect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4" name="타원 253"/>
            <p:cNvSpPr/>
            <p:nvPr/>
          </p:nvSpPr>
          <p:spPr bwMode="auto">
            <a:xfrm>
              <a:off x="3475468" y="4176169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5" name="타원 254"/>
            <p:cNvSpPr/>
            <p:nvPr/>
          </p:nvSpPr>
          <p:spPr bwMode="auto">
            <a:xfrm>
              <a:off x="3475468" y="3704214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ko-KR" altLang="en-US" sz="900" b="1" dirty="0">
                  <a:solidFill>
                    <a:srgbClr val="000000"/>
                  </a:solidFill>
                  <a:latin typeface="맑은 고딕"/>
                </a:rPr>
                <a:t>구분</a:t>
              </a:r>
            </a:p>
          </p:txBody>
        </p:sp>
        <p:sp>
          <p:nvSpPr>
            <p:cNvPr id="256" name="원통 255"/>
            <p:cNvSpPr/>
            <p:nvPr/>
          </p:nvSpPr>
          <p:spPr bwMode="auto">
            <a:xfrm>
              <a:off x="3604878" y="3976960"/>
              <a:ext cx="706909" cy="22292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>
                  <a:solidFill>
                    <a:srgbClr val="000000"/>
                  </a:solidFill>
                  <a:latin typeface="맑은 고딕"/>
                </a:rPr>
                <a:t>내부 </a:t>
              </a:r>
              <a:r>
                <a:rPr lang="en-US" altLang="ko-KR" sz="800" b="1" dirty="0">
                  <a:solidFill>
                    <a:srgbClr val="000000"/>
                  </a:solidFill>
                  <a:latin typeface="맑은 고딕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7" name="원통 256"/>
            <p:cNvSpPr/>
            <p:nvPr/>
          </p:nvSpPr>
          <p:spPr bwMode="auto">
            <a:xfrm>
              <a:off x="3604878" y="4249475"/>
              <a:ext cx="706909" cy="18000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>
                  <a:solidFill>
                    <a:srgbClr val="000000"/>
                  </a:solidFill>
                  <a:latin typeface="맑은 고딕"/>
                </a:rPr>
                <a:t>외부</a:t>
              </a:r>
              <a:r>
                <a:rPr lang="en-US" altLang="ko-KR" sz="800" b="1">
                  <a:solidFill>
                    <a:srgbClr val="000000"/>
                  </a:solidFill>
                  <a:latin typeface="맑은 고딕"/>
                </a:rPr>
                <a:t>/SNS</a:t>
              </a:r>
              <a:endParaRPr lang="ko-KR" altLang="en-US" sz="800" b="1" dirty="0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12" name="그룹 37897"/>
          <p:cNvGrpSpPr/>
          <p:nvPr/>
        </p:nvGrpSpPr>
        <p:grpSpPr>
          <a:xfrm>
            <a:off x="4599414" y="3749564"/>
            <a:ext cx="1041091" cy="802576"/>
            <a:chOff x="-1203684" y="4004560"/>
            <a:chExt cx="972000" cy="756000"/>
          </a:xfrm>
          <a:solidFill>
            <a:schemeClr val="bg1">
              <a:lumMod val="95000"/>
            </a:schemeClr>
          </a:solidFill>
        </p:grpSpPr>
        <p:sp>
          <p:nvSpPr>
            <p:cNvPr id="248" name="직사각형 247"/>
            <p:cNvSpPr/>
            <p:nvPr/>
          </p:nvSpPr>
          <p:spPr bwMode="auto">
            <a:xfrm>
              <a:off x="-1203684" y="4137901"/>
              <a:ext cx="972000" cy="509982"/>
            </a:xfrm>
            <a:prstGeom prst="rect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49" name="타원 248"/>
            <p:cNvSpPr/>
            <p:nvPr/>
          </p:nvSpPr>
          <p:spPr bwMode="auto">
            <a:xfrm>
              <a:off x="-1203684" y="4476515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0" name="타원 249"/>
            <p:cNvSpPr/>
            <p:nvPr/>
          </p:nvSpPr>
          <p:spPr bwMode="auto">
            <a:xfrm>
              <a:off x="-1203684" y="4004560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8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ko-KR" altLang="en-US" sz="900" b="1" dirty="0">
                  <a:solidFill>
                    <a:srgbClr val="000000"/>
                  </a:solidFill>
                  <a:latin typeface="맑은 고딕"/>
                </a:rPr>
                <a:t>데이터 원본</a:t>
              </a:r>
              <a:r>
                <a:rPr lang="en-US" altLang="ko-KR" sz="900" b="1" dirty="0">
                  <a:solidFill>
                    <a:srgbClr val="000000"/>
                  </a:solidFill>
                  <a:latin typeface="맑은 고딕"/>
                </a:rPr>
                <a:t>DB</a:t>
              </a: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1" name="원통 250"/>
            <p:cNvSpPr/>
            <p:nvPr/>
          </p:nvSpPr>
          <p:spPr bwMode="auto">
            <a:xfrm>
              <a:off x="-1074274" y="4277306"/>
              <a:ext cx="706909" cy="22292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>
                  <a:solidFill>
                    <a:srgbClr val="000000"/>
                  </a:solidFill>
                  <a:latin typeface="맑은 고딕"/>
                </a:rPr>
                <a:t>기초데이터</a:t>
              </a:r>
              <a:endParaRPr lang="ko-KR" altLang="en-US" sz="8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52" name="원통 251"/>
            <p:cNvSpPr/>
            <p:nvPr/>
          </p:nvSpPr>
          <p:spPr bwMode="auto">
            <a:xfrm>
              <a:off x="-1074274" y="4549821"/>
              <a:ext cx="706909" cy="18000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>
                  <a:solidFill>
                    <a:srgbClr val="000000"/>
                  </a:solidFill>
                  <a:latin typeface="맑은 고딕"/>
                </a:rPr>
                <a:t>기초데이터</a:t>
              </a:r>
              <a:endParaRPr lang="ko-KR" altLang="en-US" sz="800" b="1" dirty="0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13" name="그룹 37898"/>
          <p:cNvGrpSpPr/>
          <p:nvPr/>
        </p:nvGrpSpPr>
        <p:grpSpPr>
          <a:xfrm>
            <a:off x="5732017" y="3749564"/>
            <a:ext cx="1041091" cy="802576"/>
            <a:chOff x="-1251825" y="5154139"/>
            <a:chExt cx="972000" cy="756000"/>
          </a:xfrm>
          <a:solidFill>
            <a:schemeClr val="bg1">
              <a:lumMod val="95000"/>
            </a:schemeClr>
          </a:solidFill>
        </p:grpSpPr>
        <p:sp>
          <p:nvSpPr>
            <p:cNvPr id="243" name="직사각형 242"/>
            <p:cNvSpPr/>
            <p:nvPr/>
          </p:nvSpPr>
          <p:spPr bwMode="auto">
            <a:xfrm>
              <a:off x="-1251825" y="5287480"/>
              <a:ext cx="972000" cy="509982"/>
            </a:xfrm>
            <a:prstGeom prst="rect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44" name="타원 243"/>
            <p:cNvSpPr/>
            <p:nvPr/>
          </p:nvSpPr>
          <p:spPr bwMode="auto">
            <a:xfrm>
              <a:off x="-1251825" y="5626094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45" name="타원 244"/>
            <p:cNvSpPr/>
            <p:nvPr/>
          </p:nvSpPr>
          <p:spPr bwMode="auto">
            <a:xfrm>
              <a:off x="-1251825" y="5154139"/>
              <a:ext cx="972000" cy="284045"/>
            </a:xfrm>
            <a:prstGeom prst="ellipse">
              <a:avLst/>
            </a:prstGeom>
            <a:grpFill/>
            <a:ln w="635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latinLnBrk="0">
                <a:lnSpc>
                  <a:spcPct val="8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ko-KR" altLang="en-US" sz="900" b="1" dirty="0">
                  <a:solidFill>
                    <a:srgbClr val="000000"/>
                  </a:solidFill>
                  <a:latin typeface="맑은 고딕"/>
                </a:rPr>
                <a:t>분석</a:t>
              </a:r>
              <a:endParaRPr lang="en-US" altLang="ko-KR" sz="900" b="1" dirty="0">
                <a:solidFill>
                  <a:srgbClr val="000000"/>
                </a:solidFill>
                <a:latin typeface="맑은 고딕"/>
              </a:endParaRPr>
            </a:p>
            <a:p>
              <a:pPr algn="ctr" latinLnBrk="0">
                <a:lnSpc>
                  <a:spcPct val="8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lang="ko-KR" altLang="en-US" sz="900" b="1" dirty="0">
                  <a:solidFill>
                    <a:srgbClr val="000000"/>
                  </a:solidFill>
                  <a:latin typeface="맑은 고딕"/>
                </a:rPr>
                <a:t>결과</a:t>
              </a:r>
              <a:r>
                <a:rPr lang="en-US" altLang="ko-KR" sz="900" b="1" dirty="0">
                  <a:solidFill>
                    <a:srgbClr val="000000"/>
                  </a:solidFill>
                  <a:latin typeface="맑은 고딕"/>
                </a:rPr>
                <a:t>DB</a:t>
              </a:r>
              <a:endParaRPr lang="ko-KR" altLang="en-US" sz="900" b="1" dirty="0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46" name="원통 245"/>
            <p:cNvSpPr/>
            <p:nvPr/>
          </p:nvSpPr>
          <p:spPr bwMode="auto">
            <a:xfrm>
              <a:off x="-1122415" y="5426885"/>
              <a:ext cx="706909" cy="22292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 dirty="0">
                  <a:solidFill>
                    <a:srgbClr val="000000"/>
                  </a:solidFill>
                  <a:latin typeface="맑은 고딕"/>
                </a:rPr>
                <a:t>결과데이터</a:t>
              </a:r>
            </a:p>
          </p:txBody>
        </p:sp>
        <p:sp>
          <p:nvSpPr>
            <p:cNvPr id="247" name="원통 246"/>
            <p:cNvSpPr/>
            <p:nvPr/>
          </p:nvSpPr>
          <p:spPr bwMode="auto">
            <a:xfrm>
              <a:off x="-1122415" y="5699400"/>
              <a:ext cx="706909" cy="18000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lIns="0" rIns="0" anchor="ctr"/>
            <a:lstStyle/>
            <a:p>
              <a:pPr algn="ctr" latinLnBrk="0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defRPr/>
              </a:pPr>
              <a:r>
                <a:rPr lang="ko-KR" altLang="en-US" sz="800" b="1" dirty="0">
                  <a:solidFill>
                    <a:srgbClr val="000000"/>
                  </a:solidFill>
                  <a:latin typeface="맑은 고딕"/>
                </a:rPr>
                <a:t>결과데이터</a:t>
              </a:r>
            </a:p>
          </p:txBody>
        </p:sp>
      </p:grpSp>
      <p:sp>
        <p:nvSpPr>
          <p:cNvPr id="214" name="원통 213"/>
          <p:cNvSpPr/>
          <p:nvPr/>
        </p:nvSpPr>
        <p:spPr bwMode="auto">
          <a:xfrm>
            <a:off x="422969" y="2023008"/>
            <a:ext cx="798513" cy="511175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lIns="0" rIns="0" anchor="ctr"/>
          <a:lstStyle/>
          <a:p>
            <a:pPr algn="ctr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ko-KR" sz="1000" b="1">
                <a:solidFill>
                  <a:srgbClr val="1F497D"/>
                </a:solidFill>
                <a:latin typeface="맑은 고딕"/>
              </a:rPr>
              <a:t>DB</a:t>
            </a:r>
            <a:endParaRPr lang="ko-KR" altLang="en-US" sz="1000" b="1" dirty="0">
              <a:solidFill>
                <a:srgbClr val="1F497D"/>
              </a:solidFill>
              <a:latin typeface="맑은 고딕"/>
            </a:endParaRPr>
          </a:p>
        </p:txBody>
      </p:sp>
      <p:sp>
        <p:nvSpPr>
          <p:cNvPr id="215" name="원통 214"/>
          <p:cNvSpPr/>
          <p:nvPr/>
        </p:nvSpPr>
        <p:spPr bwMode="auto">
          <a:xfrm>
            <a:off x="422969" y="2696108"/>
            <a:ext cx="798513" cy="511175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lIns="0" rIns="0" anchor="ctr"/>
          <a:lstStyle/>
          <a:p>
            <a:pPr algn="ctr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ko-KR" sz="1000" b="1">
                <a:solidFill>
                  <a:srgbClr val="1F497D"/>
                </a:solidFill>
                <a:latin typeface="맑은 고딕"/>
              </a:rPr>
              <a:t>DB</a:t>
            </a:r>
            <a:endParaRPr lang="ko-KR" altLang="en-US" sz="1000" b="1" dirty="0">
              <a:solidFill>
                <a:srgbClr val="1F497D"/>
              </a:solidFill>
              <a:latin typeface="맑은 고딕"/>
            </a:endParaRPr>
          </a:p>
        </p:txBody>
      </p:sp>
      <p:sp>
        <p:nvSpPr>
          <p:cNvPr id="217" name="오른쪽 화살표 216"/>
          <p:cNvSpPr/>
          <p:nvPr/>
        </p:nvSpPr>
        <p:spPr bwMode="auto">
          <a:xfrm>
            <a:off x="1661219" y="3034246"/>
            <a:ext cx="481013" cy="266700"/>
          </a:xfrm>
          <a:prstGeom prst="rightArrow">
            <a:avLst/>
          </a:prstGeom>
          <a:solidFill>
            <a:srgbClr val="DDDDDD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000" rIns="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endParaRPr lang="ko-KR" altLang="en-US" sz="800" b="1" dirty="0">
              <a:solidFill>
                <a:srgbClr val="000000"/>
              </a:solidFill>
            </a:endParaRPr>
          </a:p>
        </p:txBody>
      </p:sp>
      <p:sp>
        <p:nvSpPr>
          <p:cNvPr id="218" name="오른쪽 화살표 217"/>
          <p:cNvSpPr/>
          <p:nvPr/>
        </p:nvSpPr>
        <p:spPr bwMode="auto">
          <a:xfrm>
            <a:off x="1651694" y="4108983"/>
            <a:ext cx="481013" cy="268288"/>
          </a:xfrm>
          <a:prstGeom prst="rightArrow">
            <a:avLst/>
          </a:prstGeom>
          <a:solidFill>
            <a:srgbClr val="DDDDDD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000" rIns="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endParaRPr lang="ko-KR" altLang="en-US" sz="800" b="1" dirty="0">
              <a:solidFill>
                <a:srgbClr val="000000"/>
              </a:solidFill>
            </a:endParaRPr>
          </a:p>
        </p:txBody>
      </p:sp>
      <p:sp>
        <p:nvSpPr>
          <p:cNvPr id="219" name="원통 218"/>
          <p:cNvSpPr/>
          <p:nvPr/>
        </p:nvSpPr>
        <p:spPr bwMode="auto">
          <a:xfrm>
            <a:off x="419794" y="3377146"/>
            <a:ext cx="796925" cy="512762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lIns="0" rIns="0" anchor="ctr"/>
          <a:lstStyle/>
          <a:p>
            <a:pPr algn="ctr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ko-KR" sz="1000" b="1">
                <a:solidFill>
                  <a:srgbClr val="1F497D"/>
                </a:solidFill>
                <a:latin typeface="맑은 고딕"/>
              </a:rPr>
              <a:t>DB</a:t>
            </a:r>
            <a:endParaRPr lang="ko-KR" altLang="en-US" sz="1000" b="1" dirty="0">
              <a:solidFill>
                <a:srgbClr val="1F497D"/>
              </a:solidFill>
              <a:latin typeface="맑은 고딕"/>
            </a:endParaRPr>
          </a:p>
        </p:txBody>
      </p:sp>
      <p:sp>
        <p:nvSpPr>
          <p:cNvPr id="220" name="직사각형 219"/>
          <p:cNvSpPr/>
          <p:nvPr/>
        </p:nvSpPr>
        <p:spPr bwMode="auto">
          <a:xfrm>
            <a:off x="2312094" y="4793196"/>
            <a:ext cx="7191375" cy="3143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연계 </a:t>
            </a:r>
            <a:r>
              <a:rPr lang="en-US" altLang="ko-KR" sz="1400" b="1">
                <a:solidFill>
                  <a:srgbClr val="000000"/>
                </a:solidFill>
              </a:rPr>
              <a:t>/ </a:t>
            </a:r>
            <a:r>
              <a:rPr lang="ko-KR" altLang="en-US" sz="1400" b="1">
                <a:solidFill>
                  <a:srgbClr val="000000"/>
                </a:solidFill>
              </a:rPr>
              <a:t>수집 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221" name="모서리가 둥근 직사각형 220"/>
          <p:cNvSpPr/>
          <p:nvPr/>
        </p:nvSpPr>
        <p:spPr bwMode="auto">
          <a:xfrm>
            <a:off x="1323082" y="2602446"/>
            <a:ext cx="193675" cy="83343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9050" algn="ctr">
            <a:solidFill>
              <a:schemeClr val="bg2">
                <a:lumMod val="50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ko-KR" sz="800" b="1" dirty="0">
                <a:solidFill>
                  <a:srgbClr val="000000"/>
                </a:solidFill>
                <a:latin typeface="맑은 고딕"/>
              </a:rPr>
              <a:t>AP</a:t>
            </a:r>
          </a:p>
          <a:p>
            <a:pPr algn="ctr" latinLnBrk="0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ko-KR" sz="800" b="1" dirty="0">
                <a:solidFill>
                  <a:srgbClr val="000000"/>
                </a:solidFill>
                <a:latin typeface="맑은 고딕"/>
              </a:rPr>
              <a:t>I</a:t>
            </a:r>
          </a:p>
        </p:txBody>
      </p:sp>
      <p:sp>
        <p:nvSpPr>
          <p:cNvPr id="222" name="모서리가 둥근 직사각형 221"/>
          <p:cNvSpPr/>
          <p:nvPr/>
        </p:nvSpPr>
        <p:spPr bwMode="auto">
          <a:xfrm>
            <a:off x="1313557" y="4597933"/>
            <a:ext cx="225425" cy="74136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9050" algn="ctr">
            <a:solidFill>
              <a:schemeClr val="bg2">
                <a:lumMod val="50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ko-KR" sz="800" b="1" dirty="0">
                <a:solidFill>
                  <a:srgbClr val="000000"/>
                </a:solidFill>
                <a:latin typeface="맑은 고딕"/>
              </a:rPr>
              <a:t>A</a:t>
            </a:r>
          </a:p>
          <a:p>
            <a:pPr algn="ctr" latinLnBrk="0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ko-KR" sz="800" b="1" dirty="0">
                <a:solidFill>
                  <a:srgbClr val="000000"/>
                </a:solidFill>
                <a:latin typeface="맑은 고딕"/>
              </a:rPr>
              <a:t>gent</a:t>
            </a:r>
          </a:p>
        </p:txBody>
      </p:sp>
      <p:sp>
        <p:nvSpPr>
          <p:cNvPr id="224" name="직사각형 223"/>
          <p:cNvSpPr/>
          <p:nvPr/>
        </p:nvSpPr>
        <p:spPr bwMode="auto">
          <a:xfrm>
            <a:off x="4191694" y="5858408"/>
            <a:ext cx="746125" cy="311150"/>
          </a:xfrm>
          <a:prstGeom prst="rect">
            <a:avLst/>
          </a:prstGeom>
          <a:solidFill>
            <a:srgbClr val="D7D7D7"/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/>
              </a:rPr>
              <a:t>N/W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" name="직사각형 224"/>
          <p:cNvSpPr/>
          <p:nvPr/>
        </p:nvSpPr>
        <p:spPr bwMode="auto">
          <a:xfrm>
            <a:off x="5018782" y="5858408"/>
            <a:ext cx="820737" cy="311150"/>
          </a:xfrm>
          <a:prstGeom prst="rect">
            <a:avLst/>
          </a:prstGeom>
          <a:solidFill>
            <a:srgbClr val="D7D7D7"/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/>
              </a:rPr>
              <a:t>S/W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" name="직사각형 225"/>
          <p:cNvSpPr/>
          <p:nvPr/>
        </p:nvSpPr>
        <p:spPr bwMode="auto">
          <a:xfrm>
            <a:off x="4059932" y="2962808"/>
            <a:ext cx="70485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36000" tIns="54000" rIns="36000" bIns="36000" anchor="ctr"/>
          <a:lstStyle/>
          <a:p>
            <a:pPr algn="ctr" latinLnBrk="0">
              <a:lnSpc>
                <a:spcPct val="7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ko-KR" sz="900" b="1">
                <a:solidFill>
                  <a:srgbClr val="000000"/>
                </a:solidFill>
                <a:latin typeface="맑은 고딕"/>
              </a:rPr>
              <a:t>SNA</a:t>
            </a:r>
            <a:endParaRPr lang="ko-KR" altLang="en-US" sz="9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" name="순서도: 다중 문서 226"/>
          <p:cNvSpPr/>
          <p:nvPr/>
        </p:nvSpPr>
        <p:spPr bwMode="auto">
          <a:xfrm>
            <a:off x="459482" y="4294721"/>
            <a:ext cx="762000" cy="655637"/>
          </a:xfrm>
          <a:prstGeom prst="flowChartMultidocument">
            <a:avLst/>
          </a:prstGeom>
          <a:solidFill>
            <a:schemeClr val="tx2">
              <a:lumMod val="20000"/>
              <a:lumOff val="8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</a:rPr>
              <a:t>파일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" name="순서도: 다중 문서 227"/>
          <p:cNvSpPr/>
          <p:nvPr/>
        </p:nvSpPr>
        <p:spPr bwMode="auto">
          <a:xfrm>
            <a:off x="475357" y="5097996"/>
            <a:ext cx="763587" cy="654050"/>
          </a:xfrm>
          <a:prstGeom prst="flowChartMultidocument">
            <a:avLst/>
          </a:prstGeom>
          <a:solidFill>
            <a:schemeClr val="tx2">
              <a:lumMod val="20000"/>
              <a:lumOff val="8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</a:rPr>
              <a:t>로그</a:t>
            </a:r>
            <a:endParaRPr lang="ko-KR" altLang="en-US" sz="1000" b="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150794" y="5834596"/>
            <a:ext cx="1090613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30000"/>
              </a:spcBef>
              <a:defRPr/>
            </a:pPr>
            <a:r>
              <a:rPr lang="ko-KR" altLang="en-US" sz="1000" b="1">
                <a:solidFill>
                  <a:srgbClr val="000000"/>
                </a:solidFill>
              </a:rPr>
              <a:t>클라우드</a:t>
            </a:r>
            <a:endParaRPr lang="en-US" altLang="ko-KR" sz="1000" b="1">
              <a:solidFill>
                <a:srgbClr val="000000"/>
              </a:solidFill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ko-KR" sz="1000" b="1" smtClean="0">
                <a:solidFill>
                  <a:srgbClr val="000000"/>
                </a:solidFill>
              </a:rPr>
              <a:t>(OpenStack)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8382694" y="5836183"/>
            <a:ext cx="1050925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30000"/>
              </a:spcBef>
              <a:defRPr/>
            </a:pPr>
            <a:r>
              <a:rPr lang="ko-KR" altLang="en-US" sz="900" b="1" smtClean="0">
                <a:solidFill>
                  <a:srgbClr val="000000"/>
                </a:solidFill>
              </a:rPr>
              <a:t>클러스터매니저</a:t>
            </a:r>
            <a:r>
              <a:rPr lang="en-US" altLang="ko-KR" sz="900" b="1" smtClean="0">
                <a:solidFill>
                  <a:srgbClr val="000000"/>
                </a:solidFill>
              </a:rPr>
              <a:t>(YARN)</a:t>
            </a:r>
            <a:endParaRPr lang="ko-KR" altLang="en-US" sz="900" b="1" dirty="0">
              <a:solidFill>
                <a:srgbClr val="000000"/>
              </a:solidFill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7161907" y="5199596"/>
            <a:ext cx="1092200" cy="19843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Flume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8393807" y="5201183"/>
            <a:ext cx="1052512" cy="19843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Sqoop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7161907" y="4288458"/>
            <a:ext cx="1092200" cy="2190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HDFS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8393807" y="4290045"/>
            <a:ext cx="1052512" cy="2190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MapReduce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7150794" y="3964608"/>
            <a:ext cx="1090613" cy="2206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 smtClean="0">
                <a:solidFill>
                  <a:srgbClr val="000000"/>
                </a:solidFill>
              </a:rPr>
              <a:t>Impala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8382694" y="3966195"/>
            <a:ext cx="1050925" cy="2206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Hive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7157144" y="3053296"/>
            <a:ext cx="1090613" cy="2190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 dirty="0" smtClean="0">
                <a:solidFill>
                  <a:srgbClr val="000000"/>
                </a:solidFill>
              </a:rPr>
              <a:t>Pig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8389044" y="3054883"/>
            <a:ext cx="1052513" cy="2190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Mahout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7146032" y="2731033"/>
            <a:ext cx="1090612" cy="2190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 dirty="0" smtClean="0">
                <a:solidFill>
                  <a:srgbClr val="000000"/>
                </a:solidFill>
              </a:rPr>
              <a:t>R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8377932" y="2732621"/>
            <a:ext cx="1050925" cy="2190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 dirty="0" smtClean="0">
                <a:solidFill>
                  <a:srgbClr val="000000"/>
                </a:solidFill>
              </a:rPr>
              <a:t>Spark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7161907" y="1827746"/>
            <a:ext cx="1074737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30000"/>
              </a:spcBef>
              <a:defRPr/>
            </a:pPr>
            <a:r>
              <a:rPr lang="ko-KR" altLang="en-US" sz="1000" b="1" dirty="0">
                <a:solidFill>
                  <a:srgbClr val="000000"/>
                </a:solidFill>
              </a:rPr>
              <a:t>웹</a:t>
            </a:r>
            <a:r>
              <a:rPr lang="en-US" altLang="ko-KR" sz="1000" b="1">
                <a:solidFill>
                  <a:srgbClr val="000000"/>
                </a:solidFill>
              </a:rPr>
              <a:t>/</a:t>
            </a:r>
            <a:r>
              <a:rPr lang="ko-KR" altLang="en-US" sz="1000" b="1" smtClean="0">
                <a:solidFill>
                  <a:srgbClr val="000000"/>
                </a:solidFill>
              </a:rPr>
              <a:t>모바일</a:t>
            </a:r>
            <a:endParaRPr lang="en-US" altLang="ko-KR" sz="1000" b="1" smtClean="0">
              <a:solidFill>
                <a:srgbClr val="000000"/>
              </a:solidFill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ko-KR" sz="1000" b="1" smtClean="0">
                <a:solidFill>
                  <a:srgbClr val="000000"/>
                </a:solidFill>
              </a:rPr>
              <a:t>Application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63" name="모서리가 둥근 직사각형 262"/>
          <p:cNvSpPr/>
          <p:nvPr/>
        </p:nvSpPr>
        <p:spPr>
          <a:xfrm>
            <a:off x="8396982" y="1827746"/>
            <a:ext cx="1076325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000" b="1">
                <a:solidFill>
                  <a:srgbClr val="000000"/>
                </a:solidFill>
              </a:rPr>
              <a:t>D3.js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10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2800" b="1">
                <a:solidFill>
                  <a:srgbClr val="FFFFFF"/>
                </a:solidFill>
              </a:rPr>
              <a:t>1. </a:t>
            </a:r>
            <a:r>
              <a:rPr lang="ko-KR" altLang="en-US" sz="2800" b="1">
                <a:solidFill>
                  <a:srgbClr val="FFFFFF"/>
                </a:solidFill>
              </a:rPr>
              <a:t>빅데이터 플랫폼</a:t>
            </a:r>
            <a:endParaRPr kumimoji="0"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0061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전체 구성도</a:t>
            </a:r>
            <a:r>
              <a:rPr lang="en-US" altLang="ko-KR" b="1" smtClean="0"/>
              <a:t>(</a:t>
            </a:r>
            <a:r>
              <a:rPr lang="ko-KR" altLang="en-US" b="1" smtClean="0"/>
              <a:t>실제 실습 환경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68524" y="4617132"/>
            <a:ext cx="1548172" cy="194421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인프라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550600" y="4617132"/>
            <a:ext cx="6650871" cy="1944215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92760" y="6057292"/>
            <a:ext cx="619268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376110" y="5265204"/>
            <a:ext cx="1654620" cy="674190"/>
            <a:chOff x="2792760" y="5268356"/>
            <a:chExt cx="1654620" cy="674190"/>
          </a:xfrm>
        </p:grpSpPr>
        <p:pic>
          <p:nvPicPr>
            <p:cNvPr id="1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756756" y="5265204"/>
            <a:ext cx="1619354" cy="674190"/>
            <a:chOff x="2792760" y="5268356"/>
            <a:chExt cx="1619354" cy="674190"/>
          </a:xfrm>
        </p:grpSpPr>
        <p:pic>
          <p:nvPicPr>
            <p:cNvPr id="1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938711" y="5265204"/>
            <a:ext cx="1654620" cy="674190"/>
            <a:chOff x="2792760" y="5268356"/>
            <a:chExt cx="1654620" cy="674190"/>
          </a:xfrm>
        </p:grpSpPr>
        <p:pic>
          <p:nvPicPr>
            <p:cNvPr id="19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직사각형 19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444559" y="5265204"/>
            <a:ext cx="1654620" cy="674190"/>
            <a:chOff x="2792760" y="5268356"/>
            <a:chExt cx="1654620" cy="674190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4" name="직선 연결선 23"/>
          <p:cNvCxnSpPr/>
          <p:nvPr/>
        </p:nvCxnSpPr>
        <p:spPr bwMode="auto">
          <a:xfrm flipH="1">
            <a:off x="2915962" y="5013176"/>
            <a:ext cx="6069486" cy="1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24" y="4666994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직선 연결선 28"/>
          <p:cNvCxnSpPr>
            <a:endCxn id="26" idx="2"/>
          </p:cNvCxnSpPr>
          <p:nvPr/>
        </p:nvCxnSpPr>
        <p:spPr>
          <a:xfrm flipV="1">
            <a:off x="5950704" y="4849395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566432" y="5067444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203420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6748387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8254235" y="5087400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80"/>
          <p:cNvSpPr>
            <a:spLocks noChangeArrowheads="1"/>
          </p:cNvSpPr>
          <p:nvPr/>
        </p:nvSpPr>
        <p:spPr bwMode="auto">
          <a:xfrm>
            <a:off x="6118923" y="4650546"/>
            <a:ext cx="12589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[ Network ]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668524" y="2540638"/>
            <a:ext cx="1548172" cy="97597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Apache 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Hadoop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68524" y="3575560"/>
            <a:ext cx="8532947" cy="982623"/>
            <a:chOff x="668524" y="3575560"/>
            <a:chExt cx="8532947" cy="982623"/>
          </a:xfrm>
        </p:grpSpPr>
        <p:sp>
          <p:nvSpPr>
            <p:cNvPr id="44" name="직사각형 43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Operating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CentOS 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6.X</a:t>
              </a:r>
              <a:endParaRPr lang="en-US" altLang="ko-KR" sz="1200" b="1" dirty="0" smtClean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32</a:t>
              </a:r>
              <a:r>
                <a:rPr lang="ko-KR" altLang="en-US" sz="1200" b="1" dirty="0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2550599" y="2540638"/>
            <a:ext cx="6650871" cy="982623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94856" y="2670900"/>
            <a:ext cx="2023170" cy="361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HDFS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818026" y="2670900"/>
            <a:ext cx="2043186" cy="361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MapReduce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861212" y="2667183"/>
            <a:ext cx="1944216" cy="361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Yarn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792760" y="3028234"/>
            <a:ext cx="601266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Apache Hadoop 2.X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668524" y="1510273"/>
            <a:ext cx="8532947" cy="982623"/>
            <a:chOff x="668524" y="3575560"/>
            <a:chExt cx="8532947" cy="982623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Hadoop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Ecosystem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Apache Web Server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Mysql DB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PHP Web Language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Pig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Hive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Spark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>
                <a:solidFill>
                  <a:srgbClr val="FFFFFF"/>
                </a:solidFill>
              </a:rPr>
              <a:t>1. </a:t>
            </a:r>
            <a:r>
              <a:rPr lang="ko-KR" altLang="en-US" sz="3200" b="1">
                <a:solidFill>
                  <a:srgbClr val="FFFFFF"/>
                </a:solidFill>
              </a:rPr>
              <a:t>빅데이터 플랫폼</a:t>
            </a:r>
            <a:endParaRPr kumimoji="0"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작업 절차</a:t>
            </a:r>
            <a:endParaRPr lang="ko-KR" altLang="en-US" b="1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가상화 환경 구축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 Box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만들기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의사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대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대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리눅스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의사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CentOS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6.X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32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비트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CentOS 7.5 64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비트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 준비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네트워크 설정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JDK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필요한 파일 다운로드 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Hadoop 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6. Pig/Hive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Pig 0.16.0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Hive 1.2.1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7. Spark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Spark 1.6.2</a:t>
            </a: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465168" y="1124744"/>
            <a:ext cx="1548172" cy="982622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1</a:t>
            </a:r>
            <a:r>
              <a:rPr lang="ko-KR" altLang="en-US" sz="1400" b="1" smtClean="0">
                <a:solidFill>
                  <a:srgbClr val="000000"/>
                </a:solidFill>
              </a:rPr>
              <a:t>단계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Virtual Box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5565068" y="2348880"/>
            <a:ext cx="1548172" cy="1579298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2</a:t>
            </a:r>
            <a:r>
              <a:rPr lang="ko-KR" altLang="en-US" sz="1400" b="1" smtClean="0">
                <a:solidFill>
                  <a:srgbClr val="000000"/>
                </a:solidFill>
              </a:rPr>
              <a:t>단계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의사 모드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7321886" y="2348880"/>
            <a:ext cx="1908211" cy="1579299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7454947" y="2391592"/>
            <a:ext cx="1619354" cy="674190"/>
            <a:chOff x="2792760" y="5268356"/>
            <a:chExt cx="1619354" cy="674190"/>
          </a:xfrm>
        </p:grpSpPr>
        <p:pic>
          <p:nvPicPr>
            <p:cNvPr id="1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직사각형 11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7321886" y="3091098"/>
            <a:ext cx="1908211" cy="83708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>
            <a:softEdge rad="3175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가상머신 만들기</a:t>
            </a:r>
            <a:endParaRPr kumimoji="0" lang="en-US" altLang="ko-KR" sz="1200" kern="0" smtClean="0">
              <a:solidFill>
                <a:srgbClr val="1F497D">
                  <a:lumMod val="75000"/>
                </a:srgbClr>
              </a:solidFill>
              <a:latin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 설치 및 준비</a:t>
            </a:r>
            <a:endParaRPr kumimoji="0" lang="en-US" altLang="ko-KR" sz="1200" b="0" i="0" u="none" strike="noStrike" kern="0" cap="none" spc="0" normalizeH="0" baseline="0" noProof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하둡</a:t>
            </a:r>
            <a:r>
              <a:rPr kumimoji="0" lang="en-US" altLang="ko-KR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, Pig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565068" y="4169692"/>
            <a:ext cx="1548172" cy="2518957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3</a:t>
            </a:r>
            <a:r>
              <a:rPr lang="ko-KR" altLang="en-US" sz="1400" b="1" smtClean="0">
                <a:solidFill>
                  <a:srgbClr val="000000"/>
                </a:solidFill>
              </a:rPr>
              <a:t>단계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클러스터 모드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7321886" y="4169693"/>
            <a:ext cx="1908211" cy="2518956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321886" y="5841268"/>
            <a:ext cx="1908211" cy="8522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>
            <a:softEdge rad="3175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가상머신 만들기</a:t>
            </a:r>
            <a:endParaRPr kumimoji="0" lang="en-US" altLang="ko-KR" sz="1200" kern="0" smtClean="0">
              <a:solidFill>
                <a:srgbClr val="1F497D">
                  <a:lumMod val="75000"/>
                </a:srgbClr>
              </a:solidFill>
              <a:latin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 설치 및 준비</a:t>
            </a:r>
            <a:endParaRPr kumimoji="0" lang="en-US" altLang="ko-KR" sz="1200" b="0" i="0" u="none" strike="noStrike" kern="0" cap="none" spc="0" normalizeH="0" baseline="0" noProof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하둡</a:t>
            </a:r>
            <a:r>
              <a:rPr kumimoji="0" lang="en-US" altLang="ko-KR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, Pig/Hive </a:t>
            </a: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설치</a:t>
            </a:r>
            <a:endParaRPr kumimoji="0" lang="en-US" altLang="ko-KR" sz="1200" kern="0" smtClean="0">
              <a:solidFill>
                <a:srgbClr val="1F497D">
                  <a:lumMod val="75000"/>
                </a:srgbClr>
              </a:solidFill>
              <a:latin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Spark </a:t>
            </a: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설치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7676358" y="4767178"/>
            <a:ext cx="1159024" cy="546922"/>
            <a:chOff x="2900358" y="5268356"/>
            <a:chExt cx="1404157" cy="804794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900358" y="5665547"/>
              <a:ext cx="1404156" cy="4076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696512" y="4257092"/>
            <a:ext cx="1159024" cy="546922"/>
            <a:chOff x="2900358" y="5268356"/>
            <a:chExt cx="1404157" cy="804794"/>
          </a:xfrm>
        </p:grpSpPr>
        <p:pic>
          <p:nvPicPr>
            <p:cNvPr id="25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직사각형 25"/>
            <p:cNvSpPr/>
            <p:nvPr/>
          </p:nvSpPr>
          <p:spPr>
            <a:xfrm>
              <a:off x="2900358" y="5665547"/>
              <a:ext cx="1404156" cy="4076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7696512" y="5277264"/>
            <a:ext cx="1159024" cy="546922"/>
            <a:chOff x="2900358" y="5268356"/>
            <a:chExt cx="1404157" cy="804794"/>
          </a:xfrm>
        </p:grpSpPr>
        <p:pic>
          <p:nvPicPr>
            <p:cNvPr id="2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직사각형 28"/>
            <p:cNvSpPr/>
            <p:nvPr/>
          </p:nvSpPr>
          <p:spPr>
            <a:xfrm>
              <a:off x="2900358" y="5665547"/>
              <a:ext cx="1404156" cy="4076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31" name="아래쪽 화살표 30"/>
          <p:cNvSpPr/>
          <p:nvPr/>
        </p:nvSpPr>
        <p:spPr>
          <a:xfrm>
            <a:off x="6721343" y="2032014"/>
            <a:ext cx="998991" cy="438348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6727407" y="3835554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2881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2.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준비 작업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85398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체크 리스트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노트북 운영체제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Windows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권장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Mac OS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도 가능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노트북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H/W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사양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메모리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8GB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권장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최소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4GB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하드 디스크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SSD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권장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여유 공간 최소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20GB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필요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39764" y="4185084"/>
            <a:ext cx="4104456" cy="230425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윈도우용 도커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Hyper-V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기능 해제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3008784" y="3275816"/>
            <a:ext cx="2232248" cy="900100"/>
          </a:xfrm>
          <a:prstGeom prst="wedgeEllipseCallout">
            <a:avLst>
              <a:gd name="adj1" fmla="val -46240"/>
              <a:gd name="adj2" fmla="val 10243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리눅스용 도커 </a:t>
            </a:r>
            <a:endParaRPr lang="en-US" altLang="ko-KR" sz="1600" b="1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권장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가로로 말린 두루마리 모양 8"/>
          <p:cNvSpPr/>
          <p:nvPr/>
        </p:nvSpPr>
        <p:spPr>
          <a:xfrm>
            <a:off x="5025257" y="4185084"/>
            <a:ext cx="4104456" cy="230425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 64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비트 설치 안될 때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리부팅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BIOS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CPU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가상화 기능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[Disable] -&gt; [Enable]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864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가상화 환경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85398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가상화 환경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오라클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 Box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VirtualBox-4.3.8-92456-Win.exe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 시 유의사항 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네트워크에 문제가 발생할 경우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 Box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삭제한 후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PC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리부팅하고 다시 설치하세요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[Install]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과정에서 다음과 같은 창이 뜹니다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반드시 체크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490" y="3501008"/>
            <a:ext cx="4756638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사각형 설명선 5"/>
          <p:cNvSpPr/>
          <p:nvPr/>
        </p:nvSpPr>
        <p:spPr>
          <a:xfrm>
            <a:off x="1115158" y="3501008"/>
            <a:ext cx="1729154" cy="822325"/>
          </a:xfrm>
          <a:prstGeom prst="wedgeRectCallout">
            <a:avLst>
              <a:gd name="adj1" fmla="val 78205"/>
              <a:gd name="adj2" fmla="val 13411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[v] </a:t>
            </a:r>
            <a:r>
              <a:rPr lang="ko-KR" altLang="en-US" sz="1400"/>
              <a:t>체크하세요</a:t>
            </a:r>
          </a:p>
        </p:txBody>
      </p:sp>
    </p:spTree>
    <p:extLst>
      <p:ext uri="{BB962C8B-B14F-4D97-AF65-F5344CB8AC3E}">
        <p14:creationId xmlns:p14="http://schemas.microsoft.com/office/powerpoint/2010/main" val="369567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가상화 환경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85398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가상화 환경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오라클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 Box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윈도우에서 쉽게 빠져나올 수 있도록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 키 조합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을 설정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(F) -&gt; [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환경설정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-&gt;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입력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두번째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TAB [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 머신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(M)]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 키 조합의 단축키를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Ctrl + Alt ]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변경 후 키보드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아래 화살표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누른 후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확인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805" y="3141664"/>
            <a:ext cx="4783015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사각형 설명선 10"/>
          <p:cNvSpPr/>
          <p:nvPr/>
        </p:nvSpPr>
        <p:spPr>
          <a:xfrm>
            <a:off x="6267450" y="3141664"/>
            <a:ext cx="1727688" cy="822325"/>
          </a:xfrm>
          <a:prstGeom prst="wedgeRectCallout">
            <a:avLst>
              <a:gd name="adj1" fmla="val -116480"/>
              <a:gd name="adj2" fmla="val 13102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Ctrl + Alt</a:t>
            </a:r>
            <a:endParaRPr lang="ko-KR" altLang="en-US" sz="1400"/>
          </a:p>
        </p:txBody>
      </p:sp>
      <p:sp>
        <p:nvSpPr>
          <p:cNvPr id="12" name="사각형 설명선 11"/>
          <p:cNvSpPr/>
          <p:nvPr/>
        </p:nvSpPr>
        <p:spPr>
          <a:xfrm>
            <a:off x="6267450" y="4478338"/>
            <a:ext cx="1727688" cy="822325"/>
          </a:xfrm>
          <a:prstGeom prst="wedgeRectCallout">
            <a:avLst>
              <a:gd name="adj1" fmla="val -117010"/>
              <a:gd name="adj2" fmla="val -19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smtClean="0"/>
              <a:t>[ </a:t>
            </a:r>
            <a:r>
              <a:rPr lang="ko-KR" altLang="en-US" sz="1400" smtClean="0"/>
              <a:t>아래 화살표 </a:t>
            </a:r>
            <a:r>
              <a:rPr lang="en-US" altLang="ko-KR" sz="1400" smtClean="0"/>
              <a:t>]</a:t>
            </a:r>
            <a:endParaRPr lang="ko-KR" altLang="en-US" sz="1400"/>
          </a:p>
        </p:txBody>
      </p:sp>
      <p:sp>
        <p:nvSpPr>
          <p:cNvPr id="13" name="사각형 설명선 12"/>
          <p:cNvSpPr/>
          <p:nvPr/>
        </p:nvSpPr>
        <p:spPr>
          <a:xfrm>
            <a:off x="6267450" y="5553236"/>
            <a:ext cx="1727688" cy="822325"/>
          </a:xfrm>
          <a:prstGeom prst="wedgeRectCallout">
            <a:avLst>
              <a:gd name="adj1" fmla="val -159880"/>
              <a:gd name="adj2" fmla="val 3316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smtClean="0"/>
              <a:t>[ </a:t>
            </a:r>
            <a:r>
              <a:rPr lang="ko-KR" altLang="en-US" sz="1400" smtClean="0"/>
              <a:t>확인 </a:t>
            </a:r>
            <a:r>
              <a:rPr lang="en-US" altLang="ko-KR" sz="1400" smtClean="0"/>
              <a:t>]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4669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5925" y="1660702"/>
            <a:ext cx="9073579" cy="4936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가상화 환경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938880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네트워크 구성도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596516" y="1844824"/>
            <a:ext cx="8748972" cy="4212468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9638" y="5683304"/>
            <a:ext cx="8725850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3032274" y="4089515"/>
            <a:ext cx="1654620" cy="674190"/>
            <a:chOff x="2792760" y="5268356"/>
            <a:chExt cx="1654620" cy="674190"/>
          </a:xfrm>
        </p:grpSpPr>
        <p:pic>
          <p:nvPicPr>
            <p:cNvPr id="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754374" y="2457478"/>
            <a:ext cx="1619354" cy="674190"/>
            <a:chOff x="2792760" y="5268356"/>
            <a:chExt cx="1619354" cy="674190"/>
          </a:xfrm>
        </p:grpSpPr>
        <p:pic>
          <p:nvPicPr>
            <p:cNvPr id="1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직사각형 11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4952714" y="4089515"/>
            <a:ext cx="1654620" cy="674190"/>
            <a:chOff x="2792760" y="5268356"/>
            <a:chExt cx="1654620" cy="674190"/>
          </a:xfrm>
        </p:grpSpPr>
        <p:pic>
          <p:nvPicPr>
            <p:cNvPr id="15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직사각형 15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980753" y="4085246"/>
            <a:ext cx="1654620" cy="674190"/>
            <a:chOff x="2792760" y="5268356"/>
            <a:chExt cx="1654620" cy="674190"/>
          </a:xfrm>
        </p:grpSpPr>
        <p:pic>
          <p:nvPicPr>
            <p:cNvPr id="1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직사각형 18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" name="직선 연결선 19"/>
          <p:cNvCxnSpPr/>
          <p:nvPr/>
        </p:nvCxnSpPr>
        <p:spPr bwMode="auto">
          <a:xfrm flipH="1" flipV="1">
            <a:off x="2734459" y="3537012"/>
            <a:ext cx="6395254" cy="7120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16" y="2157020"/>
            <a:ext cx="853905" cy="42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직선 연결선 21"/>
          <p:cNvCxnSpPr>
            <a:stCxn id="21" idx="3"/>
            <a:endCxn id="11" idx="1"/>
          </p:cNvCxnSpPr>
          <p:nvPr/>
        </p:nvCxnSpPr>
        <p:spPr>
          <a:xfrm>
            <a:off x="2298321" y="2367633"/>
            <a:ext cx="1563652" cy="28844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endCxn id="50" idx="2"/>
          </p:cNvCxnSpPr>
          <p:nvPr/>
        </p:nvCxnSpPr>
        <p:spPr>
          <a:xfrm flipH="1" flipV="1">
            <a:off x="8065556" y="2618505"/>
            <a:ext cx="26586" cy="918050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415925" y="6201308"/>
            <a:ext cx="9073579" cy="3960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노트북</a:t>
            </a:r>
            <a:r>
              <a:rPr lang="en-US" altLang="ko-KR"/>
              <a:t> </a:t>
            </a:r>
            <a:r>
              <a:rPr lang="en-US" altLang="ko-KR" smtClean="0"/>
              <a:t>: OS(Windows </a:t>
            </a:r>
            <a:r>
              <a:rPr lang="ko-KR" altLang="en-US" smtClean="0"/>
              <a:t>또는 </a:t>
            </a:r>
            <a:r>
              <a:rPr lang="en-US" altLang="ko-KR" smtClean="0"/>
              <a:t>Mac OS) </a:t>
            </a:r>
            <a:endParaRPr lang="ko-KR" altLang="en-US"/>
          </a:p>
        </p:txBody>
      </p:sp>
      <p:sp>
        <p:nvSpPr>
          <p:cNvPr id="4" name="구름 모양 설명선 3"/>
          <p:cNvSpPr/>
          <p:nvPr/>
        </p:nvSpPr>
        <p:spPr>
          <a:xfrm>
            <a:off x="2734459" y="983507"/>
            <a:ext cx="1466995" cy="544846"/>
          </a:xfrm>
          <a:prstGeom prst="cloud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/>
          <p:cNvCxnSpPr>
            <a:stCxn id="21" idx="0"/>
            <a:endCxn id="4" idx="0"/>
          </p:cNvCxnSpPr>
          <p:nvPr/>
        </p:nvCxnSpPr>
        <p:spPr>
          <a:xfrm flipV="1">
            <a:off x="1871369" y="1255930"/>
            <a:ext cx="867640" cy="901090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21" idx="3"/>
            <a:endCxn id="8" idx="1"/>
          </p:cNvCxnSpPr>
          <p:nvPr/>
        </p:nvCxnSpPr>
        <p:spPr>
          <a:xfrm>
            <a:off x="2298321" y="2367633"/>
            <a:ext cx="841552" cy="1920478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>
            <a:stCxn id="21" idx="3"/>
            <a:endCxn id="15" idx="1"/>
          </p:cNvCxnSpPr>
          <p:nvPr/>
        </p:nvCxnSpPr>
        <p:spPr>
          <a:xfrm>
            <a:off x="2298321" y="2367633"/>
            <a:ext cx="2761992" cy="1920478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21" idx="3"/>
            <a:endCxn id="18" idx="1"/>
          </p:cNvCxnSpPr>
          <p:nvPr/>
        </p:nvCxnSpPr>
        <p:spPr>
          <a:xfrm>
            <a:off x="2298321" y="2367633"/>
            <a:ext cx="4790031" cy="1916209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603" y="2197279"/>
            <a:ext cx="853905" cy="42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직선 연결선 52"/>
          <p:cNvCxnSpPr/>
          <p:nvPr/>
        </p:nvCxnSpPr>
        <p:spPr>
          <a:xfrm flipH="1" flipV="1">
            <a:off x="7825595" y="3557427"/>
            <a:ext cx="4181" cy="518957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 flipV="1">
            <a:off x="5733251" y="3563911"/>
            <a:ext cx="4181" cy="518957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 flipV="1">
            <a:off x="3839860" y="3553785"/>
            <a:ext cx="4181" cy="518957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flipV="1">
            <a:off x="4623479" y="3091721"/>
            <a:ext cx="0" cy="445292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80"/>
          <p:cNvSpPr>
            <a:spLocks noChangeArrowheads="1"/>
          </p:cNvSpPr>
          <p:nvPr/>
        </p:nvSpPr>
        <p:spPr bwMode="auto">
          <a:xfrm>
            <a:off x="1166194" y="2627248"/>
            <a:ext cx="12589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b="1" smtClean="0">
                <a:solidFill>
                  <a:srgbClr val="C00000"/>
                </a:solidFill>
              </a:rPr>
              <a:t>[ NAT ]</a:t>
            </a:r>
            <a:endParaRPr lang="en-US" altLang="ko-KR" sz="1000" b="1" dirty="0">
              <a:solidFill>
                <a:srgbClr val="000000"/>
              </a:solidFill>
            </a:endParaRPr>
          </a:p>
        </p:txBody>
      </p:sp>
      <p:sp>
        <p:nvSpPr>
          <p:cNvPr id="68" name="직사각형 80"/>
          <p:cNvSpPr>
            <a:spLocks noChangeArrowheads="1"/>
          </p:cNvSpPr>
          <p:nvPr/>
        </p:nvSpPr>
        <p:spPr bwMode="auto">
          <a:xfrm>
            <a:off x="6503374" y="2665019"/>
            <a:ext cx="265750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b="1" smtClean="0">
                <a:solidFill>
                  <a:srgbClr val="0070C0"/>
                </a:solidFill>
              </a:rPr>
              <a:t>[ </a:t>
            </a:r>
            <a:r>
              <a:rPr lang="ko-KR" altLang="en-US" sz="1600" b="1" smtClean="0">
                <a:solidFill>
                  <a:srgbClr val="0070C0"/>
                </a:solidFill>
              </a:rPr>
              <a:t>호스트 전용 어댑터</a:t>
            </a:r>
            <a:r>
              <a:rPr lang="en-US" altLang="ko-KR" sz="1600" b="1" smtClean="0">
                <a:solidFill>
                  <a:srgbClr val="0070C0"/>
                </a:solidFill>
              </a:rPr>
              <a:t> ]</a:t>
            </a:r>
            <a:endParaRPr lang="en-US" altLang="ko-KR" sz="1000" b="1" dirty="0">
              <a:solidFill>
                <a:srgbClr val="0070C0"/>
              </a:solidFill>
            </a:endParaRPr>
          </a:p>
        </p:txBody>
      </p:sp>
      <p:sp>
        <p:nvSpPr>
          <p:cNvPr id="69" name="직사각형 80"/>
          <p:cNvSpPr>
            <a:spLocks noChangeArrowheads="1"/>
          </p:cNvSpPr>
          <p:nvPr/>
        </p:nvSpPr>
        <p:spPr bwMode="auto">
          <a:xfrm>
            <a:off x="2784111" y="1952679"/>
            <a:ext cx="21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eth0 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MAC:123456789010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0" name="직사각형 80"/>
          <p:cNvSpPr>
            <a:spLocks noChangeArrowheads="1"/>
          </p:cNvSpPr>
          <p:nvPr/>
        </p:nvSpPr>
        <p:spPr bwMode="auto">
          <a:xfrm>
            <a:off x="2634038" y="4723758"/>
            <a:ext cx="242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eth0 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MAC:123456789020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2" name="직사각형 80"/>
          <p:cNvSpPr>
            <a:spLocks noChangeArrowheads="1"/>
          </p:cNvSpPr>
          <p:nvPr/>
        </p:nvSpPr>
        <p:spPr bwMode="auto">
          <a:xfrm>
            <a:off x="4554478" y="4716994"/>
            <a:ext cx="242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eth0 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MAC:123456789030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3" name="직사각형 80"/>
          <p:cNvSpPr>
            <a:spLocks noChangeArrowheads="1"/>
          </p:cNvSpPr>
          <p:nvPr/>
        </p:nvSpPr>
        <p:spPr bwMode="auto">
          <a:xfrm>
            <a:off x="6539327" y="4740855"/>
            <a:ext cx="242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eth0 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MAC:123456789040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4" name="직사각형 80"/>
          <p:cNvSpPr>
            <a:spLocks noChangeArrowheads="1"/>
          </p:cNvSpPr>
          <p:nvPr/>
        </p:nvSpPr>
        <p:spPr bwMode="auto">
          <a:xfrm>
            <a:off x="4623479" y="1949646"/>
            <a:ext cx="2330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eth1 192.168.56.11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MAC:123456789011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  <p:sp>
        <p:nvSpPr>
          <p:cNvPr id="75" name="직사각형 80"/>
          <p:cNvSpPr>
            <a:spLocks noChangeArrowheads="1"/>
          </p:cNvSpPr>
          <p:nvPr/>
        </p:nvSpPr>
        <p:spPr bwMode="auto">
          <a:xfrm>
            <a:off x="2653008" y="5192187"/>
            <a:ext cx="2330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eth1 192.168.56.21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MAC:123456789021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  <p:sp>
        <p:nvSpPr>
          <p:cNvPr id="81" name="직사각형 80"/>
          <p:cNvSpPr>
            <a:spLocks noChangeArrowheads="1"/>
          </p:cNvSpPr>
          <p:nvPr/>
        </p:nvSpPr>
        <p:spPr bwMode="auto">
          <a:xfrm>
            <a:off x="4674516" y="5198951"/>
            <a:ext cx="2330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eth1 192.168.56.31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MAC:123456789031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  <p:sp>
        <p:nvSpPr>
          <p:cNvPr id="82" name="직사각형 81"/>
          <p:cNvSpPr>
            <a:spLocks noChangeArrowheads="1"/>
          </p:cNvSpPr>
          <p:nvPr/>
        </p:nvSpPr>
        <p:spPr bwMode="auto">
          <a:xfrm>
            <a:off x="6753200" y="5193196"/>
            <a:ext cx="2330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eth1 192.168.56.41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MAC:123456789041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29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가상화 환경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9048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호스트 전용 네트워크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어댑터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584" y="1772325"/>
            <a:ext cx="5976664" cy="4599841"/>
          </a:xfrm>
          <a:prstGeom prst="rect">
            <a:avLst/>
          </a:prstGeom>
        </p:spPr>
      </p:pic>
      <p:sp>
        <p:nvSpPr>
          <p:cNvPr id="13" name="사각형 설명선 12"/>
          <p:cNvSpPr/>
          <p:nvPr/>
        </p:nvSpPr>
        <p:spPr>
          <a:xfrm>
            <a:off x="7689808" y="2600908"/>
            <a:ext cx="1727688" cy="1235675"/>
          </a:xfrm>
          <a:prstGeom prst="wedgeRectCallout">
            <a:avLst>
              <a:gd name="adj1" fmla="val -167720"/>
              <a:gd name="adj2" fmla="val 9771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b="1" dirty="0" smtClean="0"/>
              <a:t>192.168.56.1</a:t>
            </a:r>
          </a:p>
          <a:p>
            <a:pPr algn="ctr">
              <a:defRPr/>
            </a:pPr>
            <a:endParaRPr lang="en-US" altLang="ko-KR" sz="1600" b="1" dirty="0" smtClean="0"/>
          </a:p>
          <a:p>
            <a:pPr algn="ctr">
              <a:defRPr/>
            </a:pPr>
            <a:r>
              <a:rPr lang="en-US" altLang="ko-KR" sz="1600" b="1" dirty="0" smtClean="0"/>
              <a:t>255.255.255.0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1042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가상화 환경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45964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호스트 전용 어댑터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DHCP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2067355"/>
            <a:ext cx="6012668" cy="4609014"/>
          </a:xfrm>
          <a:prstGeom prst="rect">
            <a:avLst/>
          </a:prstGeom>
        </p:spPr>
      </p:pic>
      <p:sp>
        <p:nvSpPr>
          <p:cNvPr id="13" name="사각형 설명선 12"/>
          <p:cNvSpPr/>
          <p:nvPr/>
        </p:nvSpPr>
        <p:spPr>
          <a:xfrm>
            <a:off x="7401272" y="2600908"/>
            <a:ext cx="2016224" cy="2700300"/>
          </a:xfrm>
          <a:prstGeom prst="wedgeRectCallout">
            <a:avLst>
              <a:gd name="adj1" fmla="val -203004"/>
              <a:gd name="adj2" fmla="val 5820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b="1" dirty="0" smtClean="0"/>
              <a:t>192.168.56.100</a:t>
            </a:r>
          </a:p>
          <a:p>
            <a:pPr algn="ctr">
              <a:defRPr/>
            </a:pPr>
            <a:endParaRPr lang="en-US" altLang="ko-KR" sz="1600" b="1" dirty="0" smtClean="0"/>
          </a:p>
          <a:p>
            <a:pPr algn="ctr">
              <a:defRPr/>
            </a:pPr>
            <a:r>
              <a:rPr lang="en-US" altLang="ko-KR" sz="1600" b="1" dirty="0" smtClean="0"/>
              <a:t>255.255.255.0</a:t>
            </a:r>
          </a:p>
          <a:p>
            <a:pPr algn="ctr">
              <a:defRPr/>
            </a:pPr>
            <a:endParaRPr lang="en-US" altLang="ko-KR" sz="1600" b="1" dirty="0"/>
          </a:p>
          <a:p>
            <a:pPr algn="ctr">
              <a:defRPr/>
            </a:pPr>
            <a:r>
              <a:rPr lang="en-US" altLang="ko-KR" sz="1600" b="1" dirty="0" smtClean="0"/>
              <a:t>192.168.56.101</a:t>
            </a:r>
          </a:p>
          <a:p>
            <a:pPr algn="ctr">
              <a:defRPr/>
            </a:pPr>
            <a:endParaRPr lang="en-US" altLang="ko-KR" sz="1600" b="1" dirty="0"/>
          </a:p>
          <a:p>
            <a:pPr algn="ctr">
              <a:defRPr/>
            </a:pPr>
            <a:r>
              <a:rPr lang="en-US" altLang="ko-KR" sz="1600" b="1" dirty="0" smtClean="0"/>
              <a:t>192.168.56.254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2741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1_Office 테마">
  <a:themeElements>
    <a:clrScheme name="15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5_Office 테마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5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1920</TotalTime>
  <Words>1138</Words>
  <Application>Microsoft Office PowerPoint</Application>
  <PresentationFormat>A4 용지(210x297mm)</PresentationFormat>
  <Paragraphs>304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@산돌퍼즐Bk</vt:lpstr>
      <vt:lpstr>굴림</vt:lpstr>
      <vt:lpstr>나눔고딕</vt:lpstr>
      <vt:lpstr>맑은 고딕</vt:lpstr>
      <vt:lpstr>Arial</vt:lpstr>
      <vt:lpstr>Symbol</vt:lpstr>
      <vt:lpstr>Wingdings</vt:lpstr>
      <vt:lpstr>디자인 사용자 지정</vt:lpstr>
      <vt:lpstr>17_Office 테마</vt:lpstr>
      <vt:lpstr>18_Office 테마</vt:lpstr>
      <vt:lpstr>21_Office 테마</vt:lpstr>
      <vt:lpstr>PowerPoint 프레젠테이션</vt:lpstr>
      <vt:lpstr>1. 빅데이터 플랫폼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user</cp:lastModifiedBy>
  <cp:revision>182</cp:revision>
  <dcterms:created xsi:type="dcterms:W3CDTF">2012-04-02T02:40:52Z</dcterms:created>
  <dcterms:modified xsi:type="dcterms:W3CDTF">2017-08-18T03:02:07Z</dcterms:modified>
</cp:coreProperties>
</file>