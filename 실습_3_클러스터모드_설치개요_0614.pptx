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7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8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9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10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1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880" r:id="rId3"/>
    <p:sldMasterId id="2147483883" r:id="rId4"/>
    <p:sldMasterId id="2147483886" r:id="rId5"/>
    <p:sldMasterId id="2147483889" r:id="rId6"/>
    <p:sldMasterId id="2147483901" r:id="rId7"/>
    <p:sldMasterId id="2147483904" r:id="rId8"/>
    <p:sldMasterId id="2147483907" r:id="rId9"/>
    <p:sldMasterId id="2147483920" r:id="rId10"/>
    <p:sldMasterId id="2147483923" r:id="rId11"/>
    <p:sldMasterId id="2147483926" r:id="rId12"/>
    <p:sldMasterId id="2147483929" r:id="rId13"/>
  </p:sldMasterIdLst>
  <p:notesMasterIdLst>
    <p:notesMasterId r:id="rId33"/>
  </p:notesMasterIdLst>
  <p:sldIdLst>
    <p:sldId id="606" r:id="rId14"/>
    <p:sldId id="797" r:id="rId15"/>
    <p:sldId id="800" r:id="rId16"/>
    <p:sldId id="809" r:id="rId17"/>
    <p:sldId id="811" r:id="rId18"/>
    <p:sldId id="818" r:id="rId19"/>
    <p:sldId id="810" r:id="rId20"/>
    <p:sldId id="812" r:id="rId21"/>
    <p:sldId id="813" r:id="rId22"/>
    <p:sldId id="822" r:id="rId23"/>
    <p:sldId id="814" r:id="rId24"/>
    <p:sldId id="815" r:id="rId25"/>
    <p:sldId id="816" r:id="rId26"/>
    <p:sldId id="817" r:id="rId27"/>
    <p:sldId id="819" r:id="rId28"/>
    <p:sldId id="820" r:id="rId29"/>
    <p:sldId id="821" r:id="rId30"/>
    <p:sldId id="823" r:id="rId31"/>
    <p:sldId id="640" r:id="rId32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07" autoAdjust="0"/>
  </p:normalViewPr>
  <p:slideViewPr>
    <p:cSldViewPr>
      <p:cViewPr varScale="1">
        <p:scale>
          <a:sx n="57" d="100"/>
          <a:sy n="57" d="100"/>
        </p:scale>
        <p:origin x="78" y="180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82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3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06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4088" y="687388"/>
            <a:ext cx="4949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06" tIns="46003" rIns="92006" bIns="4600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271364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06" tIns="46003" rIns="92006" bIns="46003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2F8520FC-5CA9-465B-B276-6C24522549B9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/>
              <a:t>6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10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99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82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723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748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의 설계 개념 및 특성입니다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먼저 분산컴퓨팅 환경에서 운영되어야 하기 때문에 함수형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프로그램의 특성을 가지고 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물론 실시간 처리도 가능은 하지만 앞서 언급했다시피 분산컴퓨팅 환경에서 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운영되기 때문에 배치형식의 데이터 처리 시스템으로 설계가 되었습니다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사용자의 </a:t>
            </a:r>
            <a:r>
              <a:rPr lang="en-US" altLang="ko-KR" dirty="0" smtClean="0"/>
              <a:t>NEED</a:t>
            </a:r>
            <a:r>
              <a:rPr lang="ko-KR" altLang="en-US" dirty="0" smtClean="0"/>
              <a:t>를 파악하지 못하고 개발한 프로그램은 사실 쓸모가 없을 것입니다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여러 어플리케이션 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주요관심사들을 파악했고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이러한 요소들을 최대한 반영하였습니다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3962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C7CC3D27-FD0A-4C3D-805A-C471BBF9F719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/>
              <a:t>11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7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의 설계 개념 및 특성입니다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먼저 분산컴퓨팅 환경에서 운영되어야 하기 때문에 함수형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프로그램의 특성을 가지고 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물론 실시간 처리도 가능은 하지만 앞서 언급했다시피 분산컴퓨팅 환경에서 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운영되기 때문에 배치형식의 데이터 처리 시스템으로 설계가 되었습니다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사용자의 </a:t>
            </a:r>
            <a:r>
              <a:rPr lang="en-US" altLang="ko-KR" dirty="0" smtClean="0"/>
              <a:t>NEED</a:t>
            </a:r>
            <a:r>
              <a:rPr lang="ko-KR" altLang="en-US" dirty="0" smtClean="0"/>
              <a:t>를 파악하지 못하고 개발한 프로그램은 사실 쓸모가 없을 것입니다</a:t>
            </a:r>
            <a:r>
              <a:rPr lang="en-US" altLang="ko-KR" dirty="0" smtClean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 smtClean="0"/>
              <a:t>MapReduce</a:t>
            </a:r>
            <a:r>
              <a:rPr lang="ko-KR" altLang="en-US" dirty="0" smtClean="0"/>
              <a:t>는 여러 어플리케이션 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주요관심사들을 파악했고</a:t>
            </a:r>
            <a:endParaRPr lang="en-US" altLang="ko-KR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 smtClean="0"/>
              <a:t>이러한 요소들을 최대한 반영하였습니다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40644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DAB0A595-CAB3-4C9A-9DA9-398F8196AE07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/>
              <a:t>12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860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233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691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832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639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993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 dirty="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14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39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549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311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664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27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080DDE8B-B346-4DE3-B19B-BC4FE30D9D2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3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A82467AA-68A1-4F30-83D2-7AA59E4C5BFA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221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2DF8C883-B769-4E56-80D8-B7B6E17E81B3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7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5F83DEC1-CAA1-44B3-87A2-E2066A422E48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04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E42AF7C5-63CF-4678-8CFA-182CC0380EB3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686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6105F4DA-442E-4281-A5F5-9AFA3CB8C7F5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3204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1CB44A54-8791-4392-9320-8B386818C0B7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810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50B712C7-320F-4829-B5F1-FECCC200EA44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34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B433CFE9-C45F-41B4-BB13-E93E614242B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02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450082B1-6998-4046-9931-084D0ECFABB3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0771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lnSpc>
                <a:spcPct val="120000"/>
              </a:lnSpc>
              <a:buFontTx/>
              <a:buChar char="•"/>
              <a:defRPr sz="1400"/>
            </a:lvl1pPr>
          </a:lstStyle>
          <a:p>
            <a:pPr>
              <a:defRPr/>
            </a:pPr>
            <a:r>
              <a:rPr lang="en-US"/>
              <a:t>- </a:t>
            </a:r>
            <a:fld id="{4A0D8704-2DE3-4F1E-93D4-22D951203732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161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96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637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9250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088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5258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939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616434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9340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1730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0498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5381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477787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74411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882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5094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1500" dirty="0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D8229318-82E5-4D2F-A3BA-2BC57308161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872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450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531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2847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6135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43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42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998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713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56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08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1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8199" name="모서리가 둥근 직사각형 6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8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8195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8196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kumimoji="0" sz="18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D25DB9FE-4DBD-42A2-890F-2211A25E202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  <p:pic>
        <p:nvPicPr>
          <p:cNvPr id="8198" name="Picture 8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572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890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74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070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18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37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# </a:t>
            </a:r>
            <a:r>
              <a:rPr lang="ko-KR" altLang="en-US" sz="4400" b="1" smtClean="0">
                <a:solidFill>
                  <a:schemeClr val="tx2"/>
                </a:solidFill>
              </a:rPr>
              <a:t>클러스터모드 설치개요</a:t>
            </a:r>
            <a:endParaRPr lang="ko-KR" altLang="en-US" sz="4400" b="1" dirty="0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빅데이터 플랫폼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2800" b="1">
                <a:solidFill>
                  <a:srgbClr val="FFFFFF"/>
                </a:solidFill>
              </a:rPr>
              <a:t>1. </a:t>
            </a:r>
            <a:r>
              <a:rPr lang="ko-KR" altLang="en-US" sz="2800" b="1">
                <a:solidFill>
                  <a:srgbClr val="FFFFFF"/>
                </a:solidFill>
              </a:rPr>
              <a:t>빅데이터 플랫폼</a:t>
            </a:r>
            <a:endParaRPr kumimoji="0"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0061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전체 구성도</a:t>
            </a:r>
            <a:r>
              <a:rPr lang="en-US" altLang="ko-KR" b="1" smtClean="0"/>
              <a:t>(</a:t>
            </a:r>
            <a:r>
              <a:rPr lang="ko-KR" altLang="en-US" b="1" smtClean="0"/>
              <a:t>실제 실습 환경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68524" y="4617132"/>
            <a:ext cx="1548172" cy="194421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인프라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550600" y="4617132"/>
            <a:ext cx="6650871" cy="1944215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92760" y="6057292"/>
            <a:ext cx="619268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376110" y="5265204"/>
            <a:ext cx="1654620" cy="674190"/>
            <a:chOff x="2792760" y="5268356"/>
            <a:chExt cx="1654620" cy="674190"/>
          </a:xfrm>
        </p:grpSpPr>
        <p:pic>
          <p:nvPicPr>
            <p:cNvPr id="1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756756" y="5265204"/>
            <a:ext cx="1619354" cy="674190"/>
            <a:chOff x="2792760" y="5268356"/>
            <a:chExt cx="1619354" cy="674190"/>
          </a:xfrm>
        </p:grpSpPr>
        <p:pic>
          <p:nvPicPr>
            <p:cNvPr id="1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938711" y="5265204"/>
            <a:ext cx="1654620" cy="674190"/>
            <a:chOff x="2792760" y="5268356"/>
            <a:chExt cx="1654620" cy="674190"/>
          </a:xfrm>
        </p:grpSpPr>
        <p:pic>
          <p:nvPicPr>
            <p:cNvPr id="19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직사각형 19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444559" y="5265204"/>
            <a:ext cx="1654620" cy="674190"/>
            <a:chOff x="2792760" y="5268356"/>
            <a:chExt cx="1654620" cy="674190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4" name="직선 연결선 23"/>
          <p:cNvCxnSpPr/>
          <p:nvPr/>
        </p:nvCxnSpPr>
        <p:spPr bwMode="auto">
          <a:xfrm flipH="1">
            <a:off x="2915962" y="5013176"/>
            <a:ext cx="6069486" cy="1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24" y="4666994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직선 연결선 28"/>
          <p:cNvCxnSpPr>
            <a:endCxn id="26" idx="2"/>
          </p:cNvCxnSpPr>
          <p:nvPr/>
        </p:nvCxnSpPr>
        <p:spPr>
          <a:xfrm flipV="1">
            <a:off x="5950704" y="4849395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566432" y="5067444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203420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6748387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8254235" y="5087400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80"/>
          <p:cNvSpPr>
            <a:spLocks noChangeArrowheads="1"/>
          </p:cNvSpPr>
          <p:nvPr/>
        </p:nvSpPr>
        <p:spPr bwMode="auto">
          <a:xfrm>
            <a:off x="6118923" y="4650546"/>
            <a:ext cx="12589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[ Network ]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668524" y="2540638"/>
            <a:ext cx="1548172" cy="97597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Apache 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Hadoop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68524" y="3575560"/>
            <a:ext cx="8532947" cy="982623"/>
            <a:chOff x="668524" y="3575560"/>
            <a:chExt cx="8532947" cy="982623"/>
          </a:xfrm>
        </p:grpSpPr>
        <p:sp>
          <p:nvSpPr>
            <p:cNvPr id="44" name="직사각형 43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Operating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CentOS 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6.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X</a:t>
              </a:r>
              <a:endParaRPr lang="en-US" altLang="ko-KR" sz="1200" b="1" dirty="0" smtClean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32</a:t>
              </a:r>
              <a:r>
                <a:rPr lang="ko-KR" altLang="en-US" sz="1200" b="1" dirty="0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2550599" y="2540638"/>
            <a:ext cx="6650871" cy="982623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94856" y="2670900"/>
            <a:ext cx="2023170" cy="361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HDFS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818026" y="2670900"/>
            <a:ext cx="2043186" cy="361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MapReduce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861212" y="2667183"/>
            <a:ext cx="1944216" cy="3610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Yarn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792760" y="3028234"/>
            <a:ext cx="601266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Apache Hadoop 2.X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668524" y="1510273"/>
            <a:ext cx="8532947" cy="982623"/>
            <a:chOff x="668524" y="3575560"/>
            <a:chExt cx="8532947" cy="982623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Hadoop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Ecosystem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Apache Web Server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Mysql DB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PHP Web Language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Pig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Hive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Spark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>
                <a:solidFill>
                  <a:srgbClr val="FFFFFF"/>
                </a:solidFill>
              </a:rPr>
              <a:t>1. </a:t>
            </a:r>
            <a:r>
              <a:rPr lang="ko-KR" altLang="en-US" sz="3200" b="1">
                <a:solidFill>
                  <a:srgbClr val="FFFFFF"/>
                </a:solidFill>
              </a:rPr>
              <a:t>빅데이터 플랫폼</a:t>
            </a:r>
            <a:endParaRPr kumimoji="0"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작업 절차</a:t>
            </a:r>
            <a:endParaRPr lang="ko-KR" altLang="en-US" b="1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가상화 환경 구축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 Box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만들기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의사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대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대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리눅스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의사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CentOS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6.X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32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비트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모드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CentOS 7.5 64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비트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 준비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네트워크 설정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JDK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필요한 파일 다운로드 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Hadoop 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6. Pig/Hive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Pig 0.16.0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Hive 1.2.1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7. Spark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Apache Spark 1.6.2</a:t>
            </a: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465168" y="1124744"/>
            <a:ext cx="1548172" cy="982622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1</a:t>
            </a:r>
            <a:r>
              <a:rPr lang="ko-KR" altLang="en-US" sz="1400" b="1" smtClean="0">
                <a:solidFill>
                  <a:srgbClr val="000000"/>
                </a:solidFill>
              </a:rPr>
              <a:t>단계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Virtual Box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5565068" y="2348880"/>
            <a:ext cx="1548172" cy="1579298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2</a:t>
            </a:r>
            <a:r>
              <a:rPr lang="ko-KR" altLang="en-US" sz="1400" b="1" smtClean="0">
                <a:solidFill>
                  <a:srgbClr val="000000"/>
                </a:solidFill>
              </a:rPr>
              <a:t>단계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의사 모드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7321886" y="2348880"/>
            <a:ext cx="1908211" cy="1579299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7454947" y="2391592"/>
            <a:ext cx="1619354" cy="674190"/>
            <a:chOff x="2792760" y="5268356"/>
            <a:chExt cx="1619354" cy="674190"/>
          </a:xfrm>
        </p:grpSpPr>
        <p:pic>
          <p:nvPicPr>
            <p:cNvPr id="1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직사각형 11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7321886" y="3091098"/>
            <a:ext cx="1908211" cy="83708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>
            <a:softEdge rad="3175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가상머신 만들기</a:t>
            </a:r>
            <a:endParaRPr kumimoji="0" lang="en-US" altLang="ko-KR" sz="1200" kern="0" smtClean="0">
              <a:solidFill>
                <a:srgbClr val="1F497D">
                  <a:lumMod val="75000"/>
                </a:srgbClr>
              </a:solidFill>
              <a:latin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 설치 및 준비</a:t>
            </a:r>
            <a:endParaRPr kumimoji="0" lang="en-US" altLang="ko-KR" sz="1200" b="0" i="0" u="none" strike="noStrike" kern="0" cap="none" spc="0" normalizeH="0" baseline="0" noProof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하둡</a:t>
            </a:r>
            <a:r>
              <a:rPr kumimoji="0" lang="en-US" altLang="ko-KR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, Pig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5565068" y="4169692"/>
            <a:ext cx="1548172" cy="2518957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3</a:t>
            </a:r>
            <a:r>
              <a:rPr lang="ko-KR" altLang="en-US" sz="1400" b="1" smtClean="0">
                <a:solidFill>
                  <a:srgbClr val="000000"/>
                </a:solidFill>
              </a:rPr>
              <a:t>단계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클러스터 모드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7321886" y="4169693"/>
            <a:ext cx="1908211" cy="2518956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321886" y="5841268"/>
            <a:ext cx="1908211" cy="85223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>
            <a:softEdge rad="3175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가상머신 만들기</a:t>
            </a:r>
            <a:endParaRPr kumimoji="0" lang="en-US" altLang="ko-KR" sz="1200" kern="0" smtClean="0">
              <a:solidFill>
                <a:srgbClr val="1F497D">
                  <a:lumMod val="75000"/>
                </a:srgbClr>
              </a:solidFill>
              <a:latin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리눅스 설치 및 준비</a:t>
            </a:r>
            <a:endParaRPr kumimoji="0" lang="en-US" altLang="ko-KR" sz="1200" b="0" i="0" u="none" strike="noStrike" kern="0" cap="none" spc="0" normalizeH="0" baseline="0" noProof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하둡</a:t>
            </a:r>
            <a:r>
              <a:rPr kumimoji="0" lang="en-US" altLang="ko-KR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, Pig/Hive </a:t>
            </a: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설치</a:t>
            </a:r>
            <a:endParaRPr kumimoji="0" lang="en-US" altLang="ko-KR" sz="1200" kern="0" smtClean="0">
              <a:solidFill>
                <a:srgbClr val="1F497D">
                  <a:lumMod val="75000"/>
                </a:srgbClr>
              </a:solidFill>
              <a:latin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Spark </a:t>
            </a:r>
            <a:r>
              <a:rPr kumimoji="0" lang="ko-KR" altLang="en-US" sz="1200" kern="0" smtClean="0">
                <a:solidFill>
                  <a:srgbClr val="1F497D">
                    <a:lumMod val="75000"/>
                  </a:srgbClr>
                </a:solidFill>
                <a:latin typeface="맑은 고딕"/>
              </a:rPr>
              <a:t>설치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7676358" y="4767178"/>
            <a:ext cx="1159024" cy="546922"/>
            <a:chOff x="2900358" y="5268356"/>
            <a:chExt cx="1404157" cy="804794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900358" y="5665547"/>
              <a:ext cx="1404156" cy="4076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696512" y="4257092"/>
            <a:ext cx="1159024" cy="546922"/>
            <a:chOff x="2900358" y="5268356"/>
            <a:chExt cx="1404157" cy="804794"/>
          </a:xfrm>
        </p:grpSpPr>
        <p:pic>
          <p:nvPicPr>
            <p:cNvPr id="25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직사각형 25"/>
            <p:cNvSpPr/>
            <p:nvPr/>
          </p:nvSpPr>
          <p:spPr>
            <a:xfrm>
              <a:off x="2900358" y="5665547"/>
              <a:ext cx="1404156" cy="4076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7696512" y="5277264"/>
            <a:ext cx="1159024" cy="546922"/>
            <a:chOff x="2900358" y="5268356"/>
            <a:chExt cx="1404157" cy="804794"/>
          </a:xfrm>
        </p:grpSpPr>
        <p:pic>
          <p:nvPicPr>
            <p:cNvPr id="2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직사각형 28"/>
            <p:cNvSpPr/>
            <p:nvPr/>
          </p:nvSpPr>
          <p:spPr>
            <a:xfrm>
              <a:off x="2900358" y="5665547"/>
              <a:ext cx="1404156" cy="4076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31" name="아래쪽 화살표 30"/>
          <p:cNvSpPr/>
          <p:nvPr/>
        </p:nvSpPr>
        <p:spPr>
          <a:xfrm>
            <a:off x="6721343" y="2032014"/>
            <a:ext cx="998991" cy="438348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6727407" y="3835554"/>
            <a:ext cx="998991" cy="436422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2881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5925" y="1660702"/>
            <a:ext cx="9073579" cy="4936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2.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가상화 환경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938880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네트워크 구성도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596516" y="1844824"/>
            <a:ext cx="8748972" cy="4212468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9638" y="5683304"/>
            <a:ext cx="8725850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360712" y="4089515"/>
            <a:ext cx="1584088" cy="674190"/>
            <a:chOff x="2792760" y="5268356"/>
            <a:chExt cx="1584088" cy="674190"/>
          </a:xfrm>
        </p:grpSpPr>
        <p:pic>
          <p:nvPicPr>
            <p:cNvPr id="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2792760" y="5665547"/>
              <a:ext cx="158408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번 머신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 hd1-client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754374" y="2457478"/>
            <a:ext cx="1619354" cy="674190"/>
            <a:chOff x="2792760" y="5268356"/>
            <a:chExt cx="1619354" cy="674190"/>
          </a:xfrm>
        </p:grpSpPr>
        <p:pic>
          <p:nvPicPr>
            <p:cNvPr id="11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직사각형 11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4412956" y="4072742"/>
            <a:ext cx="2055371" cy="683218"/>
            <a:chOff x="2586257" y="5268356"/>
            <a:chExt cx="2055371" cy="683218"/>
          </a:xfrm>
        </p:grpSpPr>
        <p:pic>
          <p:nvPicPr>
            <p:cNvPr id="15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직사각형 15"/>
            <p:cNvSpPr/>
            <p:nvPr/>
          </p:nvSpPr>
          <p:spPr>
            <a:xfrm>
              <a:off x="2586257" y="5674575"/>
              <a:ext cx="205537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번 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hd2-namenode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851106" y="4084712"/>
            <a:ext cx="2165978" cy="671248"/>
            <a:chOff x="2527451" y="5268356"/>
            <a:chExt cx="2165978" cy="671248"/>
          </a:xfrm>
        </p:grpSpPr>
        <p:pic>
          <p:nvPicPr>
            <p:cNvPr id="1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직사각형 18"/>
            <p:cNvSpPr/>
            <p:nvPr/>
          </p:nvSpPr>
          <p:spPr>
            <a:xfrm>
              <a:off x="2527451" y="5662605"/>
              <a:ext cx="216597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번 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hd3-secondnode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" name="직선 연결선 19"/>
          <p:cNvCxnSpPr/>
          <p:nvPr/>
        </p:nvCxnSpPr>
        <p:spPr bwMode="auto">
          <a:xfrm flipH="1" flipV="1">
            <a:off x="2734459" y="3537012"/>
            <a:ext cx="6395254" cy="7120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16" y="2157020"/>
            <a:ext cx="853905" cy="42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직선 연결선 21"/>
          <p:cNvCxnSpPr>
            <a:stCxn id="21" idx="3"/>
            <a:endCxn id="11" idx="1"/>
          </p:cNvCxnSpPr>
          <p:nvPr/>
        </p:nvCxnSpPr>
        <p:spPr>
          <a:xfrm>
            <a:off x="2298321" y="2367633"/>
            <a:ext cx="1563652" cy="28844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endCxn id="50" idx="2"/>
          </p:cNvCxnSpPr>
          <p:nvPr/>
        </p:nvCxnSpPr>
        <p:spPr>
          <a:xfrm flipH="1" flipV="1">
            <a:off x="8065556" y="2618505"/>
            <a:ext cx="26586" cy="918050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415925" y="6201308"/>
            <a:ext cx="9073579" cy="3960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노트북</a:t>
            </a:r>
            <a:r>
              <a:rPr lang="en-US" altLang="ko-KR"/>
              <a:t> </a:t>
            </a:r>
            <a:r>
              <a:rPr lang="en-US" altLang="ko-KR" smtClean="0"/>
              <a:t>: OS(Windows </a:t>
            </a:r>
            <a:r>
              <a:rPr lang="ko-KR" altLang="en-US" smtClean="0"/>
              <a:t>또는 </a:t>
            </a:r>
            <a:r>
              <a:rPr lang="en-US" altLang="ko-KR" smtClean="0"/>
              <a:t>Mac OS) </a:t>
            </a:r>
            <a:endParaRPr lang="ko-KR" altLang="en-US"/>
          </a:p>
        </p:txBody>
      </p:sp>
      <p:sp>
        <p:nvSpPr>
          <p:cNvPr id="4" name="구름 모양 설명선 3"/>
          <p:cNvSpPr/>
          <p:nvPr/>
        </p:nvSpPr>
        <p:spPr>
          <a:xfrm>
            <a:off x="2734459" y="983507"/>
            <a:ext cx="1466995" cy="544846"/>
          </a:xfrm>
          <a:prstGeom prst="cloud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연결선 29"/>
          <p:cNvCxnSpPr>
            <a:stCxn id="21" idx="0"/>
            <a:endCxn id="4" idx="0"/>
          </p:cNvCxnSpPr>
          <p:nvPr/>
        </p:nvCxnSpPr>
        <p:spPr>
          <a:xfrm flipV="1">
            <a:off x="1871369" y="1255930"/>
            <a:ext cx="867640" cy="901090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21" idx="3"/>
            <a:endCxn id="8" idx="1"/>
          </p:cNvCxnSpPr>
          <p:nvPr/>
        </p:nvCxnSpPr>
        <p:spPr>
          <a:xfrm>
            <a:off x="2298321" y="2367633"/>
            <a:ext cx="169990" cy="1920478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>
            <a:stCxn id="21" idx="3"/>
            <a:endCxn id="15" idx="1"/>
          </p:cNvCxnSpPr>
          <p:nvPr/>
        </p:nvCxnSpPr>
        <p:spPr>
          <a:xfrm>
            <a:off x="2298321" y="2367633"/>
            <a:ext cx="2428737" cy="1903705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21" idx="3"/>
            <a:endCxn id="18" idx="1"/>
          </p:cNvCxnSpPr>
          <p:nvPr/>
        </p:nvCxnSpPr>
        <p:spPr>
          <a:xfrm>
            <a:off x="2298321" y="2367633"/>
            <a:ext cx="4925693" cy="1915675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603" y="2197279"/>
            <a:ext cx="853905" cy="42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3" name="직선 연결선 52"/>
          <p:cNvCxnSpPr/>
          <p:nvPr/>
        </p:nvCxnSpPr>
        <p:spPr>
          <a:xfrm flipH="1" flipV="1">
            <a:off x="7919820" y="3565755"/>
            <a:ext cx="4181" cy="518957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 flipV="1">
            <a:off x="5369547" y="3580722"/>
            <a:ext cx="4181" cy="518957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 flipH="1" flipV="1">
            <a:off x="3168298" y="3553785"/>
            <a:ext cx="4181" cy="518957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flipV="1">
            <a:off x="4623479" y="3091721"/>
            <a:ext cx="0" cy="445292"/>
          </a:xfrm>
          <a:prstGeom prst="line">
            <a:avLst/>
          </a:prstGeom>
          <a:ln w="47625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80"/>
          <p:cNvSpPr>
            <a:spLocks noChangeArrowheads="1"/>
          </p:cNvSpPr>
          <p:nvPr/>
        </p:nvSpPr>
        <p:spPr bwMode="auto">
          <a:xfrm>
            <a:off x="1166194" y="2627248"/>
            <a:ext cx="12589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b="1" smtClean="0">
                <a:solidFill>
                  <a:srgbClr val="C00000"/>
                </a:solidFill>
              </a:rPr>
              <a:t>[ NAT ]</a:t>
            </a:r>
            <a:endParaRPr lang="en-US" altLang="ko-KR" sz="1000" b="1" dirty="0">
              <a:solidFill>
                <a:srgbClr val="000000"/>
              </a:solidFill>
            </a:endParaRPr>
          </a:p>
        </p:txBody>
      </p:sp>
      <p:sp>
        <p:nvSpPr>
          <p:cNvPr id="68" name="직사각형 80"/>
          <p:cNvSpPr>
            <a:spLocks noChangeArrowheads="1"/>
          </p:cNvSpPr>
          <p:nvPr/>
        </p:nvSpPr>
        <p:spPr bwMode="auto">
          <a:xfrm>
            <a:off x="6503374" y="2665019"/>
            <a:ext cx="265750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b="1" smtClean="0">
                <a:solidFill>
                  <a:srgbClr val="0070C0"/>
                </a:solidFill>
              </a:rPr>
              <a:t>[ </a:t>
            </a:r>
            <a:r>
              <a:rPr lang="ko-KR" altLang="en-US" sz="1600" b="1" smtClean="0">
                <a:solidFill>
                  <a:srgbClr val="0070C0"/>
                </a:solidFill>
              </a:rPr>
              <a:t>호스트 전용 어댑터</a:t>
            </a:r>
            <a:r>
              <a:rPr lang="en-US" altLang="ko-KR" sz="1600" b="1" smtClean="0">
                <a:solidFill>
                  <a:srgbClr val="0070C0"/>
                </a:solidFill>
              </a:rPr>
              <a:t> ]</a:t>
            </a:r>
            <a:endParaRPr lang="en-US" altLang="ko-KR" sz="1000" b="1" dirty="0">
              <a:solidFill>
                <a:srgbClr val="0070C0"/>
              </a:solidFill>
            </a:endParaRPr>
          </a:p>
        </p:txBody>
      </p:sp>
      <p:sp>
        <p:nvSpPr>
          <p:cNvPr id="69" name="직사각형 80"/>
          <p:cNvSpPr>
            <a:spLocks noChangeArrowheads="1"/>
          </p:cNvSpPr>
          <p:nvPr/>
        </p:nvSpPr>
        <p:spPr bwMode="auto">
          <a:xfrm>
            <a:off x="2784111" y="1952679"/>
            <a:ext cx="21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eth0 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MAC:123456789010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0" name="직사각형 80"/>
          <p:cNvSpPr>
            <a:spLocks noChangeArrowheads="1"/>
          </p:cNvSpPr>
          <p:nvPr/>
        </p:nvSpPr>
        <p:spPr bwMode="auto">
          <a:xfrm>
            <a:off x="1713406" y="4763008"/>
            <a:ext cx="27619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enp0s3 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MAC:123456789020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2" name="직사각형 80"/>
          <p:cNvSpPr>
            <a:spLocks noChangeArrowheads="1"/>
          </p:cNvSpPr>
          <p:nvPr/>
        </p:nvSpPr>
        <p:spPr bwMode="auto">
          <a:xfrm>
            <a:off x="4291517" y="4758902"/>
            <a:ext cx="242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/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</a:t>
            </a:r>
            <a:r>
              <a:rPr lang="en-US" altLang="ko-KR" sz="1200" b="1">
                <a:solidFill>
                  <a:srgbClr val="C00000"/>
                </a:solidFill>
              </a:rPr>
              <a:t>enp0s3 </a:t>
            </a:r>
            <a:r>
              <a:rPr lang="en-US" altLang="ko-KR" sz="1200" b="1" smtClean="0">
                <a:solidFill>
                  <a:srgbClr val="C00000"/>
                </a:solidFill>
              </a:rPr>
              <a:t>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</a:t>
            </a:r>
            <a:r>
              <a:rPr lang="ko-KR" altLang="en-US" sz="1200" b="1" smtClean="0">
                <a:solidFill>
                  <a:srgbClr val="C00000"/>
                </a:solidFill>
              </a:rPr>
              <a:t>자동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3" name="직사각형 80"/>
          <p:cNvSpPr>
            <a:spLocks noChangeArrowheads="1"/>
          </p:cNvSpPr>
          <p:nvPr/>
        </p:nvSpPr>
        <p:spPr bwMode="auto">
          <a:xfrm>
            <a:off x="6618987" y="4770872"/>
            <a:ext cx="242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/>
            <a:r>
              <a:rPr lang="ko-KR" altLang="en-US" sz="1200" b="1" smtClean="0">
                <a:solidFill>
                  <a:srgbClr val="C00000"/>
                </a:solidFill>
              </a:rPr>
              <a:t>어댑터</a:t>
            </a:r>
            <a:r>
              <a:rPr lang="en-US" altLang="ko-KR" sz="1200" b="1" smtClean="0">
                <a:solidFill>
                  <a:srgbClr val="C00000"/>
                </a:solidFill>
              </a:rPr>
              <a:t>1 </a:t>
            </a:r>
            <a:r>
              <a:rPr lang="en-US" altLang="ko-KR" sz="1200" b="1">
                <a:solidFill>
                  <a:srgbClr val="C00000"/>
                </a:solidFill>
              </a:rPr>
              <a:t>enp0s3 </a:t>
            </a:r>
            <a:r>
              <a:rPr lang="en-US" altLang="ko-KR" sz="1200" b="1" smtClean="0">
                <a:solidFill>
                  <a:srgbClr val="C00000"/>
                </a:solidFill>
              </a:rPr>
              <a:t>10.0.2.15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MAC:</a:t>
            </a:r>
            <a:r>
              <a:rPr lang="ko-KR" altLang="en-US" sz="1200" b="1" smtClean="0">
                <a:solidFill>
                  <a:srgbClr val="C00000"/>
                </a:solidFill>
              </a:rPr>
              <a:t>자동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74" name="직사각형 80"/>
          <p:cNvSpPr>
            <a:spLocks noChangeArrowheads="1"/>
          </p:cNvSpPr>
          <p:nvPr/>
        </p:nvSpPr>
        <p:spPr bwMode="auto">
          <a:xfrm>
            <a:off x="4623479" y="1949646"/>
            <a:ext cx="2330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eth1 192.168.56.11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MAC:123456789011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  <p:sp>
        <p:nvSpPr>
          <p:cNvPr id="75" name="직사각형 80"/>
          <p:cNvSpPr>
            <a:spLocks noChangeArrowheads="1"/>
          </p:cNvSpPr>
          <p:nvPr/>
        </p:nvSpPr>
        <p:spPr bwMode="auto">
          <a:xfrm>
            <a:off x="1977122" y="5175625"/>
            <a:ext cx="26494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enp0s8 192.168.56.21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MAC:123456789021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  <p:sp>
        <p:nvSpPr>
          <p:cNvPr id="81" name="직사각형 80"/>
          <p:cNvSpPr>
            <a:spLocks noChangeArrowheads="1"/>
          </p:cNvSpPr>
          <p:nvPr/>
        </p:nvSpPr>
        <p:spPr bwMode="auto">
          <a:xfrm>
            <a:off x="4363518" y="5175171"/>
            <a:ext cx="2577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/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</a:t>
            </a:r>
            <a:r>
              <a:rPr lang="en-US" altLang="ko-KR" sz="1200" b="1">
                <a:solidFill>
                  <a:srgbClr val="0070C0"/>
                </a:solidFill>
              </a:rPr>
              <a:t>enp0s8 </a:t>
            </a:r>
            <a:r>
              <a:rPr lang="en-US" altLang="ko-KR" sz="1200" b="1" smtClean="0">
                <a:solidFill>
                  <a:srgbClr val="0070C0"/>
                </a:solidFill>
              </a:rPr>
              <a:t>192.168.56.31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</a:t>
            </a:r>
            <a:r>
              <a:rPr lang="ko-KR" altLang="en-US" sz="1200" b="1" smtClean="0">
                <a:solidFill>
                  <a:srgbClr val="0070C0"/>
                </a:solidFill>
              </a:rPr>
              <a:t>자동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  <p:sp>
        <p:nvSpPr>
          <p:cNvPr id="82" name="직사각형 81"/>
          <p:cNvSpPr>
            <a:spLocks noChangeArrowheads="1"/>
          </p:cNvSpPr>
          <p:nvPr/>
        </p:nvSpPr>
        <p:spPr bwMode="auto">
          <a:xfrm>
            <a:off x="6744040" y="5175171"/>
            <a:ext cx="2544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/>
            <a:r>
              <a:rPr lang="ko-KR" altLang="en-US" sz="1200" b="1" smtClean="0">
                <a:solidFill>
                  <a:srgbClr val="0070C0"/>
                </a:solidFill>
              </a:rPr>
              <a:t>어댑터</a:t>
            </a:r>
            <a:r>
              <a:rPr lang="en-US" altLang="ko-KR" sz="1200" b="1" smtClean="0">
                <a:solidFill>
                  <a:srgbClr val="0070C0"/>
                </a:solidFill>
              </a:rPr>
              <a:t>2 </a:t>
            </a:r>
            <a:r>
              <a:rPr lang="en-US" altLang="ko-KR" sz="1200" b="1">
                <a:solidFill>
                  <a:srgbClr val="0070C0"/>
                </a:solidFill>
              </a:rPr>
              <a:t>enp0s8 </a:t>
            </a:r>
            <a:r>
              <a:rPr lang="en-US" altLang="ko-KR" sz="1200" b="1" smtClean="0">
                <a:solidFill>
                  <a:srgbClr val="0070C0"/>
                </a:solidFill>
              </a:rPr>
              <a:t>192.168.56.41 </a:t>
            </a:r>
          </a:p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0070C0"/>
                </a:solidFill>
              </a:rPr>
              <a:t>MAC:</a:t>
            </a:r>
            <a:r>
              <a:rPr lang="ko-KR" altLang="en-US" sz="1200" b="1" smtClean="0">
                <a:solidFill>
                  <a:srgbClr val="0070C0"/>
                </a:solidFill>
              </a:rPr>
              <a:t>자동</a:t>
            </a:r>
            <a:endParaRPr lang="en-US" altLang="ko-KR" sz="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29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5"/>
          <p:cNvSpPr>
            <a:spLocks noChangeArrowheads="1"/>
          </p:cNvSpPr>
          <p:nvPr/>
        </p:nvSpPr>
        <p:spPr bwMode="gray">
          <a:xfrm>
            <a:off x="4709969" y="1373990"/>
            <a:ext cx="4779535" cy="522336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100" b="1" kern="0" dirty="0">
              <a:solidFill>
                <a:srgbClr val="C00000"/>
              </a:solidFill>
            </a:endParaRPr>
          </a:p>
        </p:txBody>
      </p:sp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# HDFS,MapReduce,YARN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631170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하둡의 </a:t>
            </a:r>
            <a:r>
              <a:rPr lang="en-US" altLang="ko-KR" sz="1600" b="1" smtClean="0">
                <a:solidFill>
                  <a:prstClr val="black"/>
                </a:solidFill>
              </a:rPr>
              <a:t>3</a:t>
            </a:r>
            <a:r>
              <a:rPr lang="ko-KR" altLang="en-US" sz="1600" b="1" smtClean="0">
                <a:solidFill>
                  <a:prstClr val="black"/>
                </a:solidFill>
              </a:rPr>
              <a:t>가지 주요 기능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sp>
        <p:nvSpPr>
          <p:cNvPr id="69" name="Rectangle 5"/>
          <p:cNvSpPr>
            <a:spLocks noChangeArrowheads="1"/>
          </p:cNvSpPr>
          <p:nvPr/>
        </p:nvSpPr>
        <p:spPr bwMode="gray">
          <a:xfrm>
            <a:off x="882868" y="4437112"/>
            <a:ext cx="3206036" cy="1368152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b="1" kern="0" dirty="0">
              <a:solidFill>
                <a:srgbClr val="000000"/>
              </a:solidFill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b="1" kern="0" dirty="0">
              <a:solidFill>
                <a:srgbClr val="000000"/>
              </a:solidFill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b="1" kern="0" dirty="0">
              <a:solidFill>
                <a:srgbClr val="000000"/>
              </a:solidFill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smtClean="0">
                <a:solidFill>
                  <a:srgbClr val="C00000"/>
                </a:solidFill>
              </a:rPr>
              <a:t> </a:t>
            </a:r>
            <a:endParaRPr kumimoji="0" lang="ko-KR" altLang="en-US" sz="1000" b="1" kern="0" dirty="0">
              <a:solidFill>
                <a:srgbClr val="C00000"/>
              </a:solidFill>
            </a:endParaRPr>
          </a:p>
        </p:txBody>
      </p:sp>
      <p:sp>
        <p:nvSpPr>
          <p:cNvPr id="70" name="Rectangle 5"/>
          <p:cNvSpPr>
            <a:spLocks noChangeArrowheads="1"/>
          </p:cNvSpPr>
          <p:nvPr/>
        </p:nvSpPr>
        <p:spPr bwMode="gray">
          <a:xfrm>
            <a:off x="882868" y="2304650"/>
            <a:ext cx="3206036" cy="1937497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100" b="1" kern="0" dirty="0">
              <a:solidFill>
                <a:srgbClr val="C0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51248" y="1772816"/>
            <a:ext cx="36968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kern="0">
                <a:solidFill>
                  <a:srgbClr val="0070C0"/>
                </a:solidFill>
              </a:rPr>
              <a:t>&lt; </a:t>
            </a:r>
            <a:r>
              <a:rPr kumimoji="0" lang="ko-KR" altLang="en-US" sz="1400" b="1" kern="0">
                <a:solidFill>
                  <a:srgbClr val="0070C0"/>
                </a:solidFill>
              </a:rPr>
              <a:t>분산파일시스템 </a:t>
            </a:r>
            <a:r>
              <a:rPr kumimoji="0" lang="en-US" altLang="ko-KR" sz="1400" b="1" kern="0" smtClean="0">
                <a:solidFill>
                  <a:srgbClr val="0070C0"/>
                </a:solidFill>
              </a:rPr>
              <a:t>+ </a:t>
            </a:r>
            <a:r>
              <a:rPr kumimoji="0" lang="ko-KR" altLang="en-US" sz="1400" b="1" kern="0" smtClean="0">
                <a:solidFill>
                  <a:srgbClr val="0070C0"/>
                </a:solidFill>
              </a:rPr>
              <a:t>분산병렬처리시스템 </a:t>
            </a:r>
            <a:r>
              <a:rPr kumimoji="0" lang="en-US" altLang="ko-KR" sz="1400" b="1" kern="0">
                <a:solidFill>
                  <a:srgbClr val="0070C0"/>
                </a:solidFill>
              </a:rPr>
              <a:t>&gt;</a:t>
            </a:r>
            <a:endParaRPr kumimoji="0" lang="ko-KR" altLang="en-US" sz="1400" b="1" kern="0" dirty="0">
              <a:solidFill>
                <a:srgbClr val="0070C0"/>
              </a:solidFill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1114410" y="2852936"/>
            <a:ext cx="656916" cy="2421454"/>
            <a:chOff x="1224103" y="2663731"/>
            <a:chExt cx="656916" cy="2421454"/>
          </a:xfrm>
        </p:grpSpPr>
        <p:sp>
          <p:nvSpPr>
            <p:cNvPr id="92" name="Rectangle 5"/>
            <p:cNvSpPr>
              <a:spLocks noChangeArrowheads="1"/>
            </p:cNvSpPr>
            <p:nvPr/>
          </p:nvSpPr>
          <p:spPr bwMode="gray">
            <a:xfrm>
              <a:off x="1224103" y="2663731"/>
              <a:ext cx="656916" cy="2421454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93" name="Rectangle 5"/>
            <p:cNvSpPr>
              <a:spLocks noChangeArrowheads="1"/>
            </p:cNvSpPr>
            <p:nvPr/>
          </p:nvSpPr>
          <p:spPr bwMode="gray">
            <a:xfrm>
              <a:off x="1264293" y="2780928"/>
              <a:ext cx="572378" cy="19321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>
                  <a:solidFill>
                    <a:srgbClr val="000000"/>
                  </a:solidFill>
                </a:rPr>
                <a:t>CPU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94" name="Rectangle 5"/>
            <p:cNvSpPr>
              <a:spLocks noChangeArrowheads="1"/>
            </p:cNvSpPr>
            <p:nvPr/>
          </p:nvSpPr>
          <p:spPr bwMode="gray">
            <a:xfrm>
              <a:off x="1264294" y="3068960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>
                  <a:solidFill>
                    <a:srgbClr val="000000"/>
                  </a:solidFill>
                </a:rPr>
                <a:t>CPU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95" name="순서도: 자기 디스크 94"/>
            <p:cNvSpPr/>
            <p:nvPr/>
          </p:nvSpPr>
          <p:spPr bwMode="auto">
            <a:xfrm>
              <a:off x="1264294" y="4355476"/>
              <a:ext cx="565447" cy="297661"/>
            </a:xfrm>
            <a:prstGeom prst="flowChartMagneticDisk">
              <a:avLst/>
            </a:prstGeom>
            <a:solidFill>
              <a:srgbClr val="92D050"/>
            </a:soli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en-US" altLang="ko-KR" sz="1000" b="1" kern="0" smtClean="0">
                  <a:solidFill>
                    <a:sysClr val="windowText" lastClr="000000"/>
                  </a:solidFill>
                </a:rPr>
                <a:t>Disk</a:t>
              </a:r>
              <a:endParaRPr lang="ko-KR" altLang="en-US" sz="1000" b="1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순서도: 자기 디스크 95"/>
            <p:cNvSpPr/>
            <p:nvPr/>
          </p:nvSpPr>
          <p:spPr bwMode="auto">
            <a:xfrm>
              <a:off x="1264293" y="4656706"/>
              <a:ext cx="565447" cy="297661"/>
            </a:xfrm>
            <a:prstGeom prst="flowChartMagneticDisk">
              <a:avLst/>
            </a:prstGeom>
            <a:solidFill>
              <a:srgbClr val="92D050"/>
            </a:soli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en-US" altLang="ko-KR" sz="1000" b="1" kern="0" smtClean="0">
                  <a:solidFill>
                    <a:sysClr val="windowText" lastClr="000000"/>
                  </a:solidFill>
                </a:rPr>
                <a:t>Disk</a:t>
              </a:r>
              <a:endParaRPr lang="ko-KR" altLang="en-US" sz="1000" b="1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Rectangle 5"/>
            <p:cNvSpPr>
              <a:spLocks noChangeArrowheads="1"/>
            </p:cNvSpPr>
            <p:nvPr/>
          </p:nvSpPr>
          <p:spPr bwMode="gray">
            <a:xfrm>
              <a:off x="1269143" y="3501008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rgbClr val="000000"/>
                  </a:solidFill>
                </a:rPr>
                <a:t>RAM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98" name="Rectangle 5"/>
            <p:cNvSpPr>
              <a:spLocks noChangeArrowheads="1"/>
            </p:cNvSpPr>
            <p:nvPr/>
          </p:nvSpPr>
          <p:spPr bwMode="gray">
            <a:xfrm>
              <a:off x="1266372" y="3772230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rgbClr val="000000"/>
                  </a:solidFill>
                </a:rPr>
                <a:t>RAM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1890979" y="2861812"/>
            <a:ext cx="656916" cy="2421454"/>
            <a:chOff x="1224103" y="2663731"/>
            <a:chExt cx="656916" cy="2421454"/>
          </a:xfrm>
        </p:grpSpPr>
        <p:sp>
          <p:nvSpPr>
            <p:cNvPr id="85" name="Rectangle 5"/>
            <p:cNvSpPr>
              <a:spLocks noChangeArrowheads="1"/>
            </p:cNvSpPr>
            <p:nvPr/>
          </p:nvSpPr>
          <p:spPr bwMode="gray">
            <a:xfrm>
              <a:off x="1224103" y="2663731"/>
              <a:ext cx="656916" cy="2421454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86" name="Rectangle 5"/>
            <p:cNvSpPr>
              <a:spLocks noChangeArrowheads="1"/>
            </p:cNvSpPr>
            <p:nvPr/>
          </p:nvSpPr>
          <p:spPr bwMode="gray">
            <a:xfrm>
              <a:off x="1264293" y="2780928"/>
              <a:ext cx="572378" cy="19321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>
                  <a:solidFill>
                    <a:srgbClr val="000000"/>
                  </a:solidFill>
                </a:rPr>
                <a:t>CPU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87" name="Rectangle 5"/>
            <p:cNvSpPr>
              <a:spLocks noChangeArrowheads="1"/>
            </p:cNvSpPr>
            <p:nvPr/>
          </p:nvSpPr>
          <p:spPr bwMode="gray">
            <a:xfrm>
              <a:off x="1264294" y="3068960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>
                  <a:solidFill>
                    <a:srgbClr val="000000"/>
                  </a:solidFill>
                </a:rPr>
                <a:t>CPU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88" name="순서도: 자기 디스크 87"/>
            <p:cNvSpPr/>
            <p:nvPr/>
          </p:nvSpPr>
          <p:spPr bwMode="auto">
            <a:xfrm>
              <a:off x="1264294" y="4355476"/>
              <a:ext cx="565447" cy="297661"/>
            </a:xfrm>
            <a:prstGeom prst="flowChartMagneticDisk">
              <a:avLst/>
            </a:prstGeom>
            <a:solidFill>
              <a:srgbClr val="92D050"/>
            </a:soli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en-US" altLang="ko-KR" sz="1000" b="1" kern="0" smtClean="0">
                  <a:solidFill>
                    <a:sysClr val="windowText" lastClr="000000"/>
                  </a:solidFill>
                </a:rPr>
                <a:t>Disk</a:t>
              </a:r>
              <a:endParaRPr lang="ko-KR" altLang="en-US" sz="1000" b="1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순서도: 자기 디스크 88"/>
            <p:cNvSpPr/>
            <p:nvPr/>
          </p:nvSpPr>
          <p:spPr bwMode="auto">
            <a:xfrm>
              <a:off x="1264293" y="4656706"/>
              <a:ext cx="565447" cy="297661"/>
            </a:xfrm>
            <a:prstGeom prst="flowChartMagneticDisk">
              <a:avLst/>
            </a:prstGeom>
            <a:solidFill>
              <a:srgbClr val="92D050"/>
            </a:soli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en-US" altLang="ko-KR" sz="1000" b="1" kern="0" smtClean="0">
                  <a:solidFill>
                    <a:sysClr val="windowText" lastClr="000000"/>
                  </a:solidFill>
                </a:rPr>
                <a:t>Disk</a:t>
              </a:r>
              <a:endParaRPr lang="ko-KR" altLang="en-US" sz="1000" b="1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Rectangle 5"/>
            <p:cNvSpPr>
              <a:spLocks noChangeArrowheads="1"/>
            </p:cNvSpPr>
            <p:nvPr/>
          </p:nvSpPr>
          <p:spPr bwMode="gray">
            <a:xfrm>
              <a:off x="1269143" y="3501008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rgbClr val="000000"/>
                  </a:solidFill>
                </a:rPr>
                <a:t>RAM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91" name="Rectangle 5"/>
            <p:cNvSpPr>
              <a:spLocks noChangeArrowheads="1"/>
            </p:cNvSpPr>
            <p:nvPr/>
          </p:nvSpPr>
          <p:spPr bwMode="gray">
            <a:xfrm>
              <a:off x="1266372" y="3772230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rgbClr val="000000"/>
                  </a:solidFill>
                </a:rPr>
                <a:t>RAM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3250287" y="2861812"/>
            <a:ext cx="656916" cy="2421454"/>
            <a:chOff x="1224103" y="2663731"/>
            <a:chExt cx="656916" cy="2421454"/>
          </a:xfrm>
        </p:grpSpPr>
        <p:sp>
          <p:nvSpPr>
            <p:cNvPr id="78" name="Rectangle 5"/>
            <p:cNvSpPr>
              <a:spLocks noChangeArrowheads="1"/>
            </p:cNvSpPr>
            <p:nvPr/>
          </p:nvSpPr>
          <p:spPr bwMode="gray">
            <a:xfrm>
              <a:off x="1224103" y="2663731"/>
              <a:ext cx="656916" cy="2421454"/>
            </a:xfrm>
            <a:prstGeom prst="rect">
              <a:avLst/>
            </a:prstGeom>
            <a:solidFill>
              <a:sysClr val="window" lastClr="FFFFFF"/>
            </a:solidFill>
            <a:ln w="12700" algn="ctr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79" name="Rectangle 5"/>
            <p:cNvSpPr>
              <a:spLocks noChangeArrowheads="1"/>
            </p:cNvSpPr>
            <p:nvPr/>
          </p:nvSpPr>
          <p:spPr bwMode="gray">
            <a:xfrm>
              <a:off x="1264293" y="2780928"/>
              <a:ext cx="572378" cy="19321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>
                  <a:solidFill>
                    <a:srgbClr val="000000"/>
                  </a:solidFill>
                </a:rPr>
                <a:t>CPU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80" name="Rectangle 5"/>
            <p:cNvSpPr>
              <a:spLocks noChangeArrowheads="1"/>
            </p:cNvSpPr>
            <p:nvPr/>
          </p:nvSpPr>
          <p:spPr bwMode="gray">
            <a:xfrm>
              <a:off x="1264294" y="3068960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dirty="0">
                  <a:solidFill>
                    <a:srgbClr val="000000"/>
                  </a:solidFill>
                </a:rPr>
                <a:t>CPU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81" name="순서도: 자기 디스크 80"/>
            <p:cNvSpPr/>
            <p:nvPr/>
          </p:nvSpPr>
          <p:spPr bwMode="auto">
            <a:xfrm>
              <a:off x="1264294" y="4355476"/>
              <a:ext cx="565447" cy="297661"/>
            </a:xfrm>
            <a:prstGeom prst="flowChartMagneticDisk">
              <a:avLst/>
            </a:prstGeom>
            <a:solidFill>
              <a:srgbClr val="92D050"/>
            </a:soli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en-US" altLang="ko-KR" sz="1000" b="1" kern="0" smtClean="0">
                  <a:solidFill>
                    <a:sysClr val="windowText" lastClr="000000"/>
                  </a:solidFill>
                </a:rPr>
                <a:t>Disk</a:t>
              </a:r>
              <a:endParaRPr lang="ko-KR" altLang="en-US" sz="1000" b="1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순서도: 자기 디스크 81"/>
            <p:cNvSpPr/>
            <p:nvPr/>
          </p:nvSpPr>
          <p:spPr bwMode="auto">
            <a:xfrm>
              <a:off x="1264293" y="4656706"/>
              <a:ext cx="565447" cy="297661"/>
            </a:xfrm>
            <a:prstGeom prst="flowChartMagneticDisk">
              <a:avLst/>
            </a:prstGeom>
            <a:solidFill>
              <a:srgbClr val="92D050"/>
            </a:soli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anchor="ctr"/>
            <a:lstStyle/>
            <a:p>
              <a:pPr algn="ctr" latinLnBrk="0">
                <a:spcBef>
                  <a:spcPct val="50000"/>
                </a:spcBef>
                <a:defRPr/>
              </a:pPr>
              <a:r>
                <a:rPr lang="en-US" altLang="ko-KR" sz="1000" b="1" kern="0" smtClean="0">
                  <a:solidFill>
                    <a:sysClr val="windowText" lastClr="000000"/>
                  </a:solidFill>
                </a:rPr>
                <a:t>Disk</a:t>
              </a:r>
              <a:endParaRPr lang="ko-KR" altLang="en-US" sz="1000" b="1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5"/>
            <p:cNvSpPr>
              <a:spLocks noChangeArrowheads="1"/>
            </p:cNvSpPr>
            <p:nvPr/>
          </p:nvSpPr>
          <p:spPr bwMode="gray">
            <a:xfrm>
              <a:off x="1269143" y="3501008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rgbClr val="000000"/>
                  </a:solidFill>
                </a:rPr>
                <a:t>RAM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84" name="Rectangle 5"/>
            <p:cNvSpPr>
              <a:spLocks noChangeArrowheads="1"/>
            </p:cNvSpPr>
            <p:nvPr/>
          </p:nvSpPr>
          <p:spPr bwMode="gray">
            <a:xfrm>
              <a:off x="1266372" y="3772230"/>
              <a:ext cx="572377" cy="18670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b="1" kern="0" smtClean="0">
                  <a:solidFill>
                    <a:srgbClr val="000000"/>
                  </a:solidFill>
                </a:rPr>
                <a:t>RAM</a:t>
              </a:r>
              <a:endParaRPr kumimoji="0" lang="ko-KR" altLang="en-US" sz="1000" b="1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2674116" y="3158522"/>
            <a:ext cx="432048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3200" b="1" smtClean="0">
                <a:solidFill>
                  <a:prstClr val="black"/>
                </a:solidFill>
              </a:rPr>
              <a:t>...</a:t>
            </a:r>
            <a:endParaRPr lang="ko-KR" altLang="en-US" sz="3200" b="1">
              <a:solidFill>
                <a:prstClr val="black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1770036" y="2403875"/>
            <a:ext cx="14462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kern="0" smtClean="0">
                <a:solidFill>
                  <a:srgbClr val="C00000"/>
                </a:solidFill>
              </a:rPr>
              <a:t>[ MapReduce ]</a:t>
            </a:r>
            <a:endParaRPr kumimoji="0" lang="ko-KR" altLang="en-US" sz="1400" b="1" kern="0" dirty="0">
              <a:solidFill>
                <a:srgbClr val="C0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046043" y="5373216"/>
            <a:ext cx="9060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kern="0" smtClean="0">
                <a:solidFill>
                  <a:srgbClr val="C00000"/>
                </a:solidFill>
              </a:rPr>
              <a:t>[ HDFS ]</a:t>
            </a:r>
            <a:endParaRPr kumimoji="0" lang="ko-KR" altLang="en-US" sz="1400" b="1" kern="0" dirty="0">
              <a:solidFill>
                <a:srgbClr val="C00000"/>
              </a:solidFill>
            </a:endParaRPr>
          </a:p>
        </p:txBody>
      </p:sp>
      <p:sp>
        <p:nvSpPr>
          <p:cNvPr id="100" name="모서리가 둥근 직사각형 99"/>
          <p:cNvSpPr/>
          <p:nvPr/>
        </p:nvSpPr>
        <p:spPr bwMode="auto">
          <a:xfrm>
            <a:off x="5356205" y="1834128"/>
            <a:ext cx="3529556" cy="4076366"/>
          </a:xfrm>
          <a:prstGeom prst="roundRect">
            <a:avLst>
              <a:gd name="adj" fmla="val 5382"/>
            </a:avLst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cxnSp>
        <p:nvCxnSpPr>
          <p:cNvPr id="102" name="직선 연결선 101"/>
          <p:cNvCxnSpPr/>
          <p:nvPr/>
        </p:nvCxnSpPr>
        <p:spPr bwMode="auto">
          <a:xfrm flipV="1">
            <a:off x="8980681" y="1774644"/>
            <a:ext cx="0" cy="4135850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직사각형 80"/>
          <p:cNvSpPr>
            <a:spLocks noChangeArrowheads="1"/>
          </p:cNvSpPr>
          <p:nvPr/>
        </p:nvSpPr>
        <p:spPr bwMode="auto">
          <a:xfrm>
            <a:off x="5424034" y="3864716"/>
            <a:ext cx="12073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lang="ko-KR" altLang="en-US" sz="1200" b="1" smtClean="0">
                <a:solidFill>
                  <a:prstClr val="black"/>
                </a:solidFill>
              </a:rPr>
              <a:t>데이터 </a:t>
            </a:r>
            <a:r>
              <a:rPr lang="ko-KR" altLang="en-US" sz="1200" b="1" err="1" smtClean="0">
                <a:solidFill>
                  <a:prstClr val="black"/>
                </a:solidFill>
              </a:rPr>
              <a:t>노드</a:t>
            </a:r>
            <a:r>
              <a:rPr lang="en-US" altLang="ko-KR" sz="1200" b="1" smtClean="0">
                <a:solidFill>
                  <a:prstClr val="black"/>
                </a:solidFill>
              </a:rPr>
              <a:t> 1 </a:t>
            </a:r>
            <a:endParaRPr lang="en-US" altLang="ko-KR" sz="1200" b="1" dirty="0">
              <a:solidFill>
                <a:prstClr val="black"/>
              </a:solidFill>
            </a:endParaRPr>
          </a:p>
        </p:txBody>
      </p:sp>
      <p:pic>
        <p:nvPicPr>
          <p:cNvPr id="104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5497482" y="3579989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5497110" y="2365464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직사각형 80"/>
          <p:cNvSpPr>
            <a:spLocks noChangeArrowheads="1"/>
          </p:cNvSpPr>
          <p:nvPr/>
        </p:nvSpPr>
        <p:spPr bwMode="auto">
          <a:xfrm>
            <a:off x="5406832" y="2627800"/>
            <a:ext cx="11528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lang="ko-KR" altLang="en-US" sz="1200" b="1" smtClean="0">
                <a:solidFill>
                  <a:prstClr val="black"/>
                </a:solidFill>
              </a:rPr>
              <a:t>마스터 </a:t>
            </a:r>
            <a:r>
              <a:rPr lang="ko-KR" altLang="en-US" sz="1200" b="1" err="1" smtClean="0">
                <a:solidFill>
                  <a:prstClr val="black"/>
                </a:solidFill>
              </a:rPr>
              <a:t>노드</a:t>
            </a:r>
            <a:r>
              <a:rPr lang="ko-KR" altLang="en-US" sz="1200" b="1" smtClean="0">
                <a:solidFill>
                  <a:prstClr val="black"/>
                </a:solidFill>
              </a:rPr>
              <a:t> </a:t>
            </a:r>
            <a:r>
              <a:rPr lang="en-US" altLang="ko-KR" sz="1200" b="1" smtClean="0">
                <a:solidFill>
                  <a:prstClr val="black"/>
                </a:solidFill>
              </a:rPr>
              <a:t>1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pPr eaLnBrk="0" latinLnBrk="0" hangingPunct="0"/>
            <a:endParaRPr lang="en-US" altLang="ko-KR" sz="800" dirty="0">
              <a:solidFill>
                <a:prstClr val="black"/>
              </a:solidFill>
            </a:endParaRPr>
          </a:p>
        </p:txBody>
      </p:sp>
      <p:sp>
        <p:nvSpPr>
          <p:cNvPr id="107" name="직사각형 80"/>
          <p:cNvSpPr>
            <a:spLocks noChangeArrowheads="1"/>
          </p:cNvSpPr>
          <p:nvPr/>
        </p:nvSpPr>
        <p:spPr bwMode="auto">
          <a:xfrm>
            <a:off x="6519411" y="2627800"/>
            <a:ext cx="12831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latinLnBrk="0" hangingPunct="0"/>
            <a:r>
              <a:rPr lang="ko-KR" altLang="en-US" sz="1200" b="1" smtClean="0">
                <a:solidFill>
                  <a:prstClr val="black"/>
                </a:solidFill>
              </a:rPr>
              <a:t>마스터 </a:t>
            </a:r>
            <a:r>
              <a:rPr lang="ko-KR" altLang="en-US" sz="1200" b="1" err="1" smtClean="0">
                <a:solidFill>
                  <a:prstClr val="black"/>
                </a:solidFill>
              </a:rPr>
              <a:t>노드</a:t>
            </a:r>
            <a:r>
              <a:rPr lang="ko-KR" altLang="en-US" sz="1200" b="1" smtClean="0">
                <a:solidFill>
                  <a:prstClr val="black"/>
                </a:solidFill>
              </a:rPr>
              <a:t> </a:t>
            </a:r>
            <a:r>
              <a:rPr lang="en-US" altLang="ko-KR" sz="1200" b="1" smtClean="0">
                <a:solidFill>
                  <a:prstClr val="black"/>
                </a:solidFill>
              </a:rPr>
              <a:t>2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08" name="모서리가 둥근 직사각형 69"/>
          <p:cNvSpPr>
            <a:spLocks noChangeArrowheads="1"/>
          </p:cNvSpPr>
          <p:nvPr/>
        </p:nvSpPr>
        <p:spPr bwMode="auto">
          <a:xfrm>
            <a:off x="5389967" y="2163413"/>
            <a:ext cx="3439016" cy="833494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lang="ko-KR" altLang="en-US">
              <a:solidFill>
                <a:prstClr val="black"/>
              </a:solidFill>
              <a:ea typeface="Arials"/>
              <a:cs typeface="Arials"/>
            </a:endParaRPr>
          </a:p>
        </p:txBody>
      </p:sp>
      <p:pic>
        <p:nvPicPr>
          <p:cNvPr id="109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6598911" y="2364231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직사각형 80"/>
          <p:cNvSpPr>
            <a:spLocks noChangeArrowheads="1"/>
          </p:cNvSpPr>
          <p:nvPr/>
        </p:nvSpPr>
        <p:spPr bwMode="auto">
          <a:xfrm>
            <a:off x="7662414" y="2627799"/>
            <a:ext cx="12831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latinLnBrk="0" hangingPunct="0"/>
            <a:r>
              <a:rPr lang="ko-KR" altLang="en-US" sz="1200" b="1" dirty="0" smtClean="0">
                <a:solidFill>
                  <a:prstClr val="black"/>
                </a:solidFill>
              </a:rPr>
              <a:t>마스터 </a:t>
            </a:r>
            <a:r>
              <a:rPr lang="ko-KR" altLang="en-US" sz="1200" b="1" err="1" smtClean="0">
                <a:solidFill>
                  <a:prstClr val="black"/>
                </a:solidFill>
              </a:rPr>
              <a:t>노드</a:t>
            </a:r>
            <a:r>
              <a:rPr lang="ko-KR" altLang="en-US" sz="1200" b="1" smtClean="0">
                <a:solidFill>
                  <a:prstClr val="black"/>
                </a:solidFill>
              </a:rPr>
              <a:t> </a:t>
            </a:r>
            <a:r>
              <a:rPr lang="en-US" altLang="ko-KR" sz="1200" b="1" smtClean="0">
                <a:solidFill>
                  <a:prstClr val="black"/>
                </a:solidFill>
              </a:rPr>
              <a:t>3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pic>
        <p:nvPicPr>
          <p:cNvPr id="111" name="Picture 46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7662413" y="2367145"/>
            <a:ext cx="1039743" cy="27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" name="그룹 338"/>
          <p:cNvGrpSpPr/>
          <p:nvPr/>
        </p:nvGrpSpPr>
        <p:grpSpPr>
          <a:xfrm>
            <a:off x="6076199" y="1871715"/>
            <a:ext cx="2890302" cy="461468"/>
            <a:chOff x="849732" y="1457406"/>
            <a:chExt cx="3131160" cy="461468"/>
          </a:xfrm>
        </p:grpSpPr>
        <p:cxnSp>
          <p:nvCxnSpPr>
            <p:cNvPr id="151" name="직선 연결선 412"/>
            <p:cNvCxnSpPr>
              <a:cxnSpLocks noChangeShapeType="1"/>
            </p:cNvCxnSpPr>
            <p:nvPr/>
          </p:nvCxnSpPr>
          <p:spPr bwMode="auto">
            <a:xfrm flipV="1">
              <a:off x="2036676" y="1457406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직선 연결선 412"/>
            <p:cNvCxnSpPr>
              <a:cxnSpLocks noChangeShapeType="1"/>
            </p:cNvCxnSpPr>
            <p:nvPr/>
          </p:nvCxnSpPr>
          <p:spPr bwMode="auto">
            <a:xfrm flipV="1">
              <a:off x="862705" y="1460542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직선 연결선 412"/>
            <p:cNvCxnSpPr>
              <a:cxnSpLocks noChangeShapeType="1"/>
            </p:cNvCxnSpPr>
            <p:nvPr/>
          </p:nvCxnSpPr>
          <p:spPr bwMode="auto">
            <a:xfrm>
              <a:off x="849732" y="1468782"/>
              <a:ext cx="3131160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" name="TextBox 16"/>
            <p:cNvSpPr txBox="1">
              <a:spLocks noChangeArrowheads="1"/>
            </p:cNvSpPr>
            <p:nvPr/>
          </p:nvSpPr>
          <p:spPr bwMode="auto">
            <a:xfrm>
              <a:off x="1477450" y="1565418"/>
              <a:ext cx="1145861" cy="3077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1pPr>
              <a:lvl2pPr marL="742950" indent="-28575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2pPr>
              <a:lvl3pPr marL="11430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3pPr>
              <a:lvl4pPr marL="16002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4pPr>
              <a:lvl5pPr marL="20574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9pPr>
            </a:lstStyle>
            <a:p>
              <a:pPr algn="ctr" eaLnBrk="1" hangingPunct="1"/>
              <a:r>
                <a:rPr lang="en-US" altLang="ko-KR" sz="1400" b="1" smtClean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rPr>
                <a:t>Master</a:t>
              </a:r>
              <a:endParaRPr lang="ko-KR" altLang="en-US" sz="14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5" name="직선 연결선 412"/>
            <p:cNvCxnSpPr>
              <a:cxnSpLocks noChangeShapeType="1"/>
            </p:cNvCxnSpPr>
            <p:nvPr/>
          </p:nvCxnSpPr>
          <p:spPr bwMode="auto">
            <a:xfrm flipV="1">
              <a:off x="3116796" y="1476158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3" name="그룹 344"/>
          <p:cNvGrpSpPr/>
          <p:nvPr/>
        </p:nvGrpSpPr>
        <p:grpSpPr>
          <a:xfrm>
            <a:off x="6599619" y="3587404"/>
            <a:ext cx="2278399" cy="546907"/>
            <a:chOff x="1560484" y="3875004"/>
            <a:chExt cx="2468265" cy="546907"/>
          </a:xfrm>
        </p:grpSpPr>
        <p:pic>
          <p:nvPicPr>
            <p:cNvPr id="147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1604628" y="3875004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8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782496" y="3879800"/>
              <a:ext cx="1126388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9" name="직사각형 148"/>
            <p:cNvSpPr/>
            <p:nvPr/>
          </p:nvSpPr>
          <p:spPr>
            <a:xfrm>
              <a:off x="1560484" y="4144912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prstClr val="black"/>
                  </a:solidFill>
                </a:rPr>
                <a:t>데이터 </a:t>
              </a:r>
              <a:r>
                <a:rPr lang="ko-KR" altLang="en-US" sz="1200" b="1">
                  <a:solidFill>
                    <a:prstClr val="black"/>
                  </a:solidFill>
                </a:rPr>
                <a:t>노드</a:t>
              </a:r>
              <a:r>
                <a:rPr lang="en-US" altLang="ko-KR" sz="1200" b="1">
                  <a:solidFill>
                    <a:prstClr val="black"/>
                  </a:solidFill>
                </a:rPr>
                <a:t> </a:t>
              </a:r>
              <a:r>
                <a:rPr lang="en-US" altLang="ko-KR" sz="1200" b="1" smtClean="0">
                  <a:solidFill>
                    <a:prstClr val="black"/>
                  </a:solidFill>
                </a:rPr>
                <a:t>2 </a:t>
              </a:r>
              <a:endParaRPr lang="en-US" altLang="ko-KR" sz="1200" b="1" dirty="0">
                <a:solidFill>
                  <a:prstClr val="black"/>
                </a:solidFill>
              </a:endParaRP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2720752" y="4144912"/>
              <a:ext cx="13079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0" latinLnBrk="0" hangingPunct="0"/>
              <a:r>
                <a:rPr lang="ko-KR" altLang="en-US" sz="1200" b="1" smtClean="0">
                  <a:solidFill>
                    <a:prstClr val="black"/>
                  </a:solidFill>
                </a:rPr>
                <a:t>데이터 </a:t>
              </a:r>
              <a:r>
                <a:rPr lang="ko-KR" altLang="en-US" sz="1200" b="1">
                  <a:solidFill>
                    <a:prstClr val="black"/>
                  </a:solidFill>
                </a:rPr>
                <a:t>노드</a:t>
              </a:r>
              <a:r>
                <a:rPr lang="en-US" altLang="ko-KR" sz="1200" b="1">
                  <a:solidFill>
                    <a:prstClr val="black"/>
                  </a:solidFill>
                </a:rPr>
                <a:t> </a:t>
              </a:r>
              <a:r>
                <a:rPr lang="en-US" altLang="ko-KR" sz="1200" b="1" smtClean="0">
                  <a:solidFill>
                    <a:prstClr val="black"/>
                  </a:solidFill>
                </a:rPr>
                <a:t>3 </a:t>
              </a:r>
              <a:endParaRPr lang="en-US" altLang="ko-KR" sz="12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5433663" y="5190414"/>
            <a:ext cx="3523625" cy="622094"/>
            <a:chOff x="5433663" y="5807133"/>
            <a:chExt cx="3523625" cy="622094"/>
          </a:xfrm>
        </p:grpSpPr>
        <p:grpSp>
          <p:nvGrpSpPr>
            <p:cNvPr id="101" name="그룹 322"/>
            <p:cNvGrpSpPr/>
            <p:nvPr/>
          </p:nvGrpSpPr>
          <p:grpSpPr>
            <a:xfrm>
              <a:off x="6066986" y="5807133"/>
              <a:ext cx="2890302" cy="206000"/>
              <a:chOff x="952721" y="3522303"/>
              <a:chExt cx="3131160" cy="206000"/>
            </a:xfrm>
          </p:grpSpPr>
          <p:cxnSp>
            <p:nvCxnSpPr>
              <p:cNvPr id="156" name="직선 연결선 412"/>
              <p:cNvCxnSpPr>
                <a:cxnSpLocks noChangeShapeType="1"/>
              </p:cNvCxnSpPr>
              <p:nvPr/>
            </p:nvCxnSpPr>
            <p:spPr bwMode="auto">
              <a:xfrm flipV="1">
                <a:off x="2067153" y="3537921"/>
                <a:ext cx="2" cy="190382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7" name="직선 연결선 412"/>
              <p:cNvCxnSpPr>
                <a:cxnSpLocks noChangeShapeType="1"/>
              </p:cNvCxnSpPr>
              <p:nvPr/>
            </p:nvCxnSpPr>
            <p:spPr bwMode="auto">
              <a:xfrm flipV="1">
                <a:off x="957068" y="3522303"/>
                <a:ext cx="0" cy="137451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8" name="직선 연결선 412"/>
              <p:cNvCxnSpPr>
                <a:cxnSpLocks noChangeShapeType="1"/>
              </p:cNvCxnSpPr>
              <p:nvPr/>
            </p:nvCxnSpPr>
            <p:spPr bwMode="auto">
              <a:xfrm>
                <a:off x="952721" y="3530543"/>
                <a:ext cx="3131160" cy="0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직선 연결선 412"/>
              <p:cNvCxnSpPr>
                <a:cxnSpLocks noChangeShapeType="1"/>
              </p:cNvCxnSpPr>
              <p:nvPr/>
            </p:nvCxnSpPr>
            <p:spPr bwMode="auto">
              <a:xfrm flipV="1">
                <a:off x="3219785" y="3537919"/>
                <a:ext cx="0" cy="190384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6" name="그룹 359"/>
            <p:cNvGrpSpPr/>
            <p:nvPr/>
          </p:nvGrpSpPr>
          <p:grpSpPr>
            <a:xfrm>
              <a:off x="6574101" y="5910134"/>
              <a:ext cx="2276115" cy="519093"/>
              <a:chOff x="1575114" y="3875004"/>
              <a:chExt cx="2465791" cy="519093"/>
            </a:xfrm>
          </p:grpSpPr>
          <p:pic>
            <p:nvPicPr>
              <p:cNvPr id="135" name="Picture 46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2448"/>
              <a:stretch>
                <a:fillRect/>
              </a:stretch>
            </p:blipFill>
            <p:spPr bwMode="auto">
              <a:xfrm>
                <a:off x="1604628" y="3875004"/>
                <a:ext cx="1126388" cy="274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6" name="Picture 46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2448"/>
              <a:stretch>
                <a:fillRect/>
              </a:stretch>
            </p:blipFill>
            <p:spPr bwMode="auto">
              <a:xfrm>
                <a:off x="2782496" y="3879800"/>
                <a:ext cx="1126388" cy="274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7" name="직사각형 136"/>
              <p:cNvSpPr/>
              <p:nvPr/>
            </p:nvSpPr>
            <p:spPr>
              <a:xfrm>
                <a:off x="1575114" y="4117098"/>
                <a:ext cx="132015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latinLnBrk="0" hangingPunct="0"/>
                <a:r>
                  <a:rPr lang="ko-KR" altLang="en-US" sz="1200" b="1">
                    <a:solidFill>
                      <a:prstClr val="black"/>
                    </a:solidFill>
                  </a:rPr>
                  <a:t>데이터 노드</a:t>
                </a:r>
                <a:r>
                  <a:rPr lang="en-US" altLang="ko-KR" sz="1200" b="1">
                    <a:solidFill>
                      <a:prstClr val="black"/>
                    </a:solidFill>
                  </a:rPr>
                  <a:t> </a:t>
                </a:r>
                <a:r>
                  <a:rPr lang="en-US" altLang="ko-KR" sz="1200" b="1" smtClean="0">
                    <a:solidFill>
                      <a:prstClr val="black"/>
                    </a:solidFill>
                  </a:rPr>
                  <a:t>X </a:t>
                </a:r>
                <a:endParaRPr lang="en-US" altLang="ko-KR" sz="12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직사각형 137"/>
              <p:cNvSpPr/>
              <p:nvPr/>
            </p:nvSpPr>
            <p:spPr>
              <a:xfrm>
                <a:off x="2720752" y="4117098"/>
                <a:ext cx="132015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latinLnBrk="0" hangingPunct="0"/>
                <a:r>
                  <a:rPr lang="ko-KR" altLang="en-US" sz="1200" b="1">
                    <a:solidFill>
                      <a:prstClr val="black"/>
                    </a:solidFill>
                  </a:rPr>
                  <a:t>데이터 노드</a:t>
                </a:r>
                <a:r>
                  <a:rPr lang="en-US" altLang="ko-KR" sz="1200" b="1">
                    <a:solidFill>
                      <a:prstClr val="black"/>
                    </a:solidFill>
                  </a:rPr>
                  <a:t> </a:t>
                </a:r>
                <a:r>
                  <a:rPr lang="en-US" altLang="ko-KR" sz="1200" b="1" smtClean="0">
                    <a:solidFill>
                      <a:prstClr val="black"/>
                    </a:solidFill>
                  </a:rPr>
                  <a:t>X </a:t>
                </a:r>
                <a:endParaRPr lang="en-US" altLang="ko-KR" sz="1200" b="1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117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5490657" y="5914929"/>
              <a:ext cx="1039743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직사각형 117"/>
            <p:cNvSpPr/>
            <p:nvPr/>
          </p:nvSpPr>
          <p:spPr>
            <a:xfrm>
              <a:off x="5433663" y="6152228"/>
              <a:ext cx="12186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0" latinLnBrk="0" hangingPunct="0"/>
              <a:r>
                <a:rPr lang="ko-KR" altLang="en-US" sz="1200" b="1">
                  <a:solidFill>
                    <a:prstClr val="black"/>
                  </a:solidFill>
                </a:rPr>
                <a:t>데이터 노드</a:t>
              </a:r>
              <a:r>
                <a:rPr lang="en-US" altLang="ko-KR" sz="1200" b="1">
                  <a:solidFill>
                    <a:prstClr val="black"/>
                  </a:solidFill>
                </a:rPr>
                <a:t> </a:t>
              </a:r>
              <a:r>
                <a:rPr lang="en-US" altLang="ko-KR" sz="1200" b="1" smtClean="0">
                  <a:solidFill>
                    <a:prstClr val="black"/>
                  </a:solidFill>
                </a:rPr>
                <a:t>X </a:t>
              </a:r>
              <a:endParaRPr lang="en-US" altLang="ko-KR" sz="12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21" name="모서리가 둥근 직사각형 69"/>
          <p:cNvSpPr>
            <a:spLocks noChangeArrowheads="1"/>
          </p:cNvSpPr>
          <p:nvPr/>
        </p:nvSpPr>
        <p:spPr bwMode="auto">
          <a:xfrm>
            <a:off x="5389968" y="3382405"/>
            <a:ext cx="3430926" cy="243010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lang="ko-KR" altLang="en-US">
              <a:solidFill>
                <a:prstClr val="black"/>
              </a:solidFill>
              <a:ea typeface="Arials"/>
              <a:cs typeface="Arials"/>
            </a:endParaRPr>
          </a:p>
        </p:txBody>
      </p:sp>
      <p:grpSp>
        <p:nvGrpSpPr>
          <p:cNvPr id="122" name="그룹 376"/>
          <p:cNvGrpSpPr/>
          <p:nvPr/>
        </p:nvGrpSpPr>
        <p:grpSpPr>
          <a:xfrm>
            <a:off x="6067200" y="3194485"/>
            <a:ext cx="2890302" cy="461468"/>
            <a:chOff x="849732" y="1457406"/>
            <a:chExt cx="3131160" cy="461468"/>
          </a:xfrm>
        </p:grpSpPr>
        <p:cxnSp>
          <p:nvCxnSpPr>
            <p:cNvPr id="124" name="직선 연결선 412"/>
            <p:cNvCxnSpPr>
              <a:cxnSpLocks noChangeShapeType="1"/>
            </p:cNvCxnSpPr>
            <p:nvPr/>
          </p:nvCxnSpPr>
          <p:spPr bwMode="auto">
            <a:xfrm flipV="1">
              <a:off x="2036676" y="1457406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직선 연결선 412"/>
            <p:cNvCxnSpPr>
              <a:cxnSpLocks noChangeShapeType="1"/>
            </p:cNvCxnSpPr>
            <p:nvPr/>
          </p:nvCxnSpPr>
          <p:spPr bwMode="auto">
            <a:xfrm flipV="1">
              <a:off x="862705" y="1460542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6" name="직선 연결선 412"/>
            <p:cNvCxnSpPr>
              <a:cxnSpLocks noChangeShapeType="1"/>
            </p:cNvCxnSpPr>
            <p:nvPr/>
          </p:nvCxnSpPr>
          <p:spPr bwMode="auto">
            <a:xfrm>
              <a:off x="849732" y="1468782"/>
              <a:ext cx="3131160" cy="0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7" name="TextBox 16"/>
            <p:cNvSpPr txBox="1">
              <a:spLocks noChangeArrowheads="1"/>
            </p:cNvSpPr>
            <p:nvPr/>
          </p:nvSpPr>
          <p:spPr bwMode="auto">
            <a:xfrm>
              <a:off x="1518857" y="1543514"/>
              <a:ext cx="1145861" cy="3077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70C0"/>
              </a:solidFill>
              <a:prstDash val="dash"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1pPr>
              <a:lvl2pPr marL="742950" indent="-28575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2pPr>
              <a:lvl3pPr marL="11430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3pPr>
              <a:lvl4pPr marL="16002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4pPr>
              <a:lvl5pPr marL="2057400" indent="-228600" eaLnBrk="0" hangingPunct="0"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Arial" pitchFamily="34" charset="0"/>
                  <a:ea typeface="HY태고딕"/>
                  <a:cs typeface="HY태고딕"/>
                </a:defRPr>
              </a:lvl9pPr>
            </a:lstStyle>
            <a:p>
              <a:pPr algn="ctr" eaLnBrk="1" hangingPunct="1"/>
              <a:r>
                <a:rPr lang="en-US" altLang="ko-KR" sz="1400" b="1" smtClean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rPr>
                <a:t>Worker</a:t>
              </a:r>
              <a:endParaRPr lang="ko-KR" altLang="en-US" sz="14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8" name="직선 연결선 412"/>
            <p:cNvCxnSpPr>
              <a:cxnSpLocks noChangeShapeType="1"/>
            </p:cNvCxnSpPr>
            <p:nvPr/>
          </p:nvCxnSpPr>
          <p:spPr bwMode="auto">
            <a:xfrm flipV="1">
              <a:off x="3116796" y="1476158"/>
              <a:ext cx="0" cy="44271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3" name="직사각형 122"/>
          <p:cNvSpPr/>
          <p:nvPr/>
        </p:nvSpPr>
        <p:spPr bwMode="auto">
          <a:xfrm>
            <a:off x="6348535" y="1590014"/>
            <a:ext cx="1750328" cy="24411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rtlCol="0" anchor="ctr" anchorCtr="0"/>
          <a:lstStyle/>
          <a:p>
            <a:pPr algn="ctr"/>
            <a:r>
              <a:rPr lang="ko-KR" altLang="en-US" sz="1400" b="1">
                <a:solidFill>
                  <a:prstClr val="black"/>
                </a:solidFill>
              </a:rPr>
              <a:t>하둡 </a:t>
            </a:r>
            <a:r>
              <a:rPr lang="ko-KR" altLang="en-US" sz="1400" b="1" smtClean="0">
                <a:solidFill>
                  <a:prstClr val="black"/>
                </a:solidFill>
              </a:rPr>
              <a:t>클러스터</a:t>
            </a:r>
            <a:endParaRPr lang="ko-KR" altLang="en-US" sz="1400" b="1" dirty="0">
              <a:solidFill>
                <a:prstClr val="black"/>
              </a:solidFill>
            </a:endParaRPr>
          </a:p>
        </p:txBody>
      </p:sp>
      <p:grpSp>
        <p:nvGrpSpPr>
          <p:cNvPr id="161" name="그룹 160"/>
          <p:cNvGrpSpPr/>
          <p:nvPr/>
        </p:nvGrpSpPr>
        <p:grpSpPr>
          <a:xfrm>
            <a:off x="5457056" y="4182302"/>
            <a:ext cx="3523625" cy="622094"/>
            <a:chOff x="5433663" y="5807133"/>
            <a:chExt cx="3523625" cy="622094"/>
          </a:xfrm>
        </p:grpSpPr>
        <p:grpSp>
          <p:nvGrpSpPr>
            <p:cNvPr id="162" name="그룹 322"/>
            <p:cNvGrpSpPr/>
            <p:nvPr/>
          </p:nvGrpSpPr>
          <p:grpSpPr>
            <a:xfrm>
              <a:off x="6066986" y="5807133"/>
              <a:ext cx="2890302" cy="206000"/>
              <a:chOff x="952721" y="3522303"/>
              <a:chExt cx="3131160" cy="206000"/>
            </a:xfrm>
          </p:grpSpPr>
          <p:cxnSp>
            <p:nvCxnSpPr>
              <p:cNvPr id="170" name="직선 연결선 412"/>
              <p:cNvCxnSpPr>
                <a:cxnSpLocks noChangeShapeType="1"/>
              </p:cNvCxnSpPr>
              <p:nvPr/>
            </p:nvCxnSpPr>
            <p:spPr bwMode="auto">
              <a:xfrm flipV="1">
                <a:off x="2067153" y="3537921"/>
                <a:ext cx="2" cy="190382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1" name="직선 연결선 412"/>
              <p:cNvCxnSpPr>
                <a:cxnSpLocks noChangeShapeType="1"/>
              </p:cNvCxnSpPr>
              <p:nvPr/>
            </p:nvCxnSpPr>
            <p:spPr bwMode="auto">
              <a:xfrm flipV="1">
                <a:off x="957068" y="3522303"/>
                <a:ext cx="0" cy="137451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2" name="직선 연결선 412"/>
              <p:cNvCxnSpPr>
                <a:cxnSpLocks noChangeShapeType="1"/>
              </p:cNvCxnSpPr>
              <p:nvPr/>
            </p:nvCxnSpPr>
            <p:spPr bwMode="auto">
              <a:xfrm>
                <a:off x="952721" y="3530543"/>
                <a:ext cx="3131160" cy="0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3" name="직선 연결선 412"/>
              <p:cNvCxnSpPr>
                <a:cxnSpLocks noChangeShapeType="1"/>
              </p:cNvCxnSpPr>
              <p:nvPr/>
            </p:nvCxnSpPr>
            <p:spPr bwMode="auto">
              <a:xfrm flipV="1">
                <a:off x="3219785" y="3537919"/>
                <a:ext cx="0" cy="190384"/>
              </a:xfrm>
              <a:prstGeom prst="line">
                <a:avLst/>
              </a:prstGeom>
              <a:noFill/>
              <a:ln w="19050" algn="ctr">
                <a:solidFill>
                  <a:srgbClr val="0070C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63" name="그룹 359"/>
            <p:cNvGrpSpPr/>
            <p:nvPr/>
          </p:nvGrpSpPr>
          <p:grpSpPr>
            <a:xfrm>
              <a:off x="6574101" y="5910134"/>
              <a:ext cx="2264894" cy="519093"/>
              <a:chOff x="1575114" y="3875004"/>
              <a:chExt cx="2453635" cy="519093"/>
            </a:xfrm>
          </p:grpSpPr>
          <p:pic>
            <p:nvPicPr>
              <p:cNvPr id="166" name="Picture 46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2448"/>
              <a:stretch>
                <a:fillRect/>
              </a:stretch>
            </p:blipFill>
            <p:spPr bwMode="auto">
              <a:xfrm>
                <a:off x="1604628" y="3875004"/>
                <a:ext cx="1126388" cy="274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7" name="Picture 46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2448"/>
              <a:stretch>
                <a:fillRect/>
              </a:stretch>
            </p:blipFill>
            <p:spPr bwMode="auto">
              <a:xfrm>
                <a:off x="2782496" y="3879800"/>
                <a:ext cx="1126388" cy="274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" name="직사각형 167"/>
              <p:cNvSpPr/>
              <p:nvPr/>
            </p:nvSpPr>
            <p:spPr>
              <a:xfrm>
                <a:off x="1575114" y="4117098"/>
                <a:ext cx="130799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latinLnBrk="0" hangingPunct="0"/>
                <a:r>
                  <a:rPr lang="ko-KR" altLang="en-US" sz="1200" b="1">
                    <a:solidFill>
                      <a:prstClr val="black"/>
                    </a:solidFill>
                  </a:rPr>
                  <a:t>데이터 노드</a:t>
                </a:r>
                <a:r>
                  <a:rPr lang="en-US" altLang="ko-KR" sz="1200" b="1">
                    <a:solidFill>
                      <a:prstClr val="black"/>
                    </a:solidFill>
                  </a:rPr>
                  <a:t> </a:t>
                </a:r>
                <a:r>
                  <a:rPr lang="en-US" altLang="ko-KR" sz="1200" b="1" smtClean="0">
                    <a:solidFill>
                      <a:prstClr val="black"/>
                    </a:solidFill>
                  </a:rPr>
                  <a:t>5 </a:t>
                </a:r>
                <a:endParaRPr lang="en-US" altLang="ko-KR" sz="1200" b="1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직사각형 168"/>
              <p:cNvSpPr/>
              <p:nvPr/>
            </p:nvSpPr>
            <p:spPr>
              <a:xfrm>
                <a:off x="2720752" y="4117098"/>
                <a:ext cx="130799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latinLnBrk="0" hangingPunct="0"/>
                <a:r>
                  <a:rPr lang="ko-KR" altLang="en-US" sz="1200" b="1">
                    <a:solidFill>
                      <a:prstClr val="black"/>
                    </a:solidFill>
                  </a:rPr>
                  <a:t>데이터 노드</a:t>
                </a:r>
                <a:r>
                  <a:rPr lang="en-US" altLang="ko-KR" sz="1200" b="1">
                    <a:solidFill>
                      <a:prstClr val="black"/>
                    </a:solidFill>
                  </a:rPr>
                  <a:t> </a:t>
                </a:r>
                <a:r>
                  <a:rPr lang="en-US" altLang="ko-KR" sz="1200" b="1" smtClean="0">
                    <a:solidFill>
                      <a:prstClr val="black"/>
                    </a:solidFill>
                  </a:rPr>
                  <a:t>6 </a:t>
                </a:r>
                <a:endParaRPr lang="en-US" altLang="ko-KR" sz="1200" b="1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164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5490657" y="5914929"/>
              <a:ext cx="1039743" cy="274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5" name="직사각형 164"/>
            <p:cNvSpPr/>
            <p:nvPr/>
          </p:nvSpPr>
          <p:spPr>
            <a:xfrm>
              <a:off x="5433663" y="6152228"/>
              <a:ext cx="120738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0" latinLnBrk="0" hangingPunct="0"/>
              <a:r>
                <a:rPr lang="ko-KR" altLang="en-US" sz="1200" b="1">
                  <a:solidFill>
                    <a:prstClr val="black"/>
                  </a:solidFill>
                </a:rPr>
                <a:t>데이터 노드</a:t>
              </a:r>
              <a:r>
                <a:rPr lang="en-US" altLang="ko-KR" sz="1200" b="1">
                  <a:solidFill>
                    <a:prstClr val="black"/>
                  </a:solidFill>
                </a:rPr>
                <a:t> </a:t>
              </a:r>
              <a:r>
                <a:rPr lang="en-US" altLang="ko-KR" sz="1200" b="1" smtClean="0">
                  <a:solidFill>
                    <a:prstClr val="black"/>
                  </a:solidFill>
                </a:rPr>
                <a:t>4 </a:t>
              </a:r>
              <a:endParaRPr lang="en-US" altLang="ko-KR" sz="12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74" name="TextBox 173"/>
          <p:cNvSpPr txBox="1"/>
          <p:nvPr/>
        </p:nvSpPr>
        <p:spPr>
          <a:xfrm>
            <a:off x="6880460" y="4470334"/>
            <a:ext cx="432048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3200" b="1" smtClean="0">
                <a:solidFill>
                  <a:prstClr val="black"/>
                </a:solidFill>
              </a:rPr>
              <a:t>...</a:t>
            </a:r>
            <a:endParaRPr lang="ko-KR" altLang="en-US" sz="3200" b="1">
              <a:solidFill>
                <a:prstClr val="black"/>
              </a:solidFill>
            </a:endParaRPr>
          </a:p>
        </p:txBody>
      </p:sp>
      <p:pic>
        <p:nvPicPr>
          <p:cNvPr id="176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638" y="1593284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9" name="직사각형 178"/>
          <p:cNvSpPr/>
          <p:nvPr/>
        </p:nvSpPr>
        <p:spPr>
          <a:xfrm>
            <a:off x="6592494" y="6116577"/>
            <a:ext cx="9332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kern="0" smtClean="0">
                <a:solidFill>
                  <a:srgbClr val="C00000"/>
                </a:solidFill>
              </a:rPr>
              <a:t>[ YARN ]</a:t>
            </a:r>
            <a:endParaRPr kumimoji="0" lang="ko-KR" altLang="en-US" sz="1400" b="1" kern="0" dirty="0">
              <a:solidFill>
                <a:srgbClr val="C00000"/>
              </a:solidFill>
            </a:endParaRPr>
          </a:p>
        </p:txBody>
      </p:sp>
      <p:sp>
        <p:nvSpPr>
          <p:cNvPr id="180" name="구름 모양 설명선 179"/>
          <p:cNvSpPr/>
          <p:nvPr/>
        </p:nvSpPr>
        <p:spPr>
          <a:xfrm>
            <a:off x="3147850" y="5432290"/>
            <a:ext cx="2271065" cy="1080120"/>
          </a:xfrm>
          <a:prstGeom prst="cloudCallout">
            <a:avLst>
              <a:gd name="adj1" fmla="val 53382"/>
              <a:gd name="adj2" fmla="val -7450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b="1" smtClean="0">
                <a:solidFill>
                  <a:srgbClr val="0070C0"/>
                </a:solidFill>
              </a:rPr>
              <a:t>하둡클러스터</a:t>
            </a:r>
            <a:endParaRPr lang="en-US" altLang="ko-KR" sz="1400" b="1" smtClean="0">
              <a:solidFill>
                <a:srgbClr val="0070C0"/>
              </a:solidFill>
            </a:endParaRP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b="1" smtClean="0">
                <a:solidFill>
                  <a:srgbClr val="0070C0"/>
                </a:solidFill>
              </a:rPr>
              <a:t>자원관리시스템</a:t>
            </a:r>
            <a:endParaRPr lang="ko-KR" altLang="en-US" sz="1400" b="1">
              <a:solidFill>
                <a:srgbClr val="0070C0"/>
              </a:solidFill>
            </a:endParaRPr>
          </a:p>
        </p:txBody>
      </p:sp>
      <p:sp>
        <p:nvSpPr>
          <p:cNvPr id="20481" name="위쪽/아래쪽 화살표 20480"/>
          <p:cNvSpPr/>
          <p:nvPr/>
        </p:nvSpPr>
        <p:spPr>
          <a:xfrm>
            <a:off x="2784772" y="3921641"/>
            <a:ext cx="281696" cy="727323"/>
          </a:xfrm>
          <a:prstGeom prst="up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endParaRPr lang="ko-KR" altLang="en-US" sz="1400" b="1">
              <a:solidFill>
                <a:prstClr val="black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2650345" y="4638042"/>
            <a:ext cx="432048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3200" b="1" smtClean="0">
                <a:solidFill>
                  <a:prstClr val="black"/>
                </a:solidFill>
              </a:rPr>
              <a:t>...</a:t>
            </a:r>
            <a:endParaRPr lang="ko-KR" altLang="en-US" sz="3200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05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TextBox 16"/>
          <p:cNvSpPr txBox="1">
            <a:spLocks noChangeArrowheads="1"/>
          </p:cNvSpPr>
          <p:nvPr/>
        </p:nvSpPr>
        <p:spPr bwMode="auto">
          <a:xfrm>
            <a:off x="2911475" y="1060450"/>
            <a:ext cx="4064000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kumimoji="0" lang="en-US" altLang="ko-KR" sz="1600" smtClean="0">
                <a:solidFill>
                  <a:srgbClr val="000000"/>
                </a:solidFill>
              </a:rPr>
              <a:t>&lt; </a:t>
            </a:r>
            <a:r>
              <a:rPr kumimoji="0" lang="ko-KR" altLang="en-US" sz="1600" smtClean="0">
                <a:solidFill>
                  <a:srgbClr val="000000"/>
                </a:solidFill>
              </a:rPr>
              <a:t>개발</a:t>
            </a:r>
            <a:r>
              <a:rPr kumimoji="0" lang="en-US" altLang="ko-KR" sz="1600" smtClean="0">
                <a:solidFill>
                  <a:srgbClr val="000000"/>
                </a:solidFill>
              </a:rPr>
              <a:t>/</a:t>
            </a:r>
            <a:r>
              <a:rPr kumimoji="0" lang="ko-KR" altLang="en-US" sz="1600" smtClean="0">
                <a:solidFill>
                  <a:srgbClr val="000000"/>
                </a:solidFill>
              </a:rPr>
              <a:t>파일럿 시스템 구성 </a:t>
            </a:r>
            <a:r>
              <a:rPr kumimoji="0" lang="en-US" altLang="ko-KR" sz="1600" smtClean="0">
                <a:solidFill>
                  <a:srgbClr val="000000"/>
                </a:solidFill>
              </a:rPr>
              <a:t>&gt;</a:t>
            </a:r>
            <a:endParaRPr kumimoji="0" lang="ko-KR" altLang="en-US" sz="1600">
              <a:solidFill>
                <a:srgbClr val="000000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415925" y="1447800"/>
            <a:ext cx="9074150" cy="5184775"/>
          </a:xfrm>
          <a:prstGeom prst="roundRect">
            <a:avLst>
              <a:gd name="adj" fmla="val 538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586259" y="4141788"/>
            <a:ext cx="8750516" cy="23241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 latinLnBrk="0">
              <a:spcBef>
                <a:spcPts val="100"/>
              </a:spcBef>
              <a:spcAft>
                <a:spcPts val="100"/>
              </a:spcAft>
              <a:defRPr/>
            </a:pPr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105479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875826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0" name="직사각형 80"/>
          <p:cNvSpPr>
            <a:spLocks noChangeArrowheads="1"/>
          </p:cNvSpPr>
          <p:nvPr/>
        </p:nvSpPr>
        <p:spPr bwMode="auto">
          <a:xfrm>
            <a:off x="764335" y="4957763"/>
            <a:ext cx="169309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마스터 노드 </a:t>
            </a:r>
            <a:r>
              <a:rPr kumimoji="0" lang="en-US" altLang="ko-KR" sz="1200">
                <a:solidFill>
                  <a:srgbClr val="000000"/>
                </a:solidFill>
              </a:rPr>
              <a:t>1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96G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4TB SAS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NameNode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(Acitve)</a:t>
            </a:r>
            <a:endParaRPr kumimoji="0" lang="en-US" altLang="ko-KR" sz="1000" b="1">
              <a:solidFill>
                <a:srgbClr val="FF0000"/>
              </a:solidFill>
            </a:endParaRP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Metastore(Mysql Server</a:t>
            </a:r>
            <a:r>
              <a:rPr kumimoji="0" lang="en-US" altLang="ko-KR" sz="1000" b="1" smtClean="0">
                <a:solidFill>
                  <a:srgbClr val="FF0000"/>
                </a:solidFill>
              </a:rPr>
              <a:t>)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JobHistory Server</a:t>
            </a:r>
            <a:endParaRPr kumimoji="0" lang="en-US" altLang="ko-KR" sz="1000" b="1">
              <a:solidFill>
                <a:srgbClr val="FF0000"/>
              </a:solidFill>
            </a:endParaRPr>
          </a:p>
        </p:txBody>
      </p:sp>
      <p:sp>
        <p:nvSpPr>
          <p:cNvPr id="105481" name="직사각형 80"/>
          <p:cNvSpPr>
            <a:spLocks noChangeArrowheads="1"/>
          </p:cNvSpPr>
          <p:nvPr/>
        </p:nvSpPr>
        <p:spPr bwMode="auto">
          <a:xfrm>
            <a:off x="2408785" y="4978400"/>
            <a:ext cx="163834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마스터 노드 </a:t>
            </a:r>
            <a:r>
              <a:rPr kumimoji="0" lang="en-US" altLang="ko-KR" sz="1200">
                <a:solidFill>
                  <a:srgbClr val="000000"/>
                </a:solidFill>
              </a:rPr>
              <a:t>2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96G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4TB SAS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Secondary NameNode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(Stanby)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ResourceManger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Spark Master</a:t>
            </a:r>
            <a:endParaRPr kumimoji="0" lang="en-US" altLang="ko-KR" sz="1000" b="1">
              <a:solidFill>
                <a:srgbClr val="FF0000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 rot="10800000" flipV="1">
            <a:off x="1013642" y="3854450"/>
            <a:ext cx="7870973" cy="6350"/>
          </a:xfrm>
          <a:prstGeom prst="line">
            <a:avLst/>
          </a:prstGeom>
          <a:ln w="50800" cmpd="thickThin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483" name="직사각형 80"/>
          <p:cNvSpPr>
            <a:spLocks noChangeArrowheads="1"/>
          </p:cNvSpPr>
          <p:nvPr/>
        </p:nvSpPr>
        <p:spPr bwMode="auto">
          <a:xfrm>
            <a:off x="4254483" y="4957763"/>
            <a:ext cx="1202573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데이터 노드</a:t>
            </a:r>
            <a:r>
              <a:rPr kumimoji="0" lang="en-US" altLang="ko-KR" sz="1200">
                <a:solidFill>
                  <a:srgbClr val="000000"/>
                </a:solidFill>
              </a:rPr>
              <a:t> 1 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DataNode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Nodemanager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Spark Worker</a:t>
            </a:r>
          </a:p>
          <a:p>
            <a:pPr eaLnBrk="0" latinLnBrk="0" hangingPunct="0"/>
            <a:endParaRPr kumimoji="0" lang="en-US" altLang="ko-KR" sz="800">
              <a:solidFill>
                <a:srgbClr val="000000"/>
              </a:solidFill>
            </a:endParaRPr>
          </a:p>
        </p:txBody>
      </p:sp>
      <p:cxnSp>
        <p:nvCxnSpPr>
          <p:cNvPr id="105484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2790195" y="42211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485" name="직사각형 80"/>
          <p:cNvSpPr>
            <a:spLocks noChangeArrowheads="1"/>
          </p:cNvSpPr>
          <p:nvPr/>
        </p:nvSpPr>
        <p:spPr bwMode="auto">
          <a:xfrm>
            <a:off x="5683887" y="4957763"/>
            <a:ext cx="1562426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데이터 노드 </a:t>
            </a:r>
            <a:r>
              <a:rPr kumimoji="0" lang="en-US" altLang="ko-KR" sz="1200">
                <a:solidFill>
                  <a:srgbClr val="000000"/>
                </a:solidFill>
              </a:rPr>
              <a:t>2 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DataNode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Nodemanager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Spark Worker</a:t>
            </a:r>
            <a:endParaRPr kumimoji="0" lang="en-US" altLang="ko-KR" sz="1000" b="1">
              <a:solidFill>
                <a:srgbClr val="FF0000"/>
              </a:solidFill>
            </a:endParaRPr>
          </a:p>
        </p:txBody>
      </p:sp>
      <p:sp>
        <p:nvSpPr>
          <p:cNvPr id="105486" name="모서리가 둥근 직사각형 69"/>
          <p:cNvSpPr>
            <a:spLocks noChangeArrowheads="1"/>
          </p:cNvSpPr>
          <p:nvPr/>
        </p:nvSpPr>
        <p:spPr bwMode="auto">
          <a:xfrm>
            <a:off x="693105" y="4410075"/>
            <a:ext cx="3247182" cy="193516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sp>
        <p:nvSpPr>
          <p:cNvPr id="105487" name="TextBox 16"/>
          <p:cNvSpPr txBox="1">
            <a:spLocks noChangeArrowheads="1"/>
          </p:cNvSpPr>
          <p:nvPr/>
        </p:nvSpPr>
        <p:spPr bwMode="auto">
          <a:xfrm>
            <a:off x="1583486" y="4254500"/>
            <a:ext cx="1118010" cy="28733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buFont typeface="맑은 고딕" pitchFamily="50" charset="-127"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마스터 노드</a:t>
            </a:r>
          </a:p>
        </p:txBody>
      </p:sp>
      <p:sp>
        <p:nvSpPr>
          <p:cNvPr id="105488" name="모서리가 둥근 직사각형 72"/>
          <p:cNvSpPr>
            <a:spLocks noChangeArrowheads="1"/>
          </p:cNvSpPr>
          <p:nvPr/>
        </p:nvSpPr>
        <p:spPr bwMode="auto">
          <a:xfrm>
            <a:off x="4071909" y="4410075"/>
            <a:ext cx="5133244" cy="193516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pic>
        <p:nvPicPr>
          <p:cNvPr id="105489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621086" y="4619626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90" name="직사각형 80"/>
          <p:cNvSpPr>
            <a:spLocks noChangeArrowheads="1"/>
          </p:cNvSpPr>
          <p:nvPr/>
        </p:nvSpPr>
        <p:spPr bwMode="auto">
          <a:xfrm>
            <a:off x="7603042" y="4957763"/>
            <a:ext cx="1562426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데이터 노드 </a:t>
            </a:r>
            <a:r>
              <a:rPr kumimoji="0" lang="en-US" altLang="ko-KR" sz="1200" smtClean="0">
                <a:solidFill>
                  <a:srgbClr val="000000"/>
                </a:solidFill>
              </a:rPr>
              <a:t>N 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DataNode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Nodemanager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Spark Worker</a:t>
            </a:r>
          </a:p>
        </p:txBody>
      </p:sp>
      <p:sp>
        <p:nvSpPr>
          <p:cNvPr id="105493" name="직사각형 80"/>
          <p:cNvSpPr>
            <a:spLocks noChangeArrowheads="1"/>
          </p:cNvSpPr>
          <p:nvPr/>
        </p:nvSpPr>
        <p:spPr bwMode="auto">
          <a:xfrm>
            <a:off x="2021879" y="2165350"/>
            <a:ext cx="104227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 smtClean="0">
                <a:solidFill>
                  <a:srgbClr val="000000"/>
                </a:solidFill>
              </a:rPr>
              <a:t>수집 </a:t>
            </a:r>
            <a:r>
              <a:rPr kumimoji="0" lang="ko-KR" altLang="en-US" sz="1200">
                <a:solidFill>
                  <a:srgbClr val="000000"/>
                </a:solidFill>
              </a:rPr>
              <a:t>서버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x86 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ko-KR" altLang="en-US" sz="800">
                <a:solidFill>
                  <a:srgbClr val="000000"/>
                </a:solidFill>
              </a:rPr>
              <a:t>웹크롤러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ko-KR" altLang="en-US" sz="800" smtClean="0">
                <a:solidFill>
                  <a:srgbClr val="000000"/>
                </a:solidFill>
              </a:rPr>
              <a:t>수집 애플리케이션</a:t>
            </a:r>
            <a:endParaRPr kumimoji="0" lang="en-US" altLang="ko-KR" sz="800">
              <a:solidFill>
                <a:srgbClr val="000000"/>
              </a:solidFill>
            </a:endParaRPr>
          </a:p>
        </p:txBody>
      </p:sp>
      <p:pic>
        <p:nvPicPr>
          <p:cNvPr id="105494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006224" y="1817688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5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331908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6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5765957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7709887" y="4629150"/>
            <a:ext cx="1097879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5498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866971" y="42592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499" name="모서리가 둥근 직사각형 69"/>
          <p:cNvSpPr>
            <a:spLocks noChangeArrowheads="1"/>
          </p:cNvSpPr>
          <p:nvPr/>
        </p:nvSpPr>
        <p:spPr bwMode="auto">
          <a:xfrm>
            <a:off x="1441025" y="1711325"/>
            <a:ext cx="2181822" cy="1822450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sp>
        <p:nvSpPr>
          <p:cNvPr id="105500" name="모서리가 둥근 직사각형 69"/>
          <p:cNvSpPr>
            <a:spLocks noChangeArrowheads="1"/>
          </p:cNvSpPr>
          <p:nvPr/>
        </p:nvSpPr>
        <p:spPr bwMode="auto">
          <a:xfrm>
            <a:off x="3867509" y="1711325"/>
            <a:ext cx="4554108" cy="1822450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cxnSp>
        <p:nvCxnSpPr>
          <p:cNvPr id="105501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4543861" y="4268787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2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5959954" y="4222750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3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7811948" y="42592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4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2305710" y="3697288"/>
            <a:ext cx="3270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5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6653616" y="3708400"/>
            <a:ext cx="34766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06" name="직사각형 80"/>
          <p:cNvSpPr>
            <a:spLocks noChangeArrowheads="1"/>
          </p:cNvSpPr>
          <p:nvPr/>
        </p:nvSpPr>
        <p:spPr bwMode="auto">
          <a:xfrm>
            <a:off x="6609184" y="2190688"/>
            <a:ext cx="130875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분석 </a:t>
            </a:r>
            <a:r>
              <a:rPr kumimoji="0" lang="ko-KR" altLang="en-US" sz="1200" smtClean="0">
                <a:solidFill>
                  <a:srgbClr val="000000"/>
                </a:solidFill>
              </a:rPr>
              <a:t>서버</a:t>
            </a:r>
            <a:endParaRPr kumimoji="0" lang="en-US" altLang="ko-KR" sz="1200" smtClean="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1200" smtClean="0">
                <a:solidFill>
                  <a:srgbClr val="000000"/>
                </a:solidFill>
              </a:rPr>
              <a:t>(RStudio Server)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x86 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R(Linux Server Version)</a:t>
            </a:r>
          </a:p>
          <a:p>
            <a:pPr eaLnBrk="0" latinLnBrk="0" hangingPunct="0"/>
            <a:endParaRPr kumimoji="0" lang="en-US" altLang="ko-KR" sz="800">
              <a:solidFill>
                <a:srgbClr val="000000"/>
              </a:solidFill>
            </a:endParaRPr>
          </a:p>
        </p:txBody>
      </p:sp>
      <p:pic>
        <p:nvPicPr>
          <p:cNvPr id="10550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6716030" y="1843025"/>
            <a:ext cx="109942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508" name="TextBox 16"/>
          <p:cNvSpPr txBox="1">
            <a:spLocks noChangeArrowheads="1"/>
          </p:cNvSpPr>
          <p:nvPr/>
        </p:nvSpPr>
        <p:spPr bwMode="auto">
          <a:xfrm>
            <a:off x="5714857" y="4264025"/>
            <a:ext cx="1313119" cy="28733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buFont typeface="맑은 고딕" pitchFamily="50" charset="-127"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데이터 노드</a:t>
            </a:r>
          </a:p>
        </p:txBody>
      </p:sp>
      <p:pic>
        <p:nvPicPr>
          <p:cNvPr id="5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223661" y="1824010"/>
            <a:ext cx="109942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직사각형 80"/>
          <p:cNvSpPr>
            <a:spLocks noChangeArrowheads="1"/>
          </p:cNvSpPr>
          <p:nvPr/>
        </p:nvSpPr>
        <p:spPr bwMode="auto">
          <a:xfrm>
            <a:off x="4231324" y="2184037"/>
            <a:ext cx="2048959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 smtClean="0">
                <a:solidFill>
                  <a:srgbClr val="000000"/>
                </a:solidFill>
              </a:rPr>
              <a:t>분석 서버</a:t>
            </a:r>
            <a:endParaRPr kumimoji="0" lang="en-US" altLang="ko-KR" sz="1200" smtClean="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1200" smtClean="0">
                <a:solidFill>
                  <a:srgbClr val="000000"/>
                </a:solidFill>
              </a:rPr>
              <a:t>(</a:t>
            </a:r>
            <a:r>
              <a:rPr kumimoji="0" lang="ko-KR" altLang="en-US" sz="1200" smtClean="0">
                <a:solidFill>
                  <a:srgbClr val="000000"/>
                </a:solidFill>
              </a:rPr>
              <a:t>하둡</a:t>
            </a:r>
            <a:r>
              <a:rPr kumimoji="0" lang="en-US" altLang="ko-KR" sz="1200" smtClean="0">
                <a:solidFill>
                  <a:srgbClr val="000000"/>
                </a:solidFill>
              </a:rPr>
              <a:t>/</a:t>
            </a:r>
            <a:r>
              <a:rPr kumimoji="0" lang="ko-KR" altLang="en-US" sz="1200" smtClean="0">
                <a:solidFill>
                  <a:srgbClr val="000000"/>
                </a:solidFill>
              </a:rPr>
              <a:t>스팍 클라이언트</a:t>
            </a:r>
            <a:r>
              <a:rPr kumimoji="0" lang="en-US" altLang="ko-KR" sz="1200" smtClean="0">
                <a:solidFill>
                  <a:srgbClr val="000000"/>
                </a:solidFill>
              </a:rPr>
              <a:t>)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  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00B0F0"/>
                </a:solidFill>
              </a:rPr>
              <a:t>Hadoop </a:t>
            </a:r>
            <a:r>
              <a:rPr kumimoji="0" lang="en-US" altLang="ko-KR" sz="1000" b="1">
                <a:solidFill>
                  <a:srgbClr val="00B0F0"/>
                </a:solidFill>
              </a:rPr>
              <a:t>Ecosystem Clients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00B0F0"/>
                </a:solidFill>
              </a:rPr>
              <a:t>(HDFS, Pig, Hive</a:t>
            </a:r>
            <a:r>
              <a:rPr kumimoji="0" lang="en-US" altLang="ko-KR" sz="1000" b="1" smtClean="0">
                <a:solidFill>
                  <a:srgbClr val="00B0F0"/>
                </a:solidFill>
              </a:rPr>
              <a:t>, Spark </a:t>
            </a:r>
            <a:r>
              <a:rPr kumimoji="0" lang="en-US" altLang="ko-KR" sz="1000" b="1">
                <a:solidFill>
                  <a:srgbClr val="00B0F0"/>
                </a:solidFill>
              </a:rPr>
              <a:t>CLI …)</a:t>
            </a:r>
          </a:p>
          <a:p>
            <a:pPr eaLnBrk="0" latinLnBrk="0" hangingPunct="0"/>
            <a:endParaRPr kumimoji="0" lang="en-US" altLang="ko-KR" sz="1000">
              <a:solidFill>
                <a:srgbClr val="000000"/>
              </a:solidFill>
            </a:endParaRPr>
          </a:p>
        </p:txBody>
      </p:sp>
      <p:sp>
        <p:nvSpPr>
          <p:cNvPr id="36" name="제목 2"/>
          <p:cNvSpPr>
            <a:spLocks/>
          </p:cNvSpPr>
          <p:nvPr/>
        </p:nvSpPr>
        <p:spPr bwMode="auto">
          <a:xfrm>
            <a:off x="415925" y="188913"/>
            <a:ext cx="90741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3. </a:t>
            </a:r>
            <a:r>
              <a:rPr kumimoji="0" lang="ko-KR" altLang="en-US" sz="3000" b="1">
                <a:solidFill>
                  <a:prstClr val="white"/>
                </a:solidFill>
              </a:rPr>
              <a:t>머신별 역할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09716" y="5318281"/>
            <a:ext cx="432048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3200" b="1" smtClean="0">
                <a:solidFill>
                  <a:prstClr val="black"/>
                </a:solidFill>
              </a:rPr>
              <a:t>...</a:t>
            </a:r>
            <a:endParaRPr lang="ko-KR" altLang="en-US" sz="3200" b="1">
              <a:solidFill>
                <a:prstClr val="black"/>
              </a:solidFill>
            </a:endParaRPr>
          </a:p>
        </p:txBody>
      </p:sp>
      <p:sp>
        <p:nvSpPr>
          <p:cNvPr id="38" name="구름 모양 설명선 37"/>
          <p:cNvSpPr/>
          <p:nvPr/>
        </p:nvSpPr>
        <p:spPr>
          <a:xfrm>
            <a:off x="6975386" y="3392661"/>
            <a:ext cx="2547472" cy="1080120"/>
          </a:xfrm>
          <a:prstGeom prst="cloudCallout">
            <a:avLst>
              <a:gd name="adj1" fmla="val -38677"/>
              <a:gd name="adj2" fmla="val 7106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 smtClean="0">
                <a:solidFill>
                  <a:srgbClr val="FF0000"/>
                </a:solidFill>
              </a:rPr>
              <a:t>Master &amp; Worker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b="1" smtClean="0">
                <a:solidFill>
                  <a:srgbClr val="FF0000"/>
                </a:solidFill>
              </a:rPr>
              <a:t>데몬들</a:t>
            </a:r>
            <a:r>
              <a:rPr lang="en-US" altLang="ko-KR" sz="1400" b="1" smtClean="0">
                <a:solidFill>
                  <a:srgbClr val="FF0000"/>
                </a:solidFill>
              </a:rPr>
              <a:t>(</a:t>
            </a:r>
            <a:r>
              <a:rPr lang="ko-KR" altLang="en-US" sz="1400" b="1" smtClean="0">
                <a:solidFill>
                  <a:srgbClr val="FF0000"/>
                </a:solidFill>
              </a:rPr>
              <a:t>서비스</a:t>
            </a:r>
            <a:r>
              <a:rPr lang="en-US" altLang="ko-KR" sz="1400" b="1" smtClean="0">
                <a:solidFill>
                  <a:srgbClr val="FF0000"/>
                </a:solidFill>
              </a:rPr>
              <a:t>)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16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머신별 역할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85398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머신별 역할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241032" y="3728349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  <p:sp>
          <p:nvSpPr>
            <p:cNvPr id="8" name="오각형 7"/>
            <p:cNvSpPr/>
            <p:nvPr/>
          </p:nvSpPr>
          <p:spPr>
            <a:xfrm>
              <a:off x="6944063" y="2067534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Resource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41" name="오각형 40"/>
            <p:cNvSpPr/>
            <p:nvPr/>
          </p:nvSpPr>
          <p:spPr>
            <a:xfrm>
              <a:off x="6944063" y="3160878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1678319" y="3681028"/>
            <a:ext cx="3310685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  <p:sp>
          <p:nvSpPr>
            <p:cNvPr id="40" name="오각형 39"/>
            <p:cNvSpPr/>
            <p:nvPr/>
          </p:nvSpPr>
          <p:spPr>
            <a:xfrm>
              <a:off x="3435566" y="3150452"/>
              <a:ext cx="1172455" cy="577682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11" name="순서도: 다중 문서 10"/>
            <p:cNvSpPr/>
            <p:nvPr/>
          </p:nvSpPr>
          <p:spPr>
            <a:xfrm>
              <a:off x="3422004" y="2024844"/>
              <a:ext cx="1201081" cy="583420"/>
            </a:xfrm>
            <a:prstGeom prst="flowChartMultidocumen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JobHistory</a:t>
              </a:r>
            </a:p>
            <a:p>
              <a:pPr algn="ctr"/>
              <a:r>
                <a:rPr lang="en-US" altLang="ko-KR" sz="1400" smtClean="0"/>
                <a:t>Server</a:t>
              </a:r>
              <a:endParaRPr lang="ko-KR" altLang="en-US" sz="1400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1928664" y="1285599"/>
            <a:ext cx="6084676" cy="1996729"/>
            <a:chOff x="1678319" y="1692276"/>
            <a:chExt cx="3310685" cy="1776588"/>
          </a:xfrm>
        </p:grpSpPr>
        <p:sp>
          <p:nvSpPr>
            <p:cNvPr id="28" name="빗면 27"/>
            <p:cNvSpPr/>
            <p:nvPr/>
          </p:nvSpPr>
          <p:spPr>
            <a:xfrm>
              <a:off x="1678319" y="2288681"/>
              <a:ext cx="3310685" cy="1180183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5032" y="169227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[ 1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client ]</a:t>
              </a:r>
            </a:p>
            <a:p>
              <a:pPr algn="ctr"/>
              <a:r>
                <a:rPr lang="en-US" altLang="ko-KR" sz="1400" b="1" smtClean="0"/>
                <a:t>enp0s8 192.168.56.21</a:t>
              </a:r>
              <a:endParaRPr lang="ko-KR" altLang="en-US" sz="14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287168" y="3140403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client.hadoop.kr</a:t>
              </a:r>
              <a:endParaRPr lang="ko-KR" altLang="en-US" sz="1400"/>
            </a:p>
          </p:txBody>
        </p:sp>
      </p:grpSp>
      <p:sp>
        <p:nvSpPr>
          <p:cNvPr id="10" name="줄무늬가 있는 오른쪽 화살표 9"/>
          <p:cNvSpPr/>
          <p:nvPr/>
        </p:nvSpPr>
        <p:spPr>
          <a:xfrm>
            <a:off x="3755957" y="2060848"/>
            <a:ext cx="1296144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Pig</a:t>
            </a:r>
          </a:p>
          <a:p>
            <a:pPr algn="ctr"/>
            <a:r>
              <a:rPr lang="en-US" altLang="ko-KR" sz="1400" smtClean="0"/>
              <a:t>Grunt&gt; </a:t>
            </a:r>
            <a:endParaRPr lang="ko-KR" altLang="en-US" sz="1400"/>
          </a:p>
        </p:txBody>
      </p:sp>
      <p:sp>
        <p:nvSpPr>
          <p:cNvPr id="48" name="줄무늬가 있는 오른쪽 화살표 47"/>
          <p:cNvSpPr/>
          <p:nvPr/>
        </p:nvSpPr>
        <p:spPr>
          <a:xfrm>
            <a:off x="5169432" y="2075553"/>
            <a:ext cx="1296144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Hive</a:t>
            </a:r>
          </a:p>
          <a:p>
            <a:pPr algn="ctr"/>
            <a:r>
              <a:rPr lang="en-US" altLang="ko-KR" sz="1400" smtClean="0"/>
              <a:t>Hive&gt; </a:t>
            </a:r>
            <a:endParaRPr lang="ko-KR" altLang="en-US" sz="1400"/>
          </a:p>
        </p:txBody>
      </p:sp>
      <p:sp>
        <p:nvSpPr>
          <p:cNvPr id="49" name="줄무늬가 있는 오른쪽 화살표 48"/>
          <p:cNvSpPr/>
          <p:nvPr/>
        </p:nvSpPr>
        <p:spPr>
          <a:xfrm>
            <a:off x="6573180" y="2075552"/>
            <a:ext cx="1296144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Spark</a:t>
            </a:r>
          </a:p>
          <a:p>
            <a:pPr algn="ctr"/>
            <a:r>
              <a:rPr lang="en-US" altLang="ko-KR" sz="1400" smtClean="0"/>
              <a:t>Scala&gt; </a:t>
            </a:r>
            <a:endParaRPr lang="ko-KR" altLang="en-US" sz="1400"/>
          </a:p>
        </p:txBody>
      </p:sp>
      <p:sp>
        <p:nvSpPr>
          <p:cNvPr id="50" name="줄무늬가 있는 오른쪽 화살표 49"/>
          <p:cNvSpPr/>
          <p:nvPr/>
        </p:nvSpPr>
        <p:spPr>
          <a:xfrm>
            <a:off x="2139422" y="2038505"/>
            <a:ext cx="1482246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smtClean="0"/>
              <a:t>HDFS</a:t>
            </a:r>
          </a:p>
          <a:p>
            <a:pPr algn="ctr"/>
            <a:r>
              <a:rPr lang="en-US" altLang="ko-KR" sz="1200" smtClean="0"/>
              <a:t>$ hdfs dfs ***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8413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859851" cy="35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개요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23623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129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04528" y="1556792"/>
            <a:ext cx="8712968" cy="1732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ko-KR" altLang="en-US" sz="1200" b="1">
                <a:solidFill>
                  <a:prstClr val="black"/>
                </a:solidFill>
              </a:rPr>
              <a:t>아파치 </a:t>
            </a:r>
            <a:r>
              <a:rPr lang="en-US" altLang="ko-KR" sz="1200" b="1" smtClean="0">
                <a:solidFill>
                  <a:prstClr val="black"/>
                </a:solidFill>
              </a:rPr>
              <a:t>YARN( </a:t>
            </a:r>
            <a:r>
              <a:rPr lang="en-US" altLang="ko-KR" sz="1200" b="1">
                <a:solidFill>
                  <a:prstClr val="black"/>
                </a:solidFill>
              </a:rPr>
              <a:t>Yet Another Resource Negotiator </a:t>
            </a:r>
            <a:r>
              <a:rPr lang="en-US" altLang="ko-KR" sz="1200" b="1" smtClean="0">
                <a:solidFill>
                  <a:prstClr val="black"/>
                </a:solidFill>
              </a:rPr>
              <a:t>)</a:t>
            </a:r>
            <a:r>
              <a:rPr lang="ko-KR" altLang="en-US" sz="1200" b="1" smtClean="0">
                <a:solidFill>
                  <a:prstClr val="black"/>
                </a:solidFill>
              </a:rPr>
              <a:t>은 </a:t>
            </a:r>
            <a:r>
              <a:rPr lang="ko-KR" altLang="en-US" sz="1200" b="1">
                <a:solidFill>
                  <a:prstClr val="black"/>
                </a:solidFill>
              </a:rPr>
              <a:t>하둡의 클러스터 자원 관리 시스템이다</a:t>
            </a:r>
            <a:r>
              <a:rPr lang="en-US" altLang="ko-KR" sz="1200" b="1">
                <a:solidFill>
                  <a:prstClr val="black"/>
                </a:solidFill>
              </a:rPr>
              <a:t>. YARN</a:t>
            </a:r>
            <a:r>
              <a:rPr lang="ko-KR" altLang="en-US" sz="1200" b="1">
                <a:solidFill>
                  <a:prstClr val="black"/>
                </a:solidFill>
              </a:rPr>
              <a:t>은 맵리듀스의 성능을 높이기 위해 하둡 </a:t>
            </a:r>
            <a:r>
              <a:rPr lang="en-US" altLang="ko-KR" sz="1200" b="1">
                <a:solidFill>
                  <a:prstClr val="black"/>
                </a:solidFill>
              </a:rPr>
              <a:t>2</a:t>
            </a:r>
            <a:r>
              <a:rPr lang="ko-KR" altLang="en-US" sz="1200" b="1">
                <a:solidFill>
                  <a:prstClr val="black"/>
                </a:solidFill>
              </a:rPr>
              <a:t>에서 처음 도입되었다</a:t>
            </a:r>
            <a:r>
              <a:rPr lang="en-US" altLang="ko-KR" sz="1200" b="1">
                <a:solidFill>
                  <a:prstClr val="black"/>
                </a:solidFill>
              </a:rPr>
              <a:t>. </a:t>
            </a:r>
            <a:r>
              <a:rPr lang="ko-KR" altLang="en-US" sz="1200" b="1">
                <a:solidFill>
                  <a:prstClr val="black"/>
                </a:solidFill>
              </a:rPr>
              <a:t>하지만 </a:t>
            </a:r>
            <a:r>
              <a:rPr lang="en-US" altLang="ko-KR" sz="1200" b="1">
                <a:solidFill>
                  <a:prstClr val="black"/>
                </a:solidFill>
              </a:rPr>
              <a:t>YARN</a:t>
            </a:r>
            <a:r>
              <a:rPr lang="ko-KR" altLang="en-US" sz="1200" b="1">
                <a:solidFill>
                  <a:prstClr val="black"/>
                </a:solidFill>
              </a:rPr>
              <a:t>은 맵리듀스뿐만 아니라 다른 분산 컴퓨팅 도구도 지원한다</a:t>
            </a:r>
            <a:r>
              <a:rPr lang="en-US" altLang="ko-KR" sz="1200" b="1">
                <a:solidFill>
                  <a:prstClr val="black"/>
                </a:solidFill>
              </a:rPr>
              <a:t>.</a:t>
            </a:r>
          </a:p>
          <a:p>
            <a:pPr marL="285750" indent="-285750" algn="just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200" b="1">
                <a:solidFill>
                  <a:prstClr val="black"/>
                </a:solidFill>
              </a:rPr>
              <a:t>YARN</a:t>
            </a:r>
            <a:r>
              <a:rPr lang="ko-KR" altLang="en-US" sz="1200" b="1">
                <a:solidFill>
                  <a:prstClr val="black"/>
                </a:solidFill>
              </a:rPr>
              <a:t>은 클러스터의 자원을 요청하고 사용하기 위한 </a:t>
            </a:r>
            <a:r>
              <a:rPr lang="en-US" altLang="ko-KR" sz="1200" b="1">
                <a:solidFill>
                  <a:prstClr val="black"/>
                </a:solidFill>
              </a:rPr>
              <a:t>API</a:t>
            </a:r>
            <a:r>
              <a:rPr lang="ko-KR" altLang="en-US" sz="1200" b="1">
                <a:solidFill>
                  <a:prstClr val="black"/>
                </a:solidFill>
              </a:rPr>
              <a:t>를 제공한다</a:t>
            </a:r>
            <a:r>
              <a:rPr lang="en-US" altLang="ko-KR" sz="1200" b="1">
                <a:solidFill>
                  <a:prstClr val="black"/>
                </a:solidFill>
              </a:rPr>
              <a:t>. </a:t>
            </a:r>
            <a:r>
              <a:rPr lang="ko-KR" altLang="en-US" sz="1200" b="1">
                <a:solidFill>
                  <a:prstClr val="black"/>
                </a:solidFill>
              </a:rPr>
              <a:t>하지만 사용자 코드에서 직접 이러한 </a:t>
            </a:r>
            <a:r>
              <a:rPr lang="en-US" altLang="ko-KR" sz="1200" b="1">
                <a:solidFill>
                  <a:prstClr val="black"/>
                </a:solidFill>
              </a:rPr>
              <a:t>API</a:t>
            </a:r>
            <a:r>
              <a:rPr lang="ko-KR" altLang="en-US" sz="1200" b="1">
                <a:solidFill>
                  <a:prstClr val="black"/>
                </a:solidFill>
              </a:rPr>
              <a:t>를 사용할 수는 없다</a:t>
            </a:r>
            <a:r>
              <a:rPr lang="en-US" altLang="ko-KR" sz="1200" b="1">
                <a:solidFill>
                  <a:prstClr val="black"/>
                </a:solidFill>
              </a:rPr>
              <a:t>. </a:t>
            </a:r>
            <a:r>
              <a:rPr lang="ko-KR" altLang="en-US" sz="1200" b="1">
                <a:solidFill>
                  <a:prstClr val="black"/>
                </a:solidFill>
              </a:rPr>
              <a:t>대신 사용자는 </a:t>
            </a:r>
            <a:r>
              <a:rPr lang="en-US" altLang="ko-KR" sz="1200" b="1">
                <a:solidFill>
                  <a:prstClr val="black"/>
                </a:solidFill>
              </a:rPr>
              <a:t>YARN</a:t>
            </a:r>
            <a:r>
              <a:rPr lang="ko-KR" altLang="en-US" sz="1200" b="1">
                <a:solidFill>
                  <a:prstClr val="black"/>
                </a:solidFill>
              </a:rPr>
              <a:t>이 내장된 분산 컴퓨팅 </a:t>
            </a:r>
            <a:r>
              <a:rPr lang="ko-KR" altLang="en-US" sz="1200" b="1" smtClean="0">
                <a:solidFill>
                  <a:prstClr val="black"/>
                </a:solidFill>
              </a:rPr>
              <a:t>프레임워크에서 </a:t>
            </a:r>
            <a:r>
              <a:rPr lang="ko-KR" altLang="en-US" sz="1200" b="1">
                <a:solidFill>
                  <a:prstClr val="black"/>
                </a:solidFill>
              </a:rPr>
              <a:t>고수준 </a:t>
            </a:r>
            <a:r>
              <a:rPr lang="en-US" altLang="ko-KR" sz="1200" b="1">
                <a:solidFill>
                  <a:prstClr val="black"/>
                </a:solidFill>
              </a:rPr>
              <a:t>API</a:t>
            </a:r>
            <a:r>
              <a:rPr lang="ko-KR" altLang="en-US" sz="1200" b="1">
                <a:solidFill>
                  <a:prstClr val="black"/>
                </a:solidFill>
              </a:rPr>
              <a:t>를 작성해야 하며</a:t>
            </a:r>
            <a:r>
              <a:rPr lang="en-US" altLang="ko-KR" sz="1200" b="1">
                <a:solidFill>
                  <a:prstClr val="black"/>
                </a:solidFill>
              </a:rPr>
              <a:t>, </a:t>
            </a:r>
            <a:r>
              <a:rPr lang="ko-KR" altLang="en-US" sz="1200" b="1">
                <a:solidFill>
                  <a:prstClr val="black"/>
                </a:solidFill>
              </a:rPr>
              <a:t>따라서 사용자는 자원 관리의 자세한 내용은 알 수 없다</a:t>
            </a:r>
            <a:r>
              <a:rPr lang="en-US" altLang="ko-KR" sz="1200" b="1">
                <a:solidFill>
                  <a:prstClr val="black"/>
                </a:solidFill>
              </a:rPr>
              <a:t>.</a:t>
            </a:r>
          </a:p>
          <a:p>
            <a:pPr marL="285750" indent="-285750" algn="just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ko-KR" altLang="en-US" sz="1200" b="1">
                <a:solidFill>
                  <a:prstClr val="black"/>
                </a:solidFill>
              </a:rPr>
              <a:t>전체적인 구조는 </a:t>
            </a:r>
            <a:r>
              <a:rPr lang="en-US" altLang="ko-KR" sz="1200" b="1">
                <a:solidFill>
                  <a:prstClr val="black"/>
                </a:solidFill>
              </a:rPr>
              <a:t>[</a:t>
            </a:r>
            <a:r>
              <a:rPr lang="ko-KR" altLang="en-US" sz="1200" b="1">
                <a:solidFill>
                  <a:prstClr val="black"/>
                </a:solidFill>
              </a:rPr>
              <a:t>그림 </a:t>
            </a:r>
            <a:r>
              <a:rPr lang="en-US" altLang="ko-KR" sz="1200" b="1">
                <a:solidFill>
                  <a:prstClr val="black"/>
                </a:solidFill>
              </a:rPr>
              <a:t>4-1]</a:t>
            </a:r>
            <a:r>
              <a:rPr lang="ko-KR" altLang="en-US" sz="1200" b="1">
                <a:solidFill>
                  <a:prstClr val="black"/>
                </a:solidFill>
              </a:rPr>
              <a:t>에서 볼 수 있다</a:t>
            </a:r>
            <a:r>
              <a:rPr lang="en-US" altLang="ko-KR" sz="1200" b="1">
                <a:solidFill>
                  <a:prstClr val="black"/>
                </a:solidFill>
              </a:rPr>
              <a:t>. </a:t>
            </a:r>
            <a:r>
              <a:rPr lang="ko-KR" altLang="en-US" sz="1200" b="1">
                <a:solidFill>
                  <a:prstClr val="black"/>
                </a:solidFill>
              </a:rPr>
              <a:t>맵리듀스</a:t>
            </a:r>
            <a:r>
              <a:rPr lang="en-US" altLang="ko-KR" sz="1200" b="1">
                <a:solidFill>
                  <a:prstClr val="black"/>
                </a:solidFill>
              </a:rPr>
              <a:t>, </a:t>
            </a:r>
            <a:r>
              <a:rPr lang="ko-KR" altLang="en-US" sz="1200" b="1">
                <a:solidFill>
                  <a:prstClr val="black"/>
                </a:solidFill>
              </a:rPr>
              <a:t>스파크 등과 같은 분산 컴퓨팅 </a:t>
            </a:r>
            <a:r>
              <a:rPr lang="ko-KR" altLang="en-US" sz="1200" b="1" smtClean="0">
                <a:solidFill>
                  <a:prstClr val="black"/>
                </a:solidFill>
              </a:rPr>
              <a:t>프레임워크는 </a:t>
            </a:r>
            <a:r>
              <a:rPr lang="ko-KR" altLang="en-US" sz="1200" b="1">
                <a:solidFill>
                  <a:prstClr val="black"/>
                </a:solidFill>
              </a:rPr>
              <a:t>클러스터 계산 계층</a:t>
            </a:r>
            <a:r>
              <a:rPr lang="en-US" altLang="ko-KR" sz="1200" b="1">
                <a:solidFill>
                  <a:prstClr val="black"/>
                </a:solidFill>
              </a:rPr>
              <a:t>(</a:t>
            </a:r>
            <a:r>
              <a:rPr lang="en-US" altLang="ko-KR" sz="1200" b="1" smtClean="0">
                <a:solidFill>
                  <a:prstClr val="black"/>
                </a:solidFill>
              </a:rPr>
              <a:t>YARN)</a:t>
            </a:r>
            <a:r>
              <a:rPr lang="ko-KR" altLang="en-US" sz="1200" b="1">
                <a:solidFill>
                  <a:prstClr val="black"/>
                </a:solidFill>
              </a:rPr>
              <a:t>과 클러스터 저장 계층</a:t>
            </a:r>
            <a:r>
              <a:rPr lang="en-US" altLang="ko-KR" sz="1200" b="1">
                <a:solidFill>
                  <a:prstClr val="black"/>
                </a:solidFill>
              </a:rPr>
              <a:t>(HDFS</a:t>
            </a:r>
            <a:r>
              <a:rPr lang="ko-KR" altLang="en-US" sz="1200" b="1">
                <a:solidFill>
                  <a:prstClr val="black"/>
                </a:solidFill>
              </a:rPr>
              <a:t>와 </a:t>
            </a:r>
            <a:r>
              <a:rPr lang="en-US" altLang="ko-KR" sz="1200" b="1" smtClean="0">
                <a:solidFill>
                  <a:prstClr val="black"/>
                </a:solidFill>
              </a:rPr>
              <a:t>HBase) </a:t>
            </a:r>
            <a:r>
              <a:rPr lang="ko-KR" altLang="en-US" sz="1200" b="1">
                <a:solidFill>
                  <a:prstClr val="black"/>
                </a:solidFill>
              </a:rPr>
              <a:t>위에서 </a:t>
            </a:r>
            <a:r>
              <a:rPr lang="en-US" altLang="ko-KR" sz="1200" b="1">
                <a:solidFill>
                  <a:prstClr val="black"/>
                </a:solidFill>
              </a:rPr>
              <a:t>YARN </a:t>
            </a:r>
            <a:r>
              <a:rPr lang="ko-KR" altLang="en-US" sz="1200" b="1">
                <a:solidFill>
                  <a:prstClr val="black"/>
                </a:solidFill>
              </a:rPr>
              <a:t>애플리케이션을 실행한다</a:t>
            </a:r>
            <a:r>
              <a:rPr lang="en-US" altLang="ko-KR" sz="1200" b="1">
                <a:solidFill>
                  <a:prstClr val="black"/>
                </a:solidFill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13" y="3294817"/>
            <a:ext cx="8296797" cy="304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0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4248022" cy="35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600" b="1">
                <a:solidFill>
                  <a:prstClr val="black"/>
                </a:solidFill>
              </a:rPr>
              <a:t>4.1 YARN </a:t>
            </a:r>
            <a:r>
              <a:rPr lang="ko-KR" altLang="en-US" sz="1600" b="1">
                <a:solidFill>
                  <a:prstClr val="black"/>
                </a:solidFill>
              </a:rPr>
              <a:t>애플리케이션 수행 해부해보기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23623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131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672" y="1559094"/>
            <a:ext cx="61245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2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286797" cy="35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600" b="1">
                <a:solidFill>
                  <a:prstClr val="black"/>
                </a:solidFill>
              </a:rPr>
              <a:t>7.1 </a:t>
            </a:r>
            <a:r>
              <a:rPr lang="ko-KR" altLang="en-US" sz="1600" b="1">
                <a:solidFill>
                  <a:prstClr val="black"/>
                </a:solidFill>
              </a:rPr>
              <a:t>맵리듀스 잡 실행 상세분석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23623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254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872" y="1090228"/>
            <a:ext cx="5610225" cy="57626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604" y="4447772"/>
            <a:ext cx="1476164" cy="1190855"/>
          </a:xfrm>
          <a:prstGeom prst="rect">
            <a:avLst/>
          </a:prstGeom>
        </p:spPr>
      </p:pic>
      <p:cxnSp>
        <p:nvCxnSpPr>
          <p:cNvPr id="7" name="직선 연결선 6"/>
          <p:cNvCxnSpPr>
            <a:stCxn id="3" idx="3"/>
          </p:cNvCxnSpPr>
          <p:nvPr/>
        </p:nvCxnSpPr>
        <p:spPr>
          <a:xfrm flipV="1">
            <a:off x="2864768" y="4392787"/>
            <a:ext cx="3636404" cy="650413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V="1">
            <a:off x="2864768" y="5322911"/>
            <a:ext cx="5184576" cy="122313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28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Box 2"/>
          <p:cNvSpPr txBox="1">
            <a:spLocks noChangeArrowheads="1"/>
          </p:cNvSpPr>
          <p:nvPr/>
        </p:nvSpPr>
        <p:spPr bwMode="auto">
          <a:xfrm>
            <a:off x="271463" y="1125538"/>
            <a:ext cx="905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kumimoji="0" lang="en-US" altLang="ko-KR" sz="1200" b="0">
                <a:solidFill>
                  <a:srgbClr val="000000"/>
                </a:solidFill>
              </a:rPr>
              <a:t> </a:t>
            </a:r>
            <a:endParaRPr kumimoji="0" lang="ko-KR" altLang="ko-KR" sz="1200" b="0">
              <a:solidFill>
                <a:srgbClr val="000000"/>
              </a:solidFill>
            </a:endParaRPr>
          </a:p>
        </p:txBody>
      </p:sp>
      <p:pic>
        <p:nvPicPr>
          <p:cNvPr id="160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736725"/>
            <a:ext cx="8677275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0772" name="제목 1"/>
          <p:cNvSpPr>
            <a:spLocks/>
          </p:cNvSpPr>
          <p:nvPr/>
        </p:nvSpPr>
        <p:spPr bwMode="auto">
          <a:xfrm>
            <a:off x="415925" y="188913"/>
            <a:ext cx="85074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160773" name="제목 1"/>
          <p:cNvSpPr>
            <a:spLocks noGrp="1"/>
          </p:cNvSpPr>
          <p:nvPr>
            <p:ph type="ctrTitle" idx="4294967295"/>
          </p:nvPr>
        </p:nvSpPr>
        <p:spPr>
          <a:xfrm>
            <a:off x="415925" y="1208088"/>
            <a:ext cx="3301225" cy="39196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>
            <a:spAutoFit/>
          </a:bodyPr>
          <a:lstStyle/>
          <a:p>
            <a:pPr marL="261938" indent="-261938" algn="l"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800" b="1" smtClean="0"/>
              <a:t>리소스매니저와 노드매니저</a:t>
            </a:r>
          </a:p>
        </p:txBody>
      </p:sp>
    </p:spTree>
    <p:extLst>
      <p:ext uri="{BB962C8B-B14F-4D97-AF65-F5344CB8AC3E}">
        <p14:creationId xmlns:p14="http://schemas.microsoft.com/office/powerpoint/2010/main" val="325325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제목 1"/>
          <p:cNvSpPr>
            <a:spLocks noGrp="1"/>
          </p:cNvSpPr>
          <p:nvPr>
            <p:ph type="ctrTitle" idx="4294967295"/>
          </p:nvPr>
        </p:nvSpPr>
        <p:spPr>
          <a:xfrm>
            <a:off x="415925" y="1208088"/>
            <a:ext cx="2459648" cy="4247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>
            <a:spAutoFit/>
          </a:bodyPr>
          <a:lstStyle/>
          <a:p>
            <a:pPr marL="261938" indent="-261938" algn="l"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800" b="1" smtClean="0"/>
              <a:t>클러스터 자원 할당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600200" y="2924175"/>
            <a:ext cx="1949450" cy="2952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FFFFFF"/>
              </a:solidFill>
            </a:endParaRPr>
          </a:p>
        </p:txBody>
      </p:sp>
      <p:grpSp>
        <p:nvGrpSpPr>
          <p:cNvPr id="161796" name="Group 4"/>
          <p:cNvGrpSpPr>
            <a:grpSpLocks/>
          </p:cNvGrpSpPr>
          <p:nvPr/>
        </p:nvGrpSpPr>
        <p:grpSpPr bwMode="auto">
          <a:xfrm>
            <a:off x="2900363" y="1174750"/>
            <a:ext cx="6589712" cy="5422900"/>
            <a:chOff x="1571" y="529"/>
            <a:chExt cx="4407" cy="3627"/>
          </a:xfrm>
        </p:grpSpPr>
        <p:pic>
          <p:nvPicPr>
            <p:cNvPr id="16179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1" y="627"/>
              <a:ext cx="3985" cy="3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180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1" y="529"/>
              <a:ext cx="4407" cy="36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1797" name="모서리가 둥근 직사각형 5"/>
          <p:cNvSpPr>
            <a:spLocks noChangeArrowheads="1"/>
          </p:cNvSpPr>
          <p:nvPr/>
        </p:nvSpPr>
        <p:spPr bwMode="auto">
          <a:xfrm>
            <a:off x="812800" y="3429000"/>
            <a:ext cx="2457450" cy="1793875"/>
          </a:xfrm>
          <a:prstGeom prst="roundRect">
            <a:avLst>
              <a:gd name="adj" fmla="val 8144"/>
            </a:avLst>
          </a:prstGeom>
          <a:solidFill>
            <a:srgbClr val="CCFFFF"/>
          </a:solidFill>
          <a:ln w="25400" algn="ctr">
            <a:solidFill>
              <a:srgbClr val="6699FF"/>
            </a:solidFill>
            <a:round/>
            <a:headEnd/>
            <a:tailEnd/>
          </a:ln>
        </p:spPr>
        <p:txBody>
          <a:bodyPr anchor="ctr"/>
          <a:lstStyle/>
          <a:p>
            <a:pPr algn="ctr">
              <a:spcBef>
                <a:spcPct val="20000"/>
              </a:spcBef>
            </a:pPr>
            <a:r>
              <a:rPr kumimoji="0" lang="en-US" altLang="ko-KR" b="1">
                <a:solidFill>
                  <a:srgbClr val="000000"/>
                </a:solidFill>
              </a:rPr>
              <a:t>MapReduce 1.0</a:t>
            </a:r>
          </a:p>
          <a:p>
            <a:pPr algn="ctr">
              <a:spcBef>
                <a:spcPct val="20000"/>
              </a:spcBef>
            </a:pPr>
            <a:r>
              <a:rPr kumimoji="0" lang="ko-KR" altLang="en-US" b="1">
                <a:solidFill>
                  <a:srgbClr val="000000"/>
                </a:solidFill>
              </a:rPr>
              <a:t>자원 할당 기준</a:t>
            </a:r>
            <a:endParaRPr kumimoji="0" lang="en-US" altLang="ko-KR" b="1">
              <a:solidFill>
                <a:srgbClr val="000000"/>
              </a:solidFill>
            </a:endParaRPr>
          </a:p>
          <a:p>
            <a:endParaRPr kumimoji="0" lang="en-US" altLang="ko-KR" b="1">
              <a:solidFill>
                <a:srgbClr val="000000"/>
              </a:solidFill>
            </a:endParaRPr>
          </a:p>
          <a:p>
            <a:r>
              <a:rPr kumimoji="0" lang="en-US" altLang="ko-KR">
                <a:solidFill>
                  <a:srgbClr val="000000"/>
                </a:solidFill>
              </a:rPr>
              <a:t>1) Map Slot </a:t>
            </a:r>
          </a:p>
          <a:p>
            <a:r>
              <a:rPr kumimoji="0" lang="en-US" altLang="ko-KR">
                <a:solidFill>
                  <a:srgbClr val="000000"/>
                </a:solidFill>
              </a:rPr>
              <a:t>2) Reduce Slot</a:t>
            </a:r>
            <a:endParaRPr kumimoji="0" lang="ko-KR" altLang="en-US">
              <a:solidFill>
                <a:srgbClr val="000000"/>
              </a:solidFill>
            </a:endParaRPr>
          </a:p>
        </p:txBody>
      </p:sp>
      <p:sp>
        <p:nvSpPr>
          <p:cNvPr id="161798" name="제목 1"/>
          <p:cNvSpPr>
            <a:spLocks/>
          </p:cNvSpPr>
          <p:nvPr/>
        </p:nvSpPr>
        <p:spPr bwMode="auto">
          <a:xfrm>
            <a:off x="415925" y="188913"/>
            <a:ext cx="850741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62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182603" cy="35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600" b="1">
                <a:solidFill>
                  <a:prstClr val="black"/>
                </a:solidFill>
              </a:rPr>
              <a:t>4.3.2 </a:t>
            </a:r>
            <a:r>
              <a:rPr lang="ko-KR" altLang="en-US" sz="1600" b="1">
                <a:solidFill>
                  <a:prstClr val="black"/>
                </a:solidFill>
              </a:rPr>
              <a:t>캐퍼시티 스케줄러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23623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140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904" y="1149435"/>
            <a:ext cx="5173215" cy="5683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552" y="3068960"/>
            <a:ext cx="2711200" cy="1944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467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YARN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545907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sz="1600" b="1">
                <a:solidFill>
                  <a:prstClr val="black"/>
                </a:solidFill>
              </a:rPr>
              <a:t>4.3 </a:t>
            </a:r>
            <a:r>
              <a:rPr lang="en-US" altLang="ko-KR" sz="1600" b="1" smtClean="0">
                <a:solidFill>
                  <a:prstClr val="black"/>
                </a:solidFill>
              </a:rPr>
              <a:t>YARN</a:t>
            </a:r>
            <a:r>
              <a:rPr lang="ko-KR" altLang="en-US" sz="1600" b="1" smtClean="0">
                <a:solidFill>
                  <a:prstClr val="black"/>
                </a:solidFill>
              </a:rPr>
              <a:t>의 </a:t>
            </a:r>
            <a:r>
              <a:rPr lang="en-US" altLang="ko-KR" sz="1600" b="1" smtClean="0">
                <a:solidFill>
                  <a:prstClr val="black"/>
                </a:solidFill>
              </a:rPr>
              <a:t>3</a:t>
            </a:r>
            <a:r>
              <a:rPr lang="ko-KR" altLang="en-US" sz="1600" b="1" smtClean="0">
                <a:solidFill>
                  <a:prstClr val="black"/>
                </a:solidFill>
              </a:rPr>
              <a:t>가지</a:t>
            </a:r>
            <a:r>
              <a:rPr lang="en-US" altLang="ko-KR" sz="1600" b="1" smtClean="0">
                <a:solidFill>
                  <a:prstClr val="black"/>
                </a:solidFill>
              </a:rPr>
              <a:t> </a:t>
            </a:r>
            <a:r>
              <a:rPr lang="ko-KR" altLang="en-US" sz="1600" b="1" smtClean="0">
                <a:solidFill>
                  <a:prstClr val="black"/>
                </a:solidFill>
              </a:rPr>
              <a:t>스케줄링 옵션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23623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138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2947279"/>
            <a:ext cx="3000375" cy="2466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040" y="1192213"/>
            <a:ext cx="3105150" cy="2886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040" y="4201268"/>
            <a:ext cx="3162300" cy="2457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999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설정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030043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하둡의 환경 설정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236236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210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04528" y="1843875"/>
            <a:ext cx="8712968" cy="2289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(1) </a:t>
            </a:r>
            <a:r>
              <a:rPr lang="ko-KR" altLang="en-US" sz="1400" b="1" smtClean="0">
                <a:solidFill>
                  <a:prstClr val="black"/>
                </a:solidFill>
              </a:rPr>
              <a:t>클라이언트 호스트 </a:t>
            </a:r>
            <a:r>
              <a:rPr lang="en-US" altLang="ko-KR" sz="1400" b="1" smtClean="0">
                <a:solidFill>
                  <a:prstClr val="black"/>
                </a:solidFill>
              </a:rPr>
              <a:t>OS</a:t>
            </a:r>
            <a:r>
              <a:rPr lang="ko-KR" altLang="en-US" sz="1400" b="1" smtClean="0">
                <a:solidFill>
                  <a:prstClr val="black"/>
                </a:solidFill>
              </a:rPr>
              <a:t>에서 </a:t>
            </a:r>
            <a:r>
              <a:rPr lang="en-US" altLang="ko-KR" sz="1400" b="1" smtClean="0">
                <a:solidFill>
                  <a:prstClr val="black"/>
                </a:solidFill>
              </a:rPr>
              <a:t>HADOOP_CONF_DIR</a:t>
            </a:r>
            <a:r>
              <a:rPr lang="ko-KR" altLang="en-US" sz="1400" b="1" smtClean="0">
                <a:solidFill>
                  <a:prstClr val="black"/>
                </a:solidFill>
              </a:rPr>
              <a:t>을 설정했으면</a:t>
            </a:r>
            <a:endParaRPr lang="en-US" altLang="ko-KR" sz="1400" b="1" smtClean="0">
              <a:solidFill>
                <a:prstClr val="black"/>
              </a:solidFill>
            </a:endParaRPr>
          </a:p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>
                <a:solidFill>
                  <a:prstClr val="black"/>
                </a:solidFill>
              </a:rPr>
              <a:t> </a:t>
            </a:r>
            <a:r>
              <a:rPr lang="en-US" altLang="ko-KR" sz="1400" b="1" smtClean="0">
                <a:solidFill>
                  <a:prstClr val="black"/>
                </a:solidFill>
              </a:rPr>
              <a:t> =&gt; </a:t>
            </a:r>
            <a:r>
              <a:rPr lang="ko-KR" altLang="en-US" sz="1400" b="1" smtClean="0">
                <a:solidFill>
                  <a:prstClr val="black"/>
                </a:solidFill>
              </a:rPr>
              <a:t>지정된 디렉터리에서 하둡 설정 파일들을 찾는다</a:t>
            </a:r>
            <a:r>
              <a:rPr lang="en-US" altLang="ko-KR" sz="1400" b="1" smtClean="0">
                <a:solidFill>
                  <a:prstClr val="black"/>
                </a:solidFill>
              </a:rPr>
              <a:t>.</a:t>
            </a:r>
          </a:p>
          <a:p>
            <a:pPr marL="285750" indent="-285750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(2) </a:t>
            </a:r>
            <a:r>
              <a:rPr lang="ko-KR" altLang="en-US" sz="1400" b="1" smtClean="0">
                <a:solidFill>
                  <a:prstClr val="black"/>
                </a:solidFill>
              </a:rPr>
              <a:t>하둡 애플리케이션을 실행할 때 명령행에서 </a:t>
            </a:r>
            <a:r>
              <a:rPr lang="en-US" altLang="ko-KR" sz="1400" b="1" smtClean="0">
                <a:solidFill>
                  <a:prstClr val="black"/>
                </a:solidFill>
              </a:rPr>
              <a:t>–conf [</a:t>
            </a:r>
            <a:r>
              <a:rPr lang="ko-KR" altLang="en-US" sz="1400" b="1" smtClean="0">
                <a:solidFill>
                  <a:prstClr val="black"/>
                </a:solidFill>
              </a:rPr>
              <a:t>사용자 지정 환경설정 디렉터리</a:t>
            </a:r>
            <a:r>
              <a:rPr lang="en-US" altLang="ko-KR" sz="1400" b="1" smtClean="0">
                <a:solidFill>
                  <a:prstClr val="black"/>
                </a:solidFill>
              </a:rPr>
              <a:t>]</a:t>
            </a:r>
            <a:r>
              <a:rPr lang="ko-KR" altLang="en-US" sz="1400" b="1" smtClean="0">
                <a:solidFill>
                  <a:prstClr val="black"/>
                </a:solidFill>
              </a:rPr>
              <a:t>를 설정했으면</a:t>
            </a:r>
            <a:endParaRPr lang="en-US" altLang="ko-KR" sz="1400" b="1" smtClean="0">
              <a:solidFill>
                <a:prstClr val="black"/>
              </a:solidFill>
            </a:endParaRPr>
          </a:p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>
                <a:solidFill>
                  <a:prstClr val="black"/>
                </a:solidFill>
              </a:rPr>
              <a:t> </a:t>
            </a:r>
            <a:r>
              <a:rPr lang="en-US" altLang="ko-KR" sz="1400" b="1" smtClean="0">
                <a:solidFill>
                  <a:prstClr val="black"/>
                </a:solidFill>
              </a:rPr>
              <a:t> =&gt; </a:t>
            </a:r>
            <a:r>
              <a:rPr lang="ko-KR" altLang="en-US" sz="1400" b="1" smtClean="0">
                <a:solidFill>
                  <a:prstClr val="black"/>
                </a:solidFill>
              </a:rPr>
              <a:t>지정된 </a:t>
            </a:r>
            <a:r>
              <a:rPr lang="en-US" altLang="ko-KR" sz="1400" b="1" smtClean="0">
                <a:solidFill>
                  <a:prstClr val="black"/>
                </a:solidFill>
              </a:rPr>
              <a:t>[</a:t>
            </a:r>
            <a:r>
              <a:rPr lang="ko-KR" altLang="en-US" sz="1400" b="1" smtClean="0">
                <a:solidFill>
                  <a:prstClr val="black"/>
                </a:solidFill>
              </a:rPr>
              <a:t>사용자 지정 환경설정 디렉터리</a:t>
            </a:r>
            <a:r>
              <a:rPr lang="en-US" altLang="ko-KR" sz="1400" b="1" smtClean="0">
                <a:solidFill>
                  <a:prstClr val="black"/>
                </a:solidFill>
              </a:rPr>
              <a:t>]</a:t>
            </a:r>
            <a:r>
              <a:rPr lang="ko-KR" altLang="en-US" sz="1400" b="1" smtClean="0">
                <a:solidFill>
                  <a:prstClr val="black"/>
                </a:solidFill>
              </a:rPr>
              <a:t>에서 하둡 설정 파일들을 찾는다</a:t>
            </a:r>
            <a:r>
              <a:rPr lang="en-US" altLang="ko-KR" sz="1400" b="1" smtClean="0">
                <a:solidFill>
                  <a:prstClr val="black"/>
                </a:solidFill>
              </a:rPr>
              <a:t>. </a:t>
            </a:r>
          </a:p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</a:rPr>
              <a:t> </a:t>
            </a:r>
            <a:r>
              <a:rPr lang="en-US" altLang="ko-KR" sz="1400" b="1" smtClean="0">
                <a:solidFill>
                  <a:srgbClr val="C00000"/>
                </a:solidFill>
              </a:rPr>
              <a:t>     [NOTE] </a:t>
            </a:r>
            <a:r>
              <a:rPr lang="ko-KR" altLang="en-US" sz="1400" b="1" smtClean="0">
                <a:solidFill>
                  <a:srgbClr val="C00000"/>
                </a:solidFill>
              </a:rPr>
              <a:t>우선순위가 가장 높다</a:t>
            </a:r>
            <a:r>
              <a:rPr lang="en-US" altLang="ko-KR" sz="1400" b="1" smtClean="0">
                <a:solidFill>
                  <a:srgbClr val="C00000"/>
                </a:solidFill>
              </a:rPr>
              <a:t>. HADOOP_CONF_DIR</a:t>
            </a:r>
            <a:r>
              <a:rPr lang="ko-KR" altLang="en-US" sz="1400" b="1" smtClean="0">
                <a:solidFill>
                  <a:srgbClr val="C00000"/>
                </a:solidFill>
              </a:rPr>
              <a:t>이 설정되어 있어도 무시한다</a:t>
            </a:r>
            <a:r>
              <a:rPr lang="en-US" altLang="ko-KR" sz="1400" b="1" smtClean="0">
                <a:solidFill>
                  <a:srgbClr val="C00000"/>
                </a:solidFill>
              </a:rPr>
              <a:t>. </a:t>
            </a:r>
          </a:p>
          <a:p>
            <a:pPr marL="285750" indent="-285750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(3) </a:t>
            </a:r>
            <a:r>
              <a:rPr lang="ko-KR" altLang="en-US" sz="1400" b="1" smtClean="0">
                <a:solidFill>
                  <a:prstClr val="black"/>
                </a:solidFill>
              </a:rPr>
              <a:t>기본 설정으로</a:t>
            </a:r>
            <a:r>
              <a:rPr lang="en-US" altLang="ko-KR" sz="1400" b="1" smtClean="0">
                <a:solidFill>
                  <a:prstClr val="black"/>
                </a:solidFill>
              </a:rPr>
              <a:t>,</a:t>
            </a:r>
            <a:r>
              <a:rPr lang="ko-KR" altLang="en-US" sz="1400" b="1" smtClean="0">
                <a:solidFill>
                  <a:prstClr val="black"/>
                </a:solidFill>
              </a:rPr>
              <a:t> 즉 </a:t>
            </a:r>
            <a:r>
              <a:rPr lang="en-US" altLang="ko-KR" sz="1400" b="1" smtClean="0">
                <a:solidFill>
                  <a:prstClr val="black"/>
                </a:solidFill>
              </a:rPr>
              <a:t>(1)</a:t>
            </a:r>
            <a:r>
              <a:rPr lang="ko-KR" altLang="en-US" sz="1400" b="1" smtClean="0">
                <a:solidFill>
                  <a:prstClr val="black"/>
                </a:solidFill>
              </a:rPr>
              <a:t>과 </a:t>
            </a:r>
            <a:r>
              <a:rPr lang="en-US" altLang="ko-KR" sz="1400" b="1" smtClean="0">
                <a:solidFill>
                  <a:prstClr val="black"/>
                </a:solidFill>
              </a:rPr>
              <a:t>(2)</a:t>
            </a:r>
            <a:r>
              <a:rPr lang="ko-KR" altLang="en-US" sz="1400" b="1" smtClean="0">
                <a:solidFill>
                  <a:prstClr val="black"/>
                </a:solidFill>
              </a:rPr>
              <a:t>에 해당되지 않으면 </a:t>
            </a:r>
            <a:endParaRPr lang="en-US" altLang="ko-KR" sz="1400" b="1" smtClean="0">
              <a:solidFill>
                <a:prstClr val="black"/>
              </a:solidFill>
            </a:endParaRPr>
          </a:p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>
                <a:solidFill>
                  <a:prstClr val="black"/>
                </a:solidFill>
              </a:rPr>
              <a:t> </a:t>
            </a:r>
            <a:r>
              <a:rPr lang="en-US" altLang="ko-KR" sz="1400" b="1" smtClean="0">
                <a:solidFill>
                  <a:prstClr val="black"/>
                </a:solidFill>
              </a:rPr>
              <a:t> =&gt; $HADOOP_HOME </a:t>
            </a:r>
            <a:r>
              <a:rPr lang="ko-KR" altLang="en-US" sz="1400" b="1" smtClean="0">
                <a:solidFill>
                  <a:prstClr val="black"/>
                </a:solidFill>
              </a:rPr>
              <a:t>디렉터리 아래에 있는 </a:t>
            </a:r>
            <a:r>
              <a:rPr lang="en-US" altLang="ko-KR" sz="1400" b="1" smtClean="0">
                <a:solidFill>
                  <a:prstClr val="black"/>
                </a:solidFill>
              </a:rPr>
              <a:t>etc/hadoop </a:t>
            </a:r>
            <a:r>
              <a:rPr lang="ko-KR" altLang="en-US" sz="1400" b="1" smtClean="0">
                <a:solidFill>
                  <a:prstClr val="black"/>
                </a:solidFill>
              </a:rPr>
              <a:t>디렉터리에서 하둡 설정 파일들을 찾는다</a:t>
            </a:r>
            <a:r>
              <a:rPr lang="en-US" altLang="ko-KR" sz="1400" b="1" smtClean="0">
                <a:solidFill>
                  <a:prstClr val="black"/>
                </a:solidFill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037" y="4629665"/>
            <a:ext cx="56959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0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5.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200235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맵리듀스 실행 환경 설정 방법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678665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208~209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04528" y="1843875"/>
            <a:ext cx="8712968" cy="325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ko-KR" altLang="en-US" sz="1400" b="1" smtClean="0">
                <a:solidFill>
                  <a:prstClr val="black"/>
                </a:solidFill>
              </a:rPr>
              <a:t> 다음과 같이 하둡 설정 디렉터리에 </a:t>
            </a:r>
            <a:r>
              <a:rPr lang="en-US" altLang="ko-KR" sz="1400" b="1" smtClean="0">
                <a:solidFill>
                  <a:prstClr val="black"/>
                </a:solidFill>
              </a:rPr>
              <a:t>3</a:t>
            </a:r>
            <a:r>
              <a:rPr lang="ko-KR" altLang="en-US" sz="1400" b="1" smtClean="0">
                <a:solidFill>
                  <a:prstClr val="black"/>
                </a:solidFill>
              </a:rPr>
              <a:t>개의 파일을 직접 만들어두자</a:t>
            </a:r>
            <a:r>
              <a:rPr lang="en-US" altLang="ko-KR" sz="1400" b="1" smtClean="0">
                <a:solidFill>
                  <a:prstClr val="black"/>
                </a:solidFill>
              </a:rPr>
              <a:t>.</a:t>
            </a:r>
            <a:r>
              <a:rPr lang="ko-KR" altLang="en-US" sz="1400" b="1" smtClean="0">
                <a:solidFill>
                  <a:prstClr val="black"/>
                </a:solidFill>
              </a:rPr>
              <a:t> </a:t>
            </a:r>
            <a:endParaRPr lang="en-US" altLang="ko-KR" sz="1400" b="1" smtClean="0">
              <a:solidFill>
                <a:prstClr val="black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560761" y="2241827"/>
          <a:ext cx="8568952" cy="255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11"/>
                <a:gridCol w="1872208"/>
                <a:gridCol w="5256833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/>
                        <a:t>구분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/>
                        <a:t>하둡 설정 파일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</a:tr>
              <a:tr h="6003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로컬모드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/>
                        <a:t>hadoop-local.xml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/>
                        <a:t>기본 로컬 파일시스템과 맵리듀스 잡을 실행하는 로컬</a:t>
                      </a:r>
                      <a:r>
                        <a:rPr lang="en-US" altLang="ko-KR" sz="1400" smtClean="0"/>
                        <a:t>(</a:t>
                      </a:r>
                      <a:r>
                        <a:rPr lang="ko-KR" altLang="en-US" sz="1400" smtClean="0"/>
                        <a:t>단일 </a:t>
                      </a:r>
                      <a:r>
                        <a:rPr lang="en-US" altLang="ko-KR" sz="1400" smtClean="0"/>
                        <a:t>JVM ) </a:t>
                      </a:r>
                      <a:r>
                        <a:rPr lang="ko-KR" altLang="en-US" sz="1400" smtClean="0"/>
                        <a:t>프레임워크에 적합한 하둡 설정을 가진다</a:t>
                      </a:r>
                      <a:r>
                        <a:rPr lang="en-US" altLang="ko-KR" sz="1400" smtClean="0"/>
                        <a:t>.</a:t>
                      </a:r>
                      <a:endParaRPr lang="ko-KR" altLang="en-US" sz="1400"/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의사분산모드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/>
                        <a:t>hadoop-localhost.xml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/>
                        <a:t>로컬에서 작동하는 네임노드</a:t>
                      </a:r>
                      <a:r>
                        <a:rPr lang="en-US" altLang="ko-KR" sz="1400" smtClean="0"/>
                        <a:t>(namenode) </a:t>
                      </a:r>
                      <a:r>
                        <a:rPr lang="ko-KR" altLang="en-US" sz="1400" smtClean="0"/>
                        <a:t>와 </a:t>
                      </a:r>
                      <a:r>
                        <a:rPr lang="en-US" altLang="ko-KR" sz="1400" smtClean="0"/>
                        <a:t>YARN</a:t>
                      </a:r>
                    </a:p>
                    <a:p>
                      <a:pPr latinLnBrk="1"/>
                      <a:r>
                        <a:rPr lang="ko-KR" altLang="en-US" sz="1400" smtClean="0"/>
                        <a:t>리소스 매니저</a:t>
                      </a:r>
                      <a:r>
                        <a:rPr lang="en-US" altLang="ko-KR" sz="1400" smtClean="0"/>
                        <a:t>(resource manager)</a:t>
                      </a:r>
                      <a:r>
                        <a:rPr lang="ko-KR" altLang="en-US" sz="1400" smtClean="0"/>
                        <a:t>의 위치를 설정한다</a:t>
                      </a:r>
                      <a:r>
                        <a:rPr lang="en-US" altLang="ko-KR" sz="1400" smtClean="0"/>
                        <a:t>.</a:t>
                      </a:r>
                      <a:endParaRPr lang="ko-KR" altLang="en-US" sz="1400"/>
                    </a:p>
                  </a:txBody>
                  <a:tcPr anchor="ctr"/>
                </a:tc>
              </a:tr>
              <a:tr h="932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클러스터모드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/>
                        <a:t>hadoop-cluster.xml</a:t>
                      </a:r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mtClean="0"/>
                        <a:t>클러스터의 네임노드와 </a:t>
                      </a:r>
                      <a:r>
                        <a:rPr lang="en-US" altLang="ko-KR" sz="1400" smtClean="0"/>
                        <a:t>YARN </a:t>
                      </a:r>
                      <a:r>
                        <a:rPr lang="ko-KR" altLang="en-US" sz="1400" smtClean="0"/>
                        <a:t>리소스 매니저의 주소를 가진다</a:t>
                      </a:r>
                      <a:r>
                        <a:rPr lang="en-US" altLang="ko-KR" sz="1400" smtClean="0"/>
                        <a:t>. </a:t>
                      </a:r>
                      <a:r>
                        <a:rPr lang="ko-KR" altLang="en-US" sz="1400" smtClean="0"/>
                        <a:t>실무에서는 예제에 사용된 ‘</a:t>
                      </a:r>
                      <a:r>
                        <a:rPr lang="en-US" altLang="ko-KR" sz="1400" smtClean="0"/>
                        <a:t>cluster’</a:t>
                      </a:r>
                      <a:r>
                        <a:rPr lang="ko-KR" altLang="en-US" sz="1400" smtClean="0"/>
                        <a:t>라는 이름 대신 실제 클러스터의 이름을 사용할 것을 권장한다</a:t>
                      </a:r>
                      <a:r>
                        <a:rPr lang="en-US" altLang="ko-KR" sz="1400" smtClean="0"/>
                        <a:t>.</a:t>
                      </a:r>
                      <a:endParaRPr lang="ko-KR" altLang="en-US" sz="140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모서리가 둥근 사각형 설명선 7"/>
          <p:cNvSpPr/>
          <p:nvPr/>
        </p:nvSpPr>
        <p:spPr>
          <a:xfrm>
            <a:off x="4448944" y="5071535"/>
            <a:ext cx="3240360" cy="589714"/>
          </a:xfrm>
          <a:prstGeom prst="wedgeRoundRectCallout">
            <a:avLst>
              <a:gd name="adj1" fmla="val -38028"/>
              <a:gd name="adj2" fmla="val -1139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b="1" smtClean="0">
                <a:solidFill>
                  <a:prstClr val="white"/>
                </a:solidFill>
              </a:rPr>
              <a:t>다수의 클러스터 환경일 때 적합</a:t>
            </a:r>
            <a:endParaRPr lang="ko-KR" altLang="en-US" sz="1400" b="1">
              <a:solidFill>
                <a:prstClr val="white"/>
              </a:solidFill>
            </a:endParaRPr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943033" y="4967984"/>
            <a:ext cx="2592288" cy="1211562"/>
          </a:xfrm>
          <a:prstGeom prst="wedgeRoundRectCallout">
            <a:avLst>
              <a:gd name="adj1" fmla="val -49203"/>
              <a:gd name="adj2" fmla="val -1440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b="1" smtClean="0">
                <a:solidFill>
                  <a:prstClr val="black"/>
                </a:solidFill>
              </a:rPr>
              <a:t>하둡의 기본 클러스터 설정 파일은</a:t>
            </a:r>
            <a:endParaRPr lang="en-US" altLang="ko-KR" b="1" smtClean="0">
              <a:solidFill>
                <a:prstClr val="black"/>
              </a:solidFill>
            </a:endParaRP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b="1" smtClean="0">
                <a:solidFill>
                  <a:prstClr val="black"/>
                </a:solidFill>
              </a:rPr>
              <a:t>core-site.xml</a:t>
            </a:r>
            <a:endParaRPr lang="ko-KR" altLang="en-US" b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07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5.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200235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맵리듀스 실행 환경 설정 예시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0512" y="6354341"/>
            <a:ext cx="1678665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en-US" altLang="ko-KR" sz="1400" b="1" smtClean="0">
                <a:solidFill>
                  <a:prstClr val="black"/>
                </a:solidFill>
              </a:rPr>
              <a:t> 208~209 </a:t>
            </a:r>
            <a:r>
              <a:rPr lang="ko-KR" altLang="en-US" sz="1400" b="1" smtClean="0">
                <a:solidFill>
                  <a:prstClr val="black"/>
                </a:solidFill>
              </a:rPr>
              <a:t>페이지</a:t>
            </a:r>
            <a:endParaRPr lang="ko-KR" altLang="en-US" sz="1400" b="1">
              <a:solidFill>
                <a:prstClr val="black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1" y="3789040"/>
            <a:ext cx="2942596" cy="26214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148" y="1598970"/>
            <a:ext cx="3462949" cy="294350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921" y="4542476"/>
            <a:ext cx="2925210" cy="9171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136" y="2551033"/>
            <a:ext cx="3333750" cy="3771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1261024" y="3438175"/>
            <a:ext cx="978153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ko-KR" altLang="en-US" sz="1400" b="1">
                <a:solidFill>
                  <a:prstClr val="black"/>
                </a:solidFill>
              </a:rPr>
              <a:t>로컬모드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795306" y="5408747"/>
            <a:ext cx="1337226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ko-KR" altLang="en-US" sz="1400" b="1">
                <a:solidFill>
                  <a:prstClr val="black"/>
                </a:solidFill>
              </a:rPr>
              <a:t>의사분산모드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175398" y="2200168"/>
            <a:ext cx="1337226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ct val="30000"/>
              </a:spcBef>
              <a:buFontTx/>
              <a:buChar char="•"/>
            </a:pPr>
            <a:r>
              <a:rPr lang="ko-KR" altLang="en-US" sz="1400" b="1">
                <a:solidFill>
                  <a:prstClr val="black"/>
                </a:solidFill>
              </a:rPr>
              <a:t>클러스터모드</a:t>
            </a:r>
          </a:p>
        </p:txBody>
      </p:sp>
    </p:spTree>
    <p:extLst>
      <p:ext uri="{BB962C8B-B14F-4D97-AF65-F5344CB8AC3E}">
        <p14:creationId xmlns:p14="http://schemas.microsoft.com/office/powerpoint/2010/main" val="165963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5.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2307363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주요 하둡 설정 파일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27045"/>
              </p:ext>
            </p:extLst>
          </p:nvPr>
        </p:nvGraphicFramePr>
        <p:xfrm>
          <a:off x="560761" y="1732197"/>
          <a:ext cx="8568952" cy="4807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11"/>
                <a:gridCol w="2268252"/>
                <a:gridCol w="486078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구분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설정 파일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기능</a:t>
                      </a:r>
                      <a:endParaRPr lang="ko-KR" altLang="en-US" sz="1400"/>
                    </a:p>
                  </a:txBody>
                  <a:tcPr/>
                </a:tc>
              </a:tr>
              <a:tr h="15007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/home/hadoop/.bashrc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하둡을 위한 리눅스 환경설정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JAVA_HOME,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HADOOP_HOME, PATH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/>
                </a:tc>
              </a:tr>
              <a:tr h="36808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hadoop-env.sh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하둡의 환경설정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.bashrc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중복되는 설정도 있음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JAVA_HOME,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HADOOP_PREFIX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JDK_OPTS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90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core-site.xml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 공통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네임노드 스킴 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90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log4j.properties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 로그 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78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관련된 속성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네임노드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세컨드노드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데이터노드의 각종 포트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파일의 위치 지정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48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MapReduce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mapred-site.xml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MapReduce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애플리케이션 환경 설정</a:t>
                      </a:r>
                      <a:endParaRPr lang="en-US" altLang="ko-KR" sz="12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프레임워크 설정 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YARN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잡히스토리 서버 등 관련 데몬 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66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관련된 속성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리소스매니저 노드 지정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YARN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포트 및 파일의 위치 지정</a:t>
                      </a:r>
                      <a:endParaRPr lang="en-US" altLang="ko-KR" sz="12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Vcores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66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slaves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설정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노드매니저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데이터노드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한 줄에 하나씩 호스트명을 지정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03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0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1_Office 테마">
  <a:themeElements>
    <a:clrScheme name="14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4_Office 테마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4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6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2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2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2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2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2033</TotalTime>
  <Words>2210</Words>
  <Application>Microsoft Office PowerPoint</Application>
  <PresentationFormat>A4 용지(210x297mm)</PresentationFormat>
  <Paragraphs>532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13</vt:i4>
      </vt:variant>
      <vt:variant>
        <vt:lpstr>슬라이드 제목</vt:lpstr>
      </vt:variant>
      <vt:variant>
        <vt:i4>19</vt:i4>
      </vt:variant>
    </vt:vector>
  </HeadingPairs>
  <TitlesOfParts>
    <vt:vector size="40" baseType="lpstr">
      <vt:lpstr>@산돌퍼즐Bk</vt:lpstr>
      <vt:lpstr>Arials</vt:lpstr>
      <vt:lpstr>HY태고딕</vt:lpstr>
      <vt:lpstr>굴림</vt:lpstr>
      <vt:lpstr>나눔고딕</vt:lpstr>
      <vt:lpstr>맑은 고딕</vt:lpstr>
      <vt:lpstr>Arial</vt:lpstr>
      <vt:lpstr>Wingdings</vt:lpstr>
      <vt:lpstr>디자인 사용자 지정</vt:lpstr>
      <vt:lpstr>17_Office 테마</vt:lpstr>
      <vt:lpstr>18_Office 테마</vt:lpstr>
      <vt:lpstr>19_Office 테마</vt:lpstr>
      <vt:lpstr>20_Office 테마</vt:lpstr>
      <vt:lpstr>21_Office 테마</vt:lpstr>
      <vt:lpstr>22_Office 테마</vt:lpstr>
      <vt:lpstr>23_Office 테마</vt:lpstr>
      <vt:lpstr>6_디자인 사용자 지정</vt:lpstr>
      <vt:lpstr>24_Office 테마</vt:lpstr>
      <vt:lpstr>25_Office 테마</vt:lpstr>
      <vt:lpstr>26_Office 테마</vt:lpstr>
      <vt:lpstr>27_Office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리소스매니저와 노드매니저</vt:lpstr>
      <vt:lpstr>클러스터 자원 할당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user</cp:lastModifiedBy>
  <cp:revision>195</cp:revision>
  <dcterms:created xsi:type="dcterms:W3CDTF">2012-04-02T02:40:52Z</dcterms:created>
  <dcterms:modified xsi:type="dcterms:W3CDTF">2017-08-18T03:03:30Z</dcterms:modified>
</cp:coreProperties>
</file>