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  <p:sldMasterId id="2147483831" r:id="rId2"/>
    <p:sldMasterId id="2147483907" r:id="rId3"/>
    <p:sldMasterId id="2147483926" r:id="rId4"/>
  </p:sldMasterIdLst>
  <p:notesMasterIdLst>
    <p:notesMasterId r:id="rId34"/>
  </p:notesMasterIdLst>
  <p:sldIdLst>
    <p:sldId id="606" r:id="rId5"/>
    <p:sldId id="797" r:id="rId6"/>
    <p:sldId id="818" r:id="rId7"/>
    <p:sldId id="824" r:id="rId8"/>
    <p:sldId id="823" r:id="rId9"/>
    <p:sldId id="825" r:id="rId10"/>
    <p:sldId id="826" r:id="rId11"/>
    <p:sldId id="810" r:id="rId12"/>
    <p:sldId id="827" r:id="rId13"/>
    <p:sldId id="828" r:id="rId14"/>
    <p:sldId id="834" r:id="rId15"/>
    <p:sldId id="835" r:id="rId16"/>
    <p:sldId id="836" r:id="rId17"/>
    <p:sldId id="829" r:id="rId18"/>
    <p:sldId id="830" r:id="rId19"/>
    <p:sldId id="831" r:id="rId20"/>
    <p:sldId id="832" r:id="rId21"/>
    <p:sldId id="837" r:id="rId22"/>
    <p:sldId id="839" r:id="rId23"/>
    <p:sldId id="840" r:id="rId24"/>
    <p:sldId id="842" r:id="rId25"/>
    <p:sldId id="841" r:id="rId26"/>
    <p:sldId id="844" r:id="rId27"/>
    <p:sldId id="843" r:id="rId28"/>
    <p:sldId id="846" r:id="rId29"/>
    <p:sldId id="847" r:id="rId30"/>
    <p:sldId id="845" r:id="rId31"/>
    <p:sldId id="848" r:id="rId32"/>
    <p:sldId id="640" r:id="rId33"/>
  </p:sldIdLst>
  <p:sldSz cx="9906000" cy="6858000" type="A4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754">
          <p15:clr>
            <a:srgbClr val="A4A3A4"/>
          </p15:clr>
        </p15:guide>
        <p15:guide id="3" orient="horz" pos="119">
          <p15:clr>
            <a:srgbClr val="A4A3A4"/>
          </p15:clr>
        </p15:guide>
        <p15:guide id="4" orient="horz" pos="4156">
          <p15:clr>
            <a:srgbClr val="A4A3A4"/>
          </p15:clr>
        </p15:guide>
        <p15:guide id="5" orient="horz" pos="1094">
          <p15:clr>
            <a:srgbClr val="A4A3A4"/>
          </p15:clr>
        </p15:guide>
        <p15:guide id="6" pos="3120">
          <p15:clr>
            <a:srgbClr val="A4A3A4"/>
          </p15:clr>
        </p15:guide>
        <p15:guide id="7" pos="262">
          <p15:clr>
            <a:srgbClr val="A4A3A4"/>
          </p15:clr>
        </p15:guide>
        <p15:guide id="8" pos="5978">
          <p15:clr>
            <a:srgbClr val="A4A3A4"/>
          </p15:clr>
        </p15:guide>
        <p15:guide id="9" pos="512">
          <p15:clr>
            <a:srgbClr val="A4A3A4"/>
          </p15:clr>
        </p15:guide>
        <p15:guide id="10" pos="57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3366FF"/>
    <a:srgbClr val="6699FF"/>
    <a:srgbClr val="FFCC66"/>
    <a:srgbClr val="FFCC00"/>
    <a:srgbClr val="FFFF99"/>
    <a:srgbClr val="D5FFFF"/>
    <a:srgbClr val="97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507" autoAdjust="0"/>
  </p:normalViewPr>
  <p:slideViewPr>
    <p:cSldViewPr>
      <p:cViewPr varScale="1">
        <p:scale>
          <a:sx n="57" d="100"/>
          <a:sy n="57" d="100"/>
        </p:scale>
        <p:origin x="78" y="180"/>
      </p:cViewPr>
      <p:guideLst>
        <p:guide orient="horz" pos="2160"/>
        <p:guide orient="horz" pos="754"/>
        <p:guide orient="horz" pos="119"/>
        <p:guide orient="horz" pos="4156"/>
        <p:guide orient="horz" pos="1094"/>
        <p:guide pos="3120"/>
        <p:guide pos="262"/>
        <p:guide pos="5978"/>
        <p:guide pos="512"/>
        <p:guide pos="57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-282"/>
    </p:cViewPr>
  </p:sorterViewPr>
  <p:notesViewPr>
    <p:cSldViewPr>
      <p:cViewPr varScale="1">
        <p:scale>
          <a:sx n="74" d="100"/>
          <a:sy n="74" d="100"/>
        </p:scale>
        <p:origin x="-2160" y="-90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3C029BE-C82E-4FB1-B7D4-E69216A72B62}" type="datetimeFigureOut">
              <a:rPr lang="ko-KR" altLang="en-US"/>
              <a:pPr>
                <a:defRPr/>
              </a:pPr>
              <a:t>2017-08-18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170C6F2-6D24-47FB-891E-C9A430C56FE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9835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2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54088" y="687388"/>
            <a:ext cx="4949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1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06" tIns="46003" rIns="92006" bIns="46003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271364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06" tIns="46003" rIns="92006" bIns="46003" anchor="b"/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2F8520FC-5CA9-465B-B276-6C24522549B9}" type="slidenum">
              <a:rPr kumimoji="0" lang="ko-KR" altLang="en-US" sz="1200" b="0">
                <a:solidFill>
                  <a:srgbClr val="000000"/>
                </a:solidFill>
              </a:rPr>
              <a:pPr algn="r" eaLnBrk="1" hangingPunct="1"/>
              <a:t>3</a:t>
            </a:fld>
            <a:endParaRPr kumimoji="0" lang="en-US" altLang="ko-KR" sz="1200" b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710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014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9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6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766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58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8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599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9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1535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10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974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11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705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12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9254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066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763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577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16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5207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4763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18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8290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19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4480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20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3423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21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9911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22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6979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3133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5500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700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26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2006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8171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28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304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17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6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890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55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039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369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61929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22455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543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044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3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/>
          </p:spPr>
          <p:txBody>
            <a:bodyPr wrap="none" lIns="144000" rIns="144000" anchor="ctr"/>
            <a:lstStyle/>
            <a:p>
              <a:pPr marL="825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en-US" altLang="ko-KR" sz="1500" dirty="0">
                <a:solidFill>
                  <a:schemeClr val="bg1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ko-KR" altLang="en-US" sz="150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D8229318-82E5-4D2F-A3BA-2BC57308161C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197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schemeClr val="bg1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8E2153C7-255E-4F42-A84F-D8447C71E52E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364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5258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893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61643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9340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1730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049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5381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477787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974411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4882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5094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3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/>
          </p:spPr>
          <p:txBody>
            <a:bodyPr wrap="none" lIns="144000" rIns="144000" anchor="ctr"/>
            <a:lstStyle/>
            <a:p>
              <a:pPr marL="8255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1500" dirty="0">
                <a:solidFill>
                  <a:srgbClr val="FFFFFF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00000"/>
                </a:solidFill>
              </a:rPr>
              <a:t>- </a:t>
            </a:r>
            <a:fld id="{D8229318-82E5-4D2F-A3BA-2BC57308161C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000000"/>
                </a:solidFill>
              </a:rPr>
              <a:t> - </a:t>
            </a: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8725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prstClr val="white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8E2153C7-255E-4F42-A84F-D8447C71E52E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3431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93" y="704850"/>
            <a:ext cx="8567210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391733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 smtClean="0">
                <a:solidFill>
                  <a:prstClr val="black"/>
                </a:solidFill>
              </a:rPr>
              <a:t>- </a:t>
            </a:r>
            <a:fld id="{BD009CB1-CD95-8244-A750-7E7B63629FF5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 smtClean="0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42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그림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904412" cy="630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7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- </a:t>
            </a:r>
            <a:fld id="{1A9F97D4-C3CF-42AA-AA6A-7F45AF120A1D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그림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904412" cy="630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0704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  <p:sldLayoutId id="214748391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1A9F97D4-C3CF-42AA-AA6A-7F45AF120A1D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7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28" r:id="rId2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namenode.hadoop.kr:50070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secondnode.hadoop.kr:50090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secondnode.hadoop.kr:8088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secondnode.hadoop.kr:8088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hyperlink" Target="http://datanode1.hadoop.kr:8042/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hyperlink" Target="http://secondnode.hadoop.kr:50090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client.hadoop.kr:4040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2"/>
          <p:cNvSpPr>
            <a:spLocks/>
          </p:cNvSpPr>
          <p:nvPr/>
        </p:nvSpPr>
        <p:spPr bwMode="auto">
          <a:xfrm>
            <a:off x="812800" y="1736725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4400" b="1" smtClean="0">
                <a:solidFill>
                  <a:schemeClr val="tx2"/>
                </a:solidFill>
              </a:rPr>
              <a:t># Spark </a:t>
            </a:r>
            <a:r>
              <a:rPr lang="ko-KR" altLang="en-US" sz="4400" b="1" smtClean="0">
                <a:solidFill>
                  <a:schemeClr val="tx2"/>
                </a:solidFill>
              </a:rPr>
              <a:t>설치</a:t>
            </a:r>
            <a:endParaRPr lang="ko-KR" altLang="en-US" sz="4400" b="1" dirty="0">
              <a:solidFill>
                <a:schemeClr val="tx2"/>
              </a:solidFill>
            </a:endParaRPr>
          </a:p>
        </p:txBody>
      </p:sp>
      <p:sp>
        <p:nvSpPr>
          <p:cNvPr id="7171" name="제목 2"/>
          <p:cNvSpPr>
            <a:spLocks/>
          </p:cNvSpPr>
          <p:nvPr/>
        </p:nvSpPr>
        <p:spPr bwMode="auto">
          <a:xfrm>
            <a:off x="415925" y="6334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000" b="1" smtClean="0">
                <a:solidFill>
                  <a:schemeClr val="bg1"/>
                </a:solidFill>
              </a:rPr>
              <a:t>[ </a:t>
            </a:r>
            <a:r>
              <a:rPr lang="ko-KR" altLang="en-US" sz="3000" b="1" smtClean="0">
                <a:solidFill>
                  <a:schemeClr val="bg1"/>
                </a:solidFill>
              </a:rPr>
              <a:t>빅데이터 플랫폼 </a:t>
            </a:r>
            <a:r>
              <a:rPr lang="en-US" altLang="ko-KR" sz="3000" b="1" smtClean="0">
                <a:solidFill>
                  <a:schemeClr val="bg1"/>
                </a:solidFill>
              </a:rPr>
              <a:t>]</a:t>
            </a:r>
            <a:endParaRPr lang="ko-KR" altLang="en-US" sz="3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18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2800" b="1" smtClean="0">
                <a:solidFill>
                  <a:srgbClr val="FFFFFF"/>
                </a:solidFill>
              </a:rPr>
              <a:t># </a:t>
            </a:r>
            <a:r>
              <a:rPr lang="ko-KR" altLang="en-US" sz="2800" b="1" smtClean="0">
                <a:solidFill>
                  <a:srgbClr val="FFFFFF"/>
                </a:solidFill>
              </a:rPr>
              <a:t>실습 환경</a:t>
            </a:r>
            <a:endParaRPr kumimoji="0" lang="ko-KR" altLang="en-US" sz="3000" b="1" dirty="0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40061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전체 구성도</a:t>
            </a:r>
            <a:r>
              <a:rPr lang="en-US" altLang="ko-KR" b="1" smtClean="0"/>
              <a:t>(</a:t>
            </a:r>
            <a:r>
              <a:rPr lang="ko-KR" altLang="en-US" b="1" smtClean="0"/>
              <a:t>실제 실습 환경</a:t>
            </a:r>
            <a:r>
              <a:rPr lang="en-US" altLang="ko-KR" b="1" smtClean="0"/>
              <a:t>)</a:t>
            </a:r>
            <a:endParaRPr lang="ko-KR" altLang="en-US" b="1" dirty="0"/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668524" y="4617132"/>
            <a:ext cx="1548172" cy="1944214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인프라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2550600" y="4617132"/>
            <a:ext cx="6650871" cy="1944215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spcAft>
                <a:spcPts val="100"/>
              </a:spcAft>
              <a:buClr>
                <a:srgbClr val="00BDFA"/>
              </a:buClr>
              <a:buNone/>
              <a:defRPr/>
            </a:pPr>
            <a:endParaRPr lang="ko-KR" altLang="en-US" sz="1050" b="1" dirty="0">
              <a:latin typeface="+mn-ea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2792760" y="6057292"/>
            <a:ext cx="6192688" cy="3651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ko-KR" altLang="en-US" sz="1200" b="1" smtClean="0">
                <a:solidFill>
                  <a:schemeClr val="tx1"/>
                </a:solidFill>
                <a:latin typeface="+mn-ea"/>
              </a:rPr>
              <a:t>가상화 환경 </a:t>
            </a: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1" smtClean="0">
                <a:solidFill>
                  <a:schemeClr val="tx1"/>
                </a:solidFill>
                <a:latin typeface="+mn-ea"/>
              </a:rPr>
              <a:t>오라클 </a:t>
            </a: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Virtual Box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4376110" y="5265204"/>
            <a:ext cx="1654620" cy="674190"/>
            <a:chOff x="2792760" y="5268356"/>
            <a:chExt cx="1654620" cy="674190"/>
          </a:xfrm>
        </p:grpSpPr>
        <p:pic>
          <p:nvPicPr>
            <p:cNvPr id="10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직사각형 2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1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2756756" y="5265204"/>
            <a:ext cx="1619354" cy="674190"/>
            <a:chOff x="2792760" y="5268356"/>
            <a:chExt cx="1619354" cy="674190"/>
          </a:xfrm>
        </p:grpSpPr>
        <p:pic>
          <p:nvPicPr>
            <p:cNvPr id="16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직사각형 16"/>
            <p:cNvSpPr/>
            <p:nvPr/>
          </p:nvSpPr>
          <p:spPr>
            <a:xfrm>
              <a:off x="2792760" y="5665547"/>
              <a:ext cx="16193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의사모드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5938711" y="5265204"/>
            <a:ext cx="1654620" cy="674190"/>
            <a:chOff x="2792760" y="5268356"/>
            <a:chExt cx="1654620" cy="674190"/>
          </a:xfrm>
        </p:grpSpPr>
        <p:pic>
          <p:nvPicPr>
            <p:cNvPr id="19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직사각형 19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2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7444559" y="5265204"/>
            <a:ext cx="1654620" cy="674190"/>
            <a:chOff x="2792760" y="5268356"/>
            <a:chExt cx="1654620" cy="674190"/>
          </a:xfrm>
        </p:grpSpPr>
        <p:pic>
          <p:nvPicPr>
            <p:cNvPr id="22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900359" y="5268356"/>
              <a:ext cx="1404156" cy="397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직사각형 22"/>
            <p:cNvSpPr/>
            <p:nvPr/>
          </p:nvSpPr>
          <p:spPr>
            <a:xfrm>
              <a:off x="2792760" y="5665547"/>
              <a:ext cx="165462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: 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클러스터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3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4" name="직선 연결선 23"/>
          <p:cNvCxnSpPr/>
          <p:nvPr/>
        </p:nvCxnSpPr>
        <p:spPr bwMode="auto">
          <a:xfrm flipH="1">
            <a:off x="2915962" y="5013176"/>
            <a:ext cx="6069486" cy="1"/>
          </a:xfrm>
          <a:prstGeom prst="line">
            <a:avLst/>
          </a:prstGeom>
          <a:ln w="50800" cmpd="thickThin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Picture 4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824" y="4666994"/>
            <a:ext cx="369761" cy="182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" name="직선 연결선 28"/>
          <p:cNvCxnSpPr>
            <a:endCxn id="26" idx="2"/>
          </p:cNvCxnSpPr>
          <p:nvPr/>
        </p:nvCxnSpPr>
        <p:spPr>
          <a:xfrm flipV="1">
            <a:off x="5950704" y="4849395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3566432" y="5067444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V="1">
            <a:off x="5203420" y="5082271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V="1">
            <a:off x="6748387" y="5082271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 flipV="1">
            <a:off x="8254235" y="5087400"/>
            <a:ext cx="1" cy="138811"/>
          </a:xfrm>
          <a:prstGeom prst="line">
            <a:avLst/>
          </a:prstGeom>
          <a:ln w="47625" cmpd="dbl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80"/>
          <p:cNvSpPr>
            <a:spLocks noChangeArrowheads="1"/>
          </p:cNvSpPr>
          <p:nvPr/>
        </p:nvSpPr>
        <p:spPr bwMode="auto">
          <a:xfrm>
            <a:off x="6118923" y="4650546"/>
            <a:ext cx="12589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0" latin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200" b="1" smtClean="0">
                <a:solidFill>
                  <a:srgbClr val="C00000"/>
                </a:solidFill>
              </a:rPr>
              <a:t>[ Network ]</a:t>
            </a:r>
            <a:endParaRPr lang="en-US" altLang="ko-KR" sz="800" b="1" dirty="0">
              <a:solidFill>
                <a:srgbClr val="000000"/>
              </a:solidFill>
            </a:endParaRPr>
          </a:p>
        </p:txBody>
      </p:sp>
      <p:sp>
        <p:nvSpPr>
          <p:cNvPr id="38" name="모서리가 둥근 직사각형 37"/>
          <p:cNvSpPr/>
          <p:nvPr/>
        </p:nvSpPr>
        <p:spPr bwMode="auto">
          <a:xfrm>
            <a:off x="668524" y="2540638"/>
            <a:ext cx="1548172" cy="975974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Apache </a:t>
            </a: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Hadoop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668524" y="3575560"/>
            <a:ext cx="8532947" cy="982623"/>
            <a:chOff x="668524" y="3575560"/>
            <a:chExt cx="8532947" cy="982623"/>
          </a:xfrm>
        </p:grpSpPr>
        <p:sp>
          <p:nvSpPr>
            <p:cNvPr id="44" name="직사각형 43"/>
            <p:cNvSpPr/>
            <p:nvPr/>
          </p:nvSpPr>
          <p:spPr bwMode="auto">
            <a:xfrm>
              <a:off x="4739631" y="3575560"/>
              <a:ext cx="4461840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43" name="직사각형 42"/>
            <p:cNvSpPr/>
            <p:nvPr/>
          </p:nvSpPr>
          <p:spPr bwMode="auto">
            <a:xfrm>
              <a:off x="2550601" y="3575560"/>
              <a:ext cx="2078364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37" name="모서리가 둥근 직사각형 36"/>
            <p:cNvSpPr/>
            <p:nvPr/>
          </p:nvSpPr>
          <p:spPr bwMode="auto">
            <a:xfrm>
              <a:off x="668524" y="3575561"/>
              <a:ext cx="1548172" cy="982622"/>
            </a:xfrm>
            <a:prstGeom prst="roundRect">
              <a:avLst>
                <a:gd name="adj" fmla="val 0"/>
              </a:avLst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anchor="ctr"/>
            <a:lstStyle/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Operating</a:t>
              </a:r>
            </a:p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System</a:t>
              </a:r>
              <a:endParaRPr lang="ko-KR" alt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39" name="모서리가 둥근 직사각형 38"/>
            <p:cNvSpPr/>
            <p:nvPr/>
          </p:nvSpPr>
          <p:spPr>
            <a:xfrm>
              <a:off x="2658613" y="3681168"/>
              <a:ext cx="1825510" cy="782202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dirty="0" smtClean="0">
                  <a:solidFill>
                    <a:schemeClr val="tx1"/>
                  </a:solidFill>
                  <a:latin typeface="+mn-ea"/>
                </a:rPr>
                <a:t>CentOS 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+mn-ea"/>
                </a:rPr>
                <a:t>6.X</a:t>
              </a:r>
              <a:endParaRPr lang="en-US" altLang="ko-KR" sz="1200" b="1" dirty="0" smtClean="0">
                <a:solidFill>
                  <a:schemeClr val="tx1"/>
                </a:solidFill>
                <a:latin typeface="+mn-ea"/>
              </a:endParaRP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dirty="0" smtClean="0">
                  <a:solidFill>
                    <a:schemeClr val="tx1"/>
                  </a:solidFill>
                  <a:latin typeface="+mn-ea"/>
                </a:rPr>
                <a:t>32</a:t>
              </a:r>
              <a:r>
                <a:rPr lang="ko-KR" altLang="en-US" sz="1200" b="1" dirty="0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4818026" y="3673816"/>
              <a:ext cx="1336296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CentOS 7.5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64</a:t>
              </a:r>
              <a:r>
                <a:rPr lang="ko-KR" altLang="en-US" sz="1200" b="1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1" name="모서리가 둥근 직사각형 40"/>
            <p:cNvSpPr/>
            <p:nvPr/>
          </p:nvSpPr>
          <p:spPr>
            <a:xfrm>
              <a:off x="6226935" y="3681169"/>
              <a:ext cx="1325636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CentOS 7.5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64</a:t>
              </a:r>
              <a:r>
                <a:rPr lang="ko-KR" altLang="en-US" sz="1200" b="1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모서리가 둥근 직사각형 41"/>
            <p:cNvSpPr/>
            <p:nvPr/>
          </p:nvSpPr>
          <p:spPr>
            <a:xfrm>
              <a:off x="7625184" y="3686956"/>
              <a:ext cx="1360264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CentOS 7.5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64</a:t>
              </a:r>
              <a:r>
                <a:rPr lang="ko-KR" altLang="en-US" sz="1200" b="1" smtClean="0">
                  <a:solidFill>
                    <a:schemeClr val="tx1"/>
                  </a:solidFill>
                  <a:latin typeface="+mn-ea"/>
                </a:rPr>
                <a:t>비트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45" name="직사각형 44"/>
          <p:cNvSpPr/>
          <p:nvPr/>
        </p:nvSpPr>
        <p:spPr bwMode="auto">
          <a:xfrm>
            <a:off x="2550599" y="2540638"/>
            <a:ext cx="6650871" cy="982623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  <a:effectLst/>
        </p:spPr>
        <p:txBody>
          <a:bodyPr lIns="36000" tIns="36000" rIns="36000" bIns="36000" anchorCtr="1"/>
          <a:lstStyle/>
          <a:p>
            <a:pPr algn="ctr" latinLnBrk="0">
              <a:spcAft>
                <a:spcPts val="100"/>
              </a:spcAft>
              <a:buClr>
                <a:srgbClr val="00BDFA"/>
              </a:buClr>
              <a:buNone/>
              <a:defRPr/>
            </a:pPr>
            <a:endParaRPr lang="ko-KR" altLang="en-US" sz="1050" b="1" dirty="0">
              <a:latin typeface="+mn-ea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2794856" y="2670900"/>
            <a:ext cx="2023170" cy="36105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HDFS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4818026" y="2670900"/>
            <a:ext cx="2043186" cy="36105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MapReduce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6861212" y="2667183"/>
            <a:ext cx="1944216" cy="36105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Yarn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2792760" y="3028234"/>
            <a:ext cx="6012668" cy="36512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00000"/>
              </a:lnSpc>
              <a:buNone/>
              <a:defRPr/>
            </a:pPr>
            <a:r>
              <a:rPr lang="en-US" altLang="ko-KR" sz="1200" b="1" smtClean="0">
                <a:solidFill>
                  <a:schemeClr val="tx1"/>
                </a:solidFill>
                <a:latin typeface="+mn-ea"/>
              </a:rPr>
              <a:t>Apache Hadoop 2.X</a:t>
            </a:r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51" name="그룹 50"/>
          <p:cNvGrpSpPr/>
          <p:nvPr/>
        </p:nvGrpSpPr>
        <p:grpSpPr>
          <a:xfrm>
            <a:off x="668524" y="1510273"/>
            <a:ext cx="8532947" cy="982623"/>
            <a:chOff x="668524" y="3575560"/>
            <a:chExt cx="8532947" cy="982623"/>
          </a:xfrm>
        </p:grpSpPr>
        <p:sp>
          <p:nvSpPr>
            <p:cNvPr id="52" name="직사각형 51"/>
            <p:cNvSpPr/>
            <p:nvPr/>
          </p:nvSpPr>
          <p:spPr bwMode="auto">
            <a:xfrm>
              <a:off x="4739631" y="3575560"/>
              <a:ext cx="4461840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 bwMode="auto">
            <a:xfrm>
              <a:off x="2550601" y="3575560"/>
              <a:ext cx="2078364" cy="982623"/>
            </a:xfrm>
            <a:prstGeom prst="rect">
              <a:avLst/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chemeClr val="bg1">
                  <a:lumMod val="50000"/>
                </a:schemeClr>
              </a:solidFill>
            </a:ln>
            <a:effectLst/>
          </p:spPr>
          <p:txBody>
            <a:bodyPr lIns="36000" tIns="36000" rIns="36000" bIns="36000" anchorCtr="1"/>
            <a:lstStyle/>
            <a:p>
              <a:pPr algn="ctr" latinLnBrk="0">
                <a:spcAft>
                  <a:spcPts val="100"/>
                </a:spcAft>
                <a:buClr>
                  <a:srgbClr val="00BDFA"/>
                </a:buClr>
                <a:buNone/>
                <a:defRPr/>
              </a:pPr>
              <a:endParaRPr lang="ko-KR" altLang="en-US" sz="1050" b="1" dirty="0">
                <a:latin typeface="+mn-ea"/>
              </a:endParaRPr>
            </a:p>
          </p:txBody>
        </p:sp>
        <p:sp>
          <p:nvSpPr>
            <p:cNvPr id="54" name="모서리가 둥근 직사각형 53"/>
            <p:cNvSpPr/>
            <p:nvPr/>
          </p:nvSpPr>
          <p:spPr bwMode="auto">
            <a:xfrm>
              <a:off x="668524" y="3575561"/>
              <a:ext cx="1548172" cy="982622"/>
            </a:xfrm>
            <a:prstGeom prst="roundRect">
              <a:avLst>
                <a:gd name="adj" fmla="val 0"/>
              </a:avLst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36000" rIns="36000" anchor="ctr"/>
            <a:lstStyle/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Hadoop</a:t>
              </a:r>
            </a:p>
            <a:p>
              <a:pPr algn="ctr" latinLnBrk="0">
                <a:lnSpc>
                  <a:spcPct val="120000"/>
                </a:lnSpc>
                <a:spcBef>
                  <a:spcPct val="30000"/>
                </a:spcBef>
                <a:defRPr/>
              </a:pPr>
              <a:r>
                <a:rPr lang="en-US" altLang="ko-KR" sz="1400" b="1" smtClean="0">
                  <a:solidFill>
                    <a:srgbClr val="000000"/>
                  </a:solidFill>
                </a:rPr>
                <a:t>Ecosystem</a:t>
              </a:r>
              <a:endParaRPr lang="ko-KR" altLang="en-US" sz="1400" b="1" dirty="0">
                <a:solidFill>
                  <a:srgbClr val="000000"/>
                </a:solidFill>
              </a:endParaRPr>
            </a:p>
          </p:txBody>
        </p:sp>
        <p:sp>
          <p:nvSpPr>
            <p:cNvPr id="55" name="모서리가 둥근 직사각형 54"/>
            <p:cNvSpPr/>
            <p:nvPr/>
          </p:nvSpPr>
          <p:spPr>
            <a:xfrm>
              <a:off x="2658613" y="3681168"/>
              <a:ext cx="1825510" cy="782202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Apache Web Server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Mysql DB</a:t>
              </a:r>
            </a:p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PHP Web Language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6" name="모서리가 둥근 직사각형 55"/>
            <p:cNvSpPr/>
            <p:nvPr/>
          </p:nvSpPr>
          <p:spPr>
            <a:xfrm>
              <a:off x="4818026" y="3673816"/>
              <a:ext cx="1336296" cy="77915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Pig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7" name="모서리가 둥근 직사각형 56"/>
            <p:cNvSpPr/>
            <p:nvPr/>
          </p:nvSpPr>
          <p:spPr>
            <a:xfrm>
              <a:off x="6226935" y="3681169"/>
              <a:ext cx="1325636" cy="779150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Hive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7625184" y="3686956"/>
              <a:ext cx="1360264" cy="77915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lnSpc>
                  <a:spcPct val="100000"/>
                </a:lnSpc>
                <a:buNone/>
                <a:defRPr/>
              </a:pPr>
              <a:r>
                <a:rPr lang="en-US" altLang="ko-KR" sz="1200" b="1" smtClean="0">
                  <a:solidFill>
                    <a:schemeClr val="tx1"/>
                  </a:solidFill>
                  <a:latin typeface="+mn-ea"/>
                </a:rPr>
                <a:t>Spark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50" name="구름 모양 설명선 49"/>
          <p:cNvSpPr/>
          <p:nvPr/>
        </p:nvSpPr>
        <p:spPr>
          <a:xfrm>
            <a:off x="5765824" y="329814"/>
            <a:ext cx="2547472" cy="1080120"/>
          </a:xfrm>
          <a:prstGeom prst="cloudCallout">
            <a:avLst>
              <a:gd name="adj1" fmla="val 34322"/>
              <a:gd name="adj2" fmla="val 8914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1600" b="1" smtClean="0">
                <a:solidFill>
                  <a:schemeClr val="tx1"/>
                </a:solidFill>
              </a:rPr>
              <a:t>하둡 기반의</a:t>
            </a:r>
            <a:endParaRPr lang="en-US" altLang="ko-KR" sz="1600" b="1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en-US" altLang="ko-KR" sz="1600" b="1" smtClean="0">
                <a:solidFill>
                  <a:schemeClr val="tx1"/>
                </a:solidFill>
              </a:rPr>
              <a:t>Spark</a:t>
            </a:r>
            <a:endParaRPr lang="ko-KR" altLang="en-US" sz="16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56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TextBox 16"/>
          <p:cNvSpPr txBox="1">
            <a:spLocks noChangeArrowheads="1"/>
          </p:cNvSpPr>
          <p:nvPr/>
        </p:nvSpPr>
        <p:spPr bwMode="auto">
          <a:xfrm>
            <a:off x="2911475" y="1060450"/>
            <a:ext cx="4064000" cy="363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latinLnBrk="0" hangingPunct="1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kumimoji="0" lang="en-US" altLang="ko-KR" sz="1600" smtClean="0">
                <a:solidFill>
                  <a:srgbClr val="000000"/>
                </a:solidFill>
              </a:rPr>
              <a:t>&lt; </a:t>
            </a:r>
            <a:r>
              <a:rPr kumimoji="0" lang="ko-KR" altLang="en-US" sz="1600" smtClean="0">
                <a:solidFill>
                  <a:srgbClr val="000000"/>
                </a:solidFill>
              </a:rPr>
              <a:t>개발</a:t>
            </a:r>
            <a:r>
              <a:rPr kumimoji="0" lang="en-US" altLang="ko-KR" sz="1600" smtClean="0">
                <a:solidFill>
                  <a:srgbClr val="000000"/>
                </a:solidFill>
              </a:rPr>
              <a:t>/</a:t>
            </a:r>
            <a:r>
              <a:rPr kumimoji="0" lang="ko-KR" altLang="en-US" sz="1600" smtClean="0">
                <a:solidFill>
                  <a:srgbClr val="000000"/>
                </a:solidFill>
              </a:rPr>
              <a:t>파일럿 시스템 구성 </a:t>
            </a:r>
            <a:r>
              <a:rPr kumimoji="0" lang="en-US" altLang="ko-KR" sz="1600" smtClean="0">
                <a:solidFill>
                  <a:srgbClr val="000000"/>
                </a:solidFill>
              </a:rPr>
              <a:t>&gt;</a:t>
            </a:r>
            <a:endParaRPr kumimoji="0" lang="ko-KR" altLang="en-US" sz="1600">
              <a:solidFill>
                <a:srgbClr val="000000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 bwMode="auto">
          <a:xfrm>
            <a:off x="415925" y="1447800"/>
            <a:ext cx="9074150" cy="5184775"/>
          </a:xfrm>
          <a:prstGeom prst="roundRect">
            <a:avLst>
              <a:gd name="adj" fmla="val 5382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rgbClr val="FFFFFF"/>
              </a:solidFill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586259" y="4141788"/>
            <a:ext cx="8750516" cy="23241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>
                <a:lumMod val="50000"/>
                <a:lumOff val="50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 latinLnBrk="0">
              <a:spcBef>
                <a:spcPts val="100"/>
              </a:spcBef>
              <a:spcAft>
                <a:spcPts val="100"/>
              </a:spcAft>
              <a:defRPr/>
            </a:pPr>
            <a:endParaRPr lang="ko-KR" altLang="en-US" sz="120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pic>
        <p:nvPicPr>
          <p:cNvPr id="105479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875826" y="4629150"/>
            <a:ext cx="109942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80" name="직사각형 80"/>
          <p:cNvSpPr>
            <a:spLocks noChangeArrowheads="1"/>
          </p:cNvSpPr>
          <p:nvPr/>
        </p:nvSpPr>
        <p:spPr bwMode="auto">
          <a:xfrm>
            <a:off x="764335" y="4957763"/>
            <a:ext cx="169309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/>
            <a:r>
              <a:rPr kumimoji="0" lang="ko-KR" altLang="en-US" sz="1200">
                <a:solidFill>
                  <a:srgbClr val="000000"/>
                </a:solidFill>
              </a:rPr>
              <a:t>마스터 노드 </a:t>
            </a:r>
            <a:r>
              <a:rPr kumimoji="0" lang="en-US" altLang="ko-KR" sz="1200">
                <a:solidFill>
                  <a:srgbClr val="000000"/>
                </a:solidFill>
              </a:rPr>
              <a:t>1</a:t>
            </a:r>
          </a:p>
          <a:p>
            <a:pPr eaLnBrk="0" latinLnBrk="0" hangingPunct="0"/>
            <a:r>
              <a:rPr kumimoji="0" lang="en-US" altLang="ko-KR" sz="800" smtClean="0">
                <a:solidFill>
                  <a:srgbClr val="000000"/>
                </a:solidFill>
              </a:rPr>
              <a:t>x86</a:t>
            </a:r>
            <a:endParaRPr kumimoji="0" lang="en-US" altLang="ko-KR" sz="8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2CPU, 96G RAM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4TB SAS HDD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Linux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FF0000"/>
                </a:solidFill>
              </a:rPr>
              <a:t>NameNode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FF0000"/>
                </a:solidFill>
              </a:rPr>
              <a:t>(Acitve)</a:t>
            </a:r>
            <a:endParaRPr kumimoji="0" lang="en-US" altLang="ko-KR" sz="1000" b="1">
              <a:solidFill>
                <a:srgbClr val="FF0000"/>
              </a:solidFill>
            </a:endParaRP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Metastore(Mysql Server</a:t>
            </a:r>
            <a:r>
              <a:rPr kumimoji="0" lang="en-US" altLang="ko-KR" sz="1000" b="1" smtClean="0">
                <a:solidFill>
                  <a:srgbClr val="FF0000"/>
                </a:solidFill>
              </a:rPr>
              <a:t>)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FF0000"/>
                </a:solidFill>
              </a:rPr>
              <a:t>JobHistory Server</a:t>
            </a:r>
            <a:endParaRPr kumimoji="0" lang="en-US" altLang="ko-KR" sz="1000" b="1">
              <a:solidFill>
                <a:srgbClr val="FF0000"/>
              </a:solidFill>
            </a:endParaRPr>
          </a:p>
        </p:txBody>
      </p:sp>
      <p:sp>
        <p:nvSpPr>
          <p:cNvPr id="105481" name="직사각형 80"/>
          <p:cNvSpPr>
            <a:spLocks noChangeArrowheads="1"/>
          </p:cNvSpPr>
          <p:nvPr/>
        </p:nvSpPr>
        <p:spPr bwMode="auto">
          <a:xfrm>
            <a:off x="2408785" y="4978400"/>
            <a:ext cx="163834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latinLnBrk="0" hangingPunct="0"/>
            <a:r>
              <a:rPr kumimoji="0" lang="ko-KR" altLang="en-US" sz="1200">
                <a:solidFill>
                  <a:srgbClr val="000000"/>
                </a:solidFill>
              </a:rPr>
              <a:t>마스터 노드 </a:t>
            </a:r>
            <a:r>
              <a:rPr kumimoji="0" lang="en-US" altLang="ko-KR" sz="1200">
                <a:solidFill>
                  <a:srgbClr val="000000"/>
                </a:solidFill>
              </a:rPr>
              <a:t>2</a:t>
            </a:r>
          </a:p>
          <a:p>
            <a:pPr eaLnBrk="0" latinLnBrk="0" hangingPunct="0"/>
            <a:r>
              <a:rPr kumimoji="0" lang="en-US" altLang="ko-KR" sz="800" smtClean="0">
                <a:solidFill>
                  <a:srgbClr val="000000"/>
                </a:solidFill>
              </a:rPr>
              <a:t>x86</a:t>
            </a:r>
            <a:endParaRPr kumimoji="0" lang="en-US" altLang="ko-KR" sz="8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2CPU, 96G RAM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4TB SAS HDD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Linux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FF0000"/>
                </a:solidFill>
              </a:rPr>
              <a:t>Secondary NameNode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FF0000"/>
                </a:solidFill>
              </a:rPr>
              <a:t>(Stanby)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FF0000"/>
                </a:solidFill>
              </a:rPr>
              <a:t>ResourceManger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FF0000"/>
                </a:solidFill>
              </a:rPr>
              <a:t>Spark Master</a:t>
            </a:r>
            <a:endParaRPr kumimoji="0" lang="en-US" altLang="ko-KR" sz="1000" b="1">
              <a:solidFill>
                <a:srgbClr val="FF0000"/>
              </a:solidFill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 rot="10800000" flipV="1">
            <a:off x="1013642" y="3854450"/>
            <a:ext cx="7870973" cy="6350"/>
          </a:xfrm>
          <a:prstGeom prst="line">
            <a:avLst/>
          </a:prstGeom>
          <a:ln w="50800" cmpd="thickThin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483" name="직사각형 80"/>
          <p:cNvSpPr>
            <a:spLocks noChangeArrowheads="1"/>
          </p:cNvSpPr>
          <p:nvPr/>
        </p:nvSpPr>
        <p:spPr bwMode="auto">
          <a:xfrm>
            <a:off x="4254483" y="4957763"/>
            <a:ext cx="1202573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/>
            <a:r>
              <a:rPr kumimoji="0" lang="ko-KR" altLang="en-US" sz="1200">
                <a:solidFill>
                  <a:srgbClr val="000000"/>
                </a:solidFill>
              </a:rPr>
              <a:t>데이터 노드</a:t>
            </a:r>
            <a:r>
              <a:rPr kumimoji="0" lang="en-US" altLang="ko-KR" sz="1200">
                <a:solidFill>
                  <a:srgbClr val="000000"/>
                </a:solidFill>
              </a:rPr>
              <a:t> 1 </a:t>
            </a:r>
          </a:p>
          <a:p>
            <a:pPr eaLnBrk="0" latinLnBrk="0" hangingPunct="0"/>
            <a:r>
              <a:rPr kumimoji="0" lang="en-US" altLang="ko-KR" sz="800" smtClean="0">
                <a:solidFill>
                  <a:srgbClr val="000000"/>
                </a:solidFill>
              </a:rPr>
              <a:t>x86</a:t>
            </a:r>
            <a:endParaRPr kumimoji="0" lang="en-US" altLang="ko-KR" sz="8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Linux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DataNode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Nodemanager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Spark Worker</a:t>
            </a:r>
          </a:p>
          <a:p>
            <a:pPr eaLnBrk="0" latinLnBrk="0" hangingPunct="0"/>
            <a:endParaRPr kumimoji="0" lang="en-US" altLang="ko-KR" sz="800">
              <a:solidFill>
                <a:srgbClr val="000000"/>
              </a:solidFill>
            </a:endParaRPr>
          </a:p>
        </p:txBody>
      </p:sp>
      <p:cxnSp>
        <p:nvCxnSpPr>
          <p:cNvPr id="105484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2790195" y="4221163"/>
            <a:ext cx="7207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485" name="직사각형 80"/>
          <p:cNvSpPr>
            <a:spLocks noChangeArrowheads="1"/>
          </p:cNvSpPr>
          <p:nvPr/>
        </p:nvSpPr>
        <p:spPr bwMode="auto">
          <a:xfrm>
            <a:off x="5683887" y="4957763"/>
            <a:ext cx="1562426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latinLnBrk="0" hangingPunct="0"/>
            <a:r>
              <a:rPr kumimoji="0" lang="ko-KR" altLang="en-US" sz="1200">
                <a:solidFill>
                  <a:srgbClr val="000000"/>
                </a:solidFill>
              </a:rPr>
              <a:t>데이터 노드 </a:t>
            </a:r>
            <a:r>
              <a:rPr kumimoji="0" lang="en-US" altLang="ko-KR" sz="1200">
                <a:solidFill>
                  <a:srgbClr val="000000"/>
                </a:solidFill>
              </a:rPr>
              <a:t>2 </a:t>
            </a:r>
          </a:p>
          <a:p>
            <a:pPr eaLnBrk="0" latinLnBrk="0" hangingPunct="0"/>
            <a:r>
              <a:rPr kumimoji="0" lang="en-US" altLang="ko-KR" sz="800" smtClean="0">
                <a:solidFill>
                  <a:srgbClr val="000000"/>
                </a:solidFill>
              </a:rPr>
              <a:t>x86</a:t>
            </a:r>
            <a:endParaRPr kumimoji="0" lang="en-US" altLang="ko-KR" sz="8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Linux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DataNode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Nodemanager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FF0000"/>
                </a:solidFill>
              </a:rPr>
              <a:t>Spark Worker</a:t>
            </a:r>
            <a:endParaRPr kumimoji="0" lang="en-US" altLang="ko-KR" sz="1000" b="1">
              <a:solidFill>
                <a:srgbClr val="FF0000"/>
              </a:solidFill>
            </a:endParaRPr>
          </a:p>
        </p:txBody>
      </p:sp>
      <p:sp>
        <p:nvSpPr>
          <p:cNvPr id="105486" name="모서리가 둥근 직사각형 69"/>
          <p:cNvSpPr>
            <a:spLocks noChangeArrowheads="1"/>
          </p:cNvSpPr>
          <p:nvPr/>
        </p:nvSpPr>
        <p:spPr bwMode="auto">
          <a:xfrm>
            <a:off x="693105" y="4410075"/>
            <a:ext cx="3247182" cy="1935163"/>
          </a:xfrm>
          <a:prstGeom prst="roundRect">
            <a:avLst>
              <a:gd name="adj" fmla="val 10190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18000" bIns="0"/>
          <a:lstStyle/>
          <a:p>
            <a:pPr latinLnBrk="0"/>
            <a:endParaRPr kumimoji="0" lang="ko-KR" altLang="en-US">
              <a:solidFill>
                <a:srgbClr val="000000"/>
              </a:solidFill>
              <a:ea typeface="Arials"/>
              <a:cs typeface="Arials"/>
            </a:endParaRPr>
          </a:p>
        </p:txBody>
      </p:sp>
      <p:sp>
        <p:nvSpPr>
          <p:cNvPr id="105487" name="TextBox 16"/>
          <p:cNvSpPr txBox="1">
            <a:spLocks noChangeArrowheads="1"/>
          </p:cNvSpPr>
          <p:nvPr/>
        </p:nvSpPr>
        <p:spPr bwMode="auto">
          <a:xfrm>
            <a:off x="1583486" y="4254500"/>
            <a:ext cx="1118010" cy="287338"/>
          </a:xfrm>
          <a:prstGeom prst="rect">
            <a:avLst/>
          </a:prstGeom>
          <a:solidFill>
            <a:schemeClr val="bg1"/>
          </a:solidFill>
          <a:ln w="12700">
            <a:solidFill>
              <a:srgbClr val="FFC000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buFont typeface="맑은 고딕" pitchFamily="50" charset="-127"/>
              <a:buNone/>
            </a:pPr>
            <a:r>
              <a:rPr kumimoji="0" lang="ko-KR" altLang="en-US" sz="1200">
                <a:solidFill>
                  <a:srgbClr val="000000"/>
                </a:solidFill>
              </a:rPr>
              <a:t>마스터 노드</a:t>
            </a:r>
          </a:p>
        </p:txBody>
      </p:sp>
      <p:sp>
        <p:nvSpPr>
          <p:cNvPr id="105488" name="모서리가 둥근 직사각형 72"/>
          <p:cNvSpPr>
            <a:spLocks noChangeArrowheads="1"/>
          </p:cNvSpPr>
          <p:nvPr/>
        </p:nvSpPr>
        <p:spPr bwMode="auto">
          <a:xfrm>
            <a:off x="4071909" y="4410075"/>
            <a:ext cx="5133244" cy="1935163"/>
          </a:xfrm>
          <a:prstGeom prst="roundRect">
            <a:avLst>
              <a:gd name="adj" fmla="val 10190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18000" bIns="0"/>
          <a:lstStyle/>
          <a:p>
            <a:pPr latinLnBrk="0"/>
            <a:endParaRPr kumimoji="0" lang="ko-KR" altLang="en-US">
              <a:solidFill>
                <a:srgbClr val="000000"/>
              </a:solidFill>
              <a:ea typeface="Arials"/>
              <a:cs typeface="Arials"/>
            </a:endParaRPr>
          </a:p>
        </p:txBody>
      </p:sp>
      <p:pic>
        <p:nvPicPr>
          <p:cNvPr id="105489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2621086" y="4619626"/>
            <a:ext cx="109942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90" name="직사각형 80"/>
          <p:cNvSpPr>
            <a:spLocks noChangeArrowheads="1"/>
          </p:cNvSpPr>
          <p:nvPr/>
        </p:nvSpPr>
        <p:spPr bwMode="auto">
          <a:xfrm>
            <a:off x="7603042" y="4957763"/>
            <a:ext cx="1562426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latinLnBrk="0" hangingPunct="0"/>
            <a:r>
              <a:rPr kumimoji="0" lang="ko-KR" altLang="en-US" sz="1200">
                <a:solidFill>
                  <a:srgbClr val="000000"/>
                </a:solidFill>
              </a:rPr>
              <a:t>데이터 노드 </a:t>
            </a:r>
            <a:r>
              <a:rPr kumimoji="0" lang="en-US" altLang="ko-KR" sz="1200" smtClean="0">
                <a:solidFill>
                  <a:srgbClr val="000000"/>
                </a:solidFill>
              </a:rPr>
              <a:t>N </a:t>
            </a:r>
            <a:endParaRPr kumimoji="0" lang="en-US" altLang="ko-KR" sz="12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 smtClean="0">
                <a:solidFill>
                  <a:srgbClr val="000000"/>
                </a:solidFill>
              </a:rPr>
              <a:t>x86</a:t>
            </a:r>
            <a:endParaRPr kumimoji="0" lang="en-US" altLang="ko-KR" sz="8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Linux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DataNode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Nodemanager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FF0000"/>
                </a:solidFill>
              </a:rPr>
              <a:t>Spark Worker</a:t>
            </a:r>
          </a:p>
        </p:txBody>
      </p:sp>
      <p:sp>
        <p:nvSpPr>
          <p:cNvPr id="105493" name="직사각형 80"/>
          <p:cNvSpPr>
            <a:spLocks noChangeArrowheads="1"/>
          </p:cNvSpPr>
          <p:nvPr/>
        </p:nvSpPr>
        <p:spPr bwMode="auto">
          <a:xfrm>
            <a:off x="2021879" y="2165350"/>
            <a:ext cx="1042273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/>
            <a:r>
              <a:rPr kumimoji="0" lang="ko-KR" altLang="en-US" sz="1200" smtClean="0">
                <a:solidFill>
                  <a:srgbClr val="000000"/>
                </a:solidFill>
              </a:rPr>
              <a:t>수집 </a:t>
            </a:r>
            <a:r>
              <a:rPr kumimoji="0" lang="ko-KR" altLang="en-US" sz="1200">
                <a:solidFill>
                  <a:srgbClr val="000000"/>
                </a:solidFill>
              </a:rPr>
              <a:t>서버</a:t>
            </a:r>
            <a:endParaRPr kumimoji="0" lang="en-US" altLang="ko-KR" sz="12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 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x86  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Linux</a:t>
            </a:r>
          </a:p>
          <a:p>
            <a:pPr eaLnBrk="0" latinLnBrk="0" hangingPunct="0"/>
            <a:r>
              <a:rPr kumimoji="0" lang="ko-KR" altLang="en-US" sz="800">
                <a:solidFill>
                  <a:srgbClr val="000000"/>
                </a:solidFill>
              </a:rPr>
              <a:t>웹크롤러</a:t>
            </a:r>
            <a:endParaRPr kumimoji="0" lang="en-US" altLang="ko-KR" sz="8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ko-KR" altLang="en-US" sz="800" smtClean="0">
                <a:solidFill>
                  <a:srgbClr val="000000"/>
                </a:solidFill>
              </a:rPr>
              <a:t>수집 애플리케이션</a:t>
            </a:r>
            <a:endParaRPr kumimoji="0" lang="en-US" altLang="ko-KR" sz="800">
              <a:solidFill>
                <a:srgbClr val="000000"/>
              </a:solidFill>
            </a:endParaRPr>
          </a:p>
        </p:txBody>
      </p:sp>
      <p:pic>
        <p:nvPicPr>
          <p:cNvPr id="105494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2006224" y="1817688"/>
            <a:ext cx="109942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95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4331908" y="4629150"/>
            <a:ext cx="109942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96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5765957" y="4629150"/>
            <a:ext cx="109942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97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7709887" y="4629150"/>
            <a:ext cx="1097879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5498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866971" y="4259263"/>
            <a:ext cx="7207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499" name="모서리가 둥근 직사각형 69"/>
          <p:cNvSpPr>
            <a:spLocks noChangeArrowheads="1"/>
          </p:cNvSpPr>
          <p:nvPr/>
        </p:nvSpPr>
        <p:spPr bwMode="auto">
          <a:xfrm>
            <a:off x="1441025" y="1711325"/>
            <a:ext cx="2181822" cy="1822450"/>
          </a:xfrm>
          <a:prstGeom prst="roundRect">
            <a:avLst>
              <a:gd name="adj" fmla="val 10190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18000" bIns="0"/>
          <a:lstStyle/>
          <a:p>
            <a:pPr latinLnBrk="0"/>
            <a:endParaRPr kumimoji="0" lang="ko-KR" altLang="en-US">
              <a:solidFill>
                <a:srgbClr val="000000"/>
              </a:solidFill>
              <a:ea typeface="Arials"/>
              <a:cs typeface="Arials"/>
            </a:endParaRPr>
          </a:p>
        </p:txBody>
      </p:sp>
      <p:sp>
        <p:nvSpPr>
          <p:cNvPr id="105500" name="모서리가 둥근 직사각형 69"/>
          <p:cNvSpPr>
            <a:spLocks noChangeArrowheads="1"/>
          </p:cNvSpPr>
          <p:nvPr/>
        </p:nvSpPr>
        <p:spPr bwMode="auto">
          <a:xfrm>
            <a:off x="3867509" y="1711325"/>
            <a:ext cx="4554108" cy="1822450"/>
          </a:xfrm>
          <a:prstGeom prst="roundRect">
            <a:avLst>
              <a:gd name="adj" fmla="val 10190"/>
            </a:avLst>
          </a:prstGeom>
          <a:noFill/>
          <a:ln w="9525" algn="ctr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2000" tIns="0" rIns="18000" bIns="0"/>
          <a:lstStyle/>
          <a:p>
            <a:pPr latinLnBrk="0"/>
            <a:endParaRPr kumimoji="0" lang="ko-KR" altLang="en-US">
              <a:solidFill>
                <a:srgbClr val="000000"/>
              </a:solidFill>
              <a:ea typeface="Arials"/>
              <a:cs typeface="Arials"/>
            </a:endParaRPr>
          </a:p>
        </p:txBody>
      </p:sp>
      <p:cxnSp>
        <p:nvCxnSpPr>
          <p:cNvPr id="105501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4543861" y="4268787"/>
            <a:ext cx="7207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02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5959954" y="4222750"/>
            <a:ext cx="7207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03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7811948" y="4259263"/>
            <a:ext cx="7207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04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2305710" y="3697288"/>
            <a:ext cx="32702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505" name="직선 연결선 412"/>
          <p:cNvCxnSpPr>
            <a:cxnSpLocks noChangeShapeType="1"/>
          </p:cNvCxnSpPr>
          <p:nvPr/>
        </p:nvCxnSpPr>
        <p:spPr bwMode="auto">
          <a:xfrm rot="5400000" flipH="1" flipV="1">
            <a:off x="6653616" y="3708400"/>
            <a:ext cx="347663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506" name="직사각형 80"/>
          <p:cNvSpPr>
            <a:spLocks noChangeArrowheads="1"/>
          </p:cNvSpPr>
          <p:nvPr/>
        </p:nvSpPr>
        <p:spPr bwMode="auto">
          <a:xfrm>
            <a:off x="6609184" y="2190688"/>
            <a:ext cx="1308756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/>
            <a:r>
              <a:rPr kumimoji="0" lang="ko-KR" altLang="en-US" sz="1200">
                <a:solidFill>
                  <a:srgbClr val="000000"/>
                </a:solidFill>
              </a:rPr>
              <a:t>분석 </a:t>
            </a:r>
            <a:r>
              <a:rPr kumimoji="0" lang="ko-KR" altLang="en-US" sz="1200" smtClean="0">
                <a:solidFill>
                  <a:srgbClr val="000000"/>
                </a:solidFill>
              </a:rPr>
              <a:t>서버</a:t>
            </a:r>
            <a:endParaRPr kumimoji="0" lang="en-US" altLang="ko-KR" sz="1200" smtClean="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1200" smtClean="0">
                <a:solidFill>
                  <a:srgbClr val="000000"/>
                </a:solidFill>
              </a:rPr>
              <a:t>(RStudio Server)</a:t>
            </a:r>
            <a:endParaRPr kumimoji="0" lang="en-US" altLang="ko-KR" sz="12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 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x86  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Linux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R(Linux Server Version)</a:t>
            </a:r>
          </a:p>
          <a:p>
            <a:pPr eaLnBrk="0" latinLnBrk="0" hangingPunct="0"/>
            <a:endParaRPr kumimoji="0" lang="en-US" altLang="ko-KR" sz="800">
              <a:solidFill>
                <a:srgbClr val="000000"/>
              </a:solidFill>
            </a:endParaRPr>
          </a:p>
        </p:txBody>
      </p:sp>
      <p:pic>
        <p:nvPicPr>
          <p:cNvPr id="105507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6716030" y="1843025"/>
            <a:ext cx="1099428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508" name="TextBox 16"/>
          <p:cNvSpPr txBox="1">
            <a:spLocks noChangeArrowheads="1"/>
          </p:cNvSpPr>
          <p:nvPr/>
        </p:nvSpPr>
        <p:spPr bwMode="auto">
          <a:xfrm>
            <a:off x="5714857" y="4264025"/>
            <a:ext cx="1313119" cy="287338"/>
          </a:xfrm>
          <a:prstGeom prst="rect">
            <a:avLst/>
          </a:prstGeom>
          <a:solidFill>
            <a:schemeClr val="bg1"/>
          </a:solidFill>
          <a:ln w="12700">
            <a:solidFill>
              <a:srgbClr val="FFC000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buFont typeface="맑은 고딕" pitchFamily="50" charset="-127"/>
              <a:buNone/>
            </a:pPr>
            <a:r>
              <a:rPr kumimoji="0" lang="ko-KR" altLang="en-US" sz="1200">
                <a:solidFill>
                  <a:srgbClr val="000000"/>
                </a:solidFill>
              </a:rPr>
              <a:t>데이터 노드</a:t>
            </a:r>
          </a:p>
        </p:txBody>
      </p:sp>
      <p:pic>
        <p:nvPicPr>
          <p:cNvPr id="57" name="Picture 46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48"/>
          <a:stretch>
            <a:fillRect/>
          </a:stretch>
        </p:blipFill>
        <p:spPr bwMode="auto">
          <a:xfrm>
            <a:off x="4223661" y="1824010"/>
            <a:ext cx="1099428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" name="직사각형 80"/>
          <p:cNvSpPr>
            <a:spLocks noChangeArrowheads="1"/>
          </p:cNvSpPr>
          <p:nvPr/>
        </p:nvSpPr>
        <p:spPr bwMode="auto">
          <a:xfrm>
            <a:off x="4231324" y="2184037"/>
            <a:ext cx="2048959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latinLnBrk="0" hangingPunct="0"/>
            <a:r>
              <a:rPr kumimoji="0" lang="ko-KR" altLang="en-US" sz="1200" smtClean="0">
                <a:solidFill>
                  <a:srgbClr val="000000"/>
                </a:solidFill>
              </a:rPr>
              <a:t>분석 서버</a:t>
            </a:r>
            <a:endParaRPr kumimoji="0" lang="en-US" altLang="ko-KR" sz="1200" smtClean="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1200" smtClean="0">
                <a:solidFill>
                  <a:srgbClr val="000000"/>
                </a:solidFill>
              </a:rPr>
              <a:t>(</a:t>
            </a:r>
            <a:r>
              <a:rPr kumimoji="0" lang="ko-KR" altLang="en-US" sz="1200" smtClean="0">
                <a:solidFill>
                  <a:srgbClr val="000000"/>
                </a:solidFill>
              </a:rPr>
              <a:t>하둡</a:t>
            </a:r>
            <a:r>
              <a:rPr kumimoji="0" lang="en-US" altLang="ko-KR" sz="1200" smtClean="0">
                <a:solidFill>
                  <a:srgbClr val="000000"/>
                </a:solidFill>
              </a:rPr>
              <a:t>/</a:t>
            </a:r>
            <a:r>
              <a:rPr kumimoji="0" lang="ko-KR" altLang="en-US" sz="1200" smtClean="0">
                <a:solidFill>
                  <a:srgbClr val="000000"/>
                </a:solidFill>
              </a:rPr>
              <a:t>스팍 클라이언트</a:t>
            </a:r>
            <a:r>
              <a:rPr kumimoji="0" lang="en-US" altLang="ko-KR" sz="1200" smtClean="0">
                <a:solidFill>
                  <a:srgbClr val="000000"/>
                </a:solidFill>
              </a:rPr>
              <a:t>)</a:t>
            </a:r>
            <a:endParaRPr kumimoji="0" lang="en-US" altLang="ko-KR" sz="12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 smtClean="0">
                <a:solidFill>
                  <a:srgbClr val="000000"/>
                </a:solidFill>
              </a:rPr>
              <a:t>x86  </a:t>
            </a:r>
            <a:endParaRPr kumimoji="0" lang="en-US" altLang="ko-KR" sz="800">
              <a:solidFill>
                <a:srgbClr val="000000"/>
              </a:solidFill>
            </a:endParaRP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2CPU, 64G RAM</a:t>
            </a:r>
          </a:p>
          <a:p>
            <a:pPr eaLnBrk="0" latinLnBrk="0" hangingPunct="0"/>
            <a:r>
              <a:rPr kumimoji="0" lang="en-US" altLang="ko-KR" sz="800">
                <a:solidFill>
                  <a:srgbClr val="000000"/>
                </a:solidFill>
              </a:rPr>
              <a:t>36TB SATA HDD</a:t>
            </a:r>
          </a:p>
          <a:p>
            <a:pPr eaLnBrk="0" latinLnBrk="0" hangingPunct="0"/>
            <a:r>
              <a:rPr kumimoji="0" lang="en-US" altLang="ko-KR" sz="800" smtClean="0">
                <a:solidFill>
                  <a:srgbClr val="000000"/>
                </a:solidFill>
              </a:rPr>
              <a:t>Linux</a:t>
            </a:r>
          </a:p>
          <a:p>
            <a:pPr eaLnBrk="0" latinLnBrk="0" hangingPunct="0"/>
            <a:r>
              <a:rPr kumimoji="0" lang="en-US" altLang="ko-KR" sz="1000" b="1" smtClean="0">
                <a:solidFill>
                  <a:srgbClr val="00B0F0"/>
                </a:solidFill>
              </a:rPr>
              <a:t>Hadoop </a:t>
            </a:r>
            <a:r>
              <a:rPr kumimoji="0" lang="en-US" altLang="ko-KR" sz="1000" b="1">
                <a:solidFill>
                  <a:srgbClr val="00B0F0"/>
                </a:solidFill>
              </a:rPr>
              <a:t>Ecosystem Clients</a:t>
            </a:r>
          </a:p>
          <a:p>
            <a:pPr eaLnBrk="0" latinLnBrk="0" hangingPunct="0"/>
            <a:r>
              <a:rPr kumimoji="0" lang="en-US" altLang="ko-KR" sz="1000" b="1">
                <a:solidFill>
                  <a:srgbClr val="00B0F0"/>
                </a:solidFill>
              </a:rPr>
              <a:t>(HDFS, Pig, Hive</a:t>
            </a:r>
            <a:r>
              <a:rPr kumimoji="0" lang="en-US" altLang="ko-KR" sz="1000" b="1" smtClean="0">
                <a:solidFill>
                  <a:srgbClr val="00B0F0"/>
                </a:solidFill>
              </a:rPr>
              <a:t>, Spark </a:t>
            </a:r>
            <a:r>
              <a:rPr kumimoji="0" lang="en-US" altLang="ko-KR" sz="1000" b="1">
                <a:solidFill>
                  <a:srgbClr val="00B0F0"/>
                </a:solidFill>
              </a:rPr>
              <a:t>CLI …)</a:t>
            </a:r>
          </a:p>
          <a:p>
            <a:pPr eaLnBrk="0" latinLnBrk="0" hangingPunct="0"/>
            <a:endParaRPr kumimoji="0" lang="en-US" altLang="ko-KR" sz="1000">
              <a:solidFill>
                <a:srgbClr val="000000"/>
              </a:solidFill>
            </a:endParaRPr>
          </a:p>
        </p:txBody>
      </p:sp>
      <p:sp>
        <p:nvSpPr>
          <p:cNvPr id="36" name="제목 2"/>
          <p:cNvSpPr>
            <a:spLocks/>
          </p:cNvSpPr>
          <p:nvPr/>
        </p:nvSpPr>
        <p:spPr bwMode="auto">
          <a:xfrm>
            <a:off x="415925" y="188913"/>
            <a:ext cx="90741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ko-KR" sz="3200" b="1">
                <a:solidFill>
                  <a:srgbClr val="FFFFFF"/>
                </a:solidFill>
              </a:rPr>
              <a:t># </a:t>
            </a:r>
            <a:r>
              <a:rPr lang="ko-KR" altLang="en-US" sz="3200" b="1">
                <a:solidFill>
                  <a:srgbClr val="FFFFFF"/>
                </a:solidFill>
              </a:rPr>
              <a:t>실습 환경</a:t>
            </a:r>
            <a:endParaRPr kumimoji="0" lang="ko-KR" altLang="en-US" sz="3600" b="1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09716" y="5318281"/>
            <a:ext cx="432048" cy="625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ct val="30000"/>
              </a:spcBef>
            </a:pPr>
            <a:r>
              <a:rPr lang="en-US" altLang="ko-KR" sz="3200" b="1" smtClean="0">
                <a:solidFill>
                  <a:prstClr val="black"/>
                </a:solidFill>
              </a:rPr>
              <a:t>...</a:t>
            </a:r>
            <a:endParaRPr lang="ko-KR" altLang="en-US" sz="3200" b="1">
              <a:solidFill>
                <a:prstClr val="black"/>
              </a:solidFill>
            </a:endParaRPr>
          </a:p>
        </p:txBody>
      </p:sp>
      <p:sp>
        <p:nvSpPr>
          <p:cNvPr id="38" name="구름 모양 설명선 37"/>
          <p:cNvSpPr/>
          <p:nvPr/>
        </p:nvSpPr>
        <p:spPr>
          <a:xfrm>
            <a:off x="6975386" y="3392661"/>
            <a:ext cx="2547472" cy="1080120"/>
          </a:xfrm>
          <a:prstGeom prst="cloudCallout">
            <a:avLst>
              <a:gd name="adj1" fmla="val -38677"/>
              <a:gd name="adj2" fmla="val 71069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b="1" smtClean="0">
                <a:solidFill>
                  <a:srgbClr val="FF0000"/>
                </a:solidFill>
              </a:rPr>
              <a:t>Master &amp; Worker</a:t>
            </a:r>
          </a:p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1400" b="1" smtClean="0">
                <a:solidFill>
                  <a:srgbClr val="FF0000"/>
                </a:solidFill>
              </a:rPr>
              <a:t>데몬들</a:t>
            </a:r>
            <a:r>
              <a:rPr lang="en-US" altLang="ko-KR" sz="1400" b="1" smtClean="0">
                <a:solidFill>
                  <a:srgbClr val="FF0000"/>
                </a:solidFill>
              </a:rPr>
              <a:t>(</a:t>
            </a:r>
            <a:r>
              <a:rPr lang="ko-KR" altLang="en-US" sz="1400" b="1" smtClean="0">
                <a:solidFill>
                  <a:srgbClr val="FF0000"/>
                </a:solidFill>
              </a:rPr>
              <a:t>서비스</a:t>
            </a:r>
            <a:r>
              <a:rPr lang="en-US" altLang="ko-KR" sz="1400" b="1" smtClean="0">
                <a:solidFill>
                  <a:srgbClr val="FF0000"/>
                </a:solidFill>
              </a:rPr>
              <a:t>)</a:t>
            </a:r>
            <a:endParaRPr lang="ko-KR" altLang="en-US" sz="1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169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1. </a:t>
            </a:r>
            <a:r>
              <a:rPr kumimoji="0" lang="ko-KR" altLang="en-US" sz="3000" b="1">
                <a:solidFill>
                  <a:prstClr val="white"/>
                </a:solidFill>
              </a:rPr>
              <a:t>가상 머신 시작하고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접속하기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41210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 smtClean="0">
                <a:solidFill>
                  <a:prstClr val="black"/>
                </a:solidFill>
              </a:rPr>
              <a:t>가상 </a:t>
            </a:r>
            <a:r>
              <a:rPr lang="ko-KR" altLang="en-US" b="1" dirty="0">
                <a:solidFill>
                  <a:prstClr val="black"/>
                </a:solidFill>
              </a:rPr>
              <a:t>머신 </a:t>
            </a:r>
            <a:r>
              <a:rPr lang="en-US" altLang="ko-KR" b="1" dirty="0">
                <a:solidFill>
                  <a:prstClr val="black"/>
                </a:solidFill>
              </a:rPr>
              <a:t>3</a:t>
            </a:r>
            <a:r>
              <a:rPr lang="ko-KR" altLang="en-US" b="1" dirty="0">
                <a:solidFill>
                  <a:prstClr val="black"/>
                </a:solidFill>
              </a:rPr>
              <a:t>대를 모두 시작</a:t>
            </a:r>
            <a:r>
              <a:rPr lang="en-US" altLang="ko-KR" b="1" dirty="0">
                <a:solidFill>
                  <a:prstClr val="black"/>
                </a:solidFill>
              </a:rPr>
              <a:t>( </a:t>
            </a:r>
            <a:r>
              <a:rPr lang="ko-KR" altLang="en-US" b="1" dirty="0">
                <a:solidFill>
                  <a:prstClr val="black"/>
                </a:solidFill>
              </a:rPr>
              <a:t>전원 </a:t>
            </a:r>
            <a:r>
              <a:rPr lang="en-US" altLang="ko-KR" b="1" dirty="0">
                <a:solidFill>
                  <a:prstClr val="black"/>
                </a:solidFill>
              </a:rPr>
              <a:t>On )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5308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hd1-client ]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hd2-namenode ]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hd3-secondnode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 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빗면 1"/>
          <p:cNvSpPr/>
          <p:nvPr/>
        </p:nvSpPr>
        <p:spPr>
          <a:xfrm>
            <a:off x="6025287" y="1369456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solidFill>
                  <a:prstClr val="white"/>
                </a:solidFill>
              </a:rPr>
              <a:t>Virtual-Box</a:t>
            </a:r>
            <a:endParaRPr lang="ko-KR" altLang="en-US" sz="2400" dirty="0">
              <a:solidFill>
                <a:prstClr val="white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513" y="2312876"/>
            <a:ext cx="2428678" cy="159382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144" y="3717032"/>
            <a:ext cx="2428678" cy="159382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003" y="5157192"/>
            <a:ext cx="2428678" cy="1593820"/>
          </a:xfrm>
          <a:prstGeom prst="rect">
            <a:avLst/>
          </a:prstGeom>
        </p:spPr>
      </p:pic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80718" y="3544328"/>
            <a:ext cx="224324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Putty</a:t>
            </a:r>
            <a:r>
              <a:rPr lang="ko-KR" altLang="en-US" b="1" smtClean="0">
                <a:solidFill>
                  <a:prstClr val="black"/>
                </a:solidFill>
              </a:rPr>
              <a:t>로 </a:t>
            </a:r>
            <a:r>
              <a:rPr lang="en-US" altLang="ko-KR" b="1" smtClean="0">
                <a:solidFill>
                  <a:prstClr val="black"/>
                </a:solidFill>
              </a:rPr>
              <a:t>ssh </a:t>
            </a:r>
            <a:r>
              <a:rPr lang="ko-KR" altLang="en-US" b="1" smtClean="0">
                <a:solidFill>
                  <a:prstClr val="black"/>
                </a:solidFill>
              </a:rPr>
              <a:t>접속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90218" y="4094373"/>
            <a:ext cx="9027278" cy="18309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Putty.exe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(hd1-client)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에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endParaRPr lang="ko-KR" altLang="en-US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 : 192.168.56.21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로그인 아이디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hadoop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비밀번호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hadoop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가로로 말린 두루마리 모양 11"/>
          <p:cNvSpPr/>
          <p:nvPr/>
        </p:nvSpPr>
        <p:spPr>
          <a:xfrm>
            <a:off x="3144651" y="4513942"/>
            <a:ext cx="2556284" cy="1614384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접속은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hd1-client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로만</a:t>
            </a:r>
            <a:endParaRPr lang="ko-KR" altLang="en-US" sz="16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2865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2. Spark </a:t>
            </a:r>
            <a:r>
              <a:rPr kumimoji="0" lang="ko-KR" altLang="en-US" sz="3000" b="1">
                <a:solidFill>
                  <a:prstClr val="white"/>
                </a:solidFill>
              </a:rPr>
              <a:t>설치 및 설정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415925" y="1192213"/>
            <a:ext cx="3347711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sz="1600" b="1" smtClean="0">
                <a:solidFill>
                  <a:prstClr val="black"/>
                </a:solidFill>
              </a:rPr>
              <a:t>주요 스팍 설정 파일</a:t>
            </a:r>
            <a:r>
              <a:rPr lang="en-US" altLang="ko-KR" sz="1600" b="1" smtClean="0">
                <a:solidFill>
                  <a:prstClr val="black"/>
                </a:solidFill>
              </a:rPr>
              <a:t>(</a:t>
            </a:r>
            <a:r>
              <a:rPr lang="ko-KR" altLang="en-US" sz="1600" b="1" smtClean="0">
                <a:solidFill>
                  <a:prstClr val="black"/>
                </a:solidFill>
              </a:rPr>
              <a:t>하둡 포함</a:t>
            </a:r>
            <a:r>
              <a:rPr lang="en-US" altLang="ko-KR" sz="1600" b="1" smtClean="0">
                <a:solidFill>
                  <a:prstClr val="black"/>
                </a:solidFill>
              </a:rPr>
              <a:t>)</a:t>
            </a:r>
            <a:endParaRPr lang="ko-KR" altLang="en-US" sz="1600" b="1">
              <a:solidFill>
                <a:prstClr val="black"/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812967"/>
              </p:ext>
            </p:extLst>
          </p:nvPr>
        </p:nvGraphicFramePr>
        <p:xfrm>
          <a:off x="560761" y="1732197"/>
          <a:ext cx="8568952" cy="48682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911"/>
                <a:gridCol w="2268252"/>
                <a:gridCol w="4860789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mtClean="0"/>
                        <a:t>구분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mtClean="0"/>
                        <a:t>설정 파일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smtClean="0"/>
                        <a:t>기능</a:t>
                      </a:r>
                      <a:endParaRPr lang="ko-KR" altLang="en-US" sz="1400"/>
                    </a:p>
                  </a:txBody>
                  <a:tcPr/>
                </a:tc>
              </a:tr>
              <a:tr h="150077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Spark </a:t>
                      </a:r>
                      <a:r>
                        <a:rPr lang="ko-KR" altLang="en-US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/home/hadoop/.bashrc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하둡과 스팍을 위한 리눅스 환경설정</a:t>
                      </a:r>
                      <a:endParaRPr lang="en-US" altLang="ko-KR" sz="12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b="1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JAVA_HOME,</a:t>
                      </a:r>
                      <a:r>
                        <a:rPr lang="en-US" altLang="ko-KR" sz="1200" b="1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HADOOP_HOME, HADOOP_CONF_DIR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b="1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SPARK_HOME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PATH </a:t>
                      </a:r>
                      <a:r>
                        <a:rPr lang="ko-KR" altLang="en-US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r>
                        <a:rPr lang="en-US" altLang="ko-KR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자바</a:t>
                      </a:r>
                      <a:r>
                        <a:rPr lang="en-US" altLang="ko-KR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하둡</a:t>
                      </a:r>
                      <a:r>
                        <a:rPr lang="en-US" altLang="ko-KR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/>
                </a:tc>
              </a:tr>
              <a:tr h="36808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spark-env.sh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스팍 환경 설정</a:t>
                      </a:r>
                      <a:endParaRPr lang="en-US" altLang="ko-KR" sz="12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b="1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드라이버</a:t>
                      </a:r>
                      <a:r>
                        <a:rPr lang="en-US" altLang="ko-KR" sz="1200" b="1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(Driver)</a:t>
                      </a:r>
                      <a:r>
                        <a:rPr lang="en-US" altLang="ko-KR" sz="1200" b="1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="1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en-US" altLang="ko-KR" sz="1200" b="1" baseline="0" smtClean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200" b="1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익스큐터</a:t>
                      </a:r>
                      <a:r>
                        <a:rPr lang="en-US" altLang="ko-KR" sz="1200" b="1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(Executor) </a:t>
                      </a:r>
                      <a:r>
                        <a:rPr lang="ko-KR" altLang="en-US" sz="1200" b="1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en-US" altLang="ko-KR" sz="1200" b="1" baseline="0" smtClean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200" b="1" baseline="0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 디렉터리 설정</a:t>
                      </a:r>
                      <a:endParaRPr lang="ko-KR" altLang="en-US" sz="1200" b="1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25908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spark-defaults.conf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스팍 기본 설정</a:t>
                      </a: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(Default </a:t>
                      </a: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 아용</a:t>
                      </a: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25908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log4j.properties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스팍 로그 설정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27820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HDFS </a:t>
                      </a:r>
                      <a:r>
                        <a:rPr lang="ko-KR" altLang="en-US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참고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core-site.xml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HDFS</a:t>
                      </a: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네임노드 호스트 설정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64807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hdfs-site.xml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HDFS</a:t>
                      </a: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관련된 속성 설정</a:t>
                      </a:r>
                      <a:endParaRPr lang="en-US" altLang="ko-KR" sz="12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네임노드</a:t>
                      </a: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세컨드노드</a:t>
                      </a: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데이터노드의 각종 포트 설정</a:t>
                      </a:r>
                      <a:endParaRPr lang="en-US" altLang="ko-KR" sz="12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파일의 위치 지정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4660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YARN </a:t>
                      </a:r>
                      <a:r>
                        <a:rPr lang="ko-KR" altLang="en-US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참고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yarn-site.xml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YARN</a:t>
                      </a: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 관련된 속성 설정</a:t>
                      </a:r>
                      <a:endParaRPr lang="en-US" altLang="ko-KR" sz="12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리소스매니저 노드 지정</a:t>
                      </a:r>
                      <a:endParaRPr lang="en-US" altLang="ko-KR" sz="12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YARN</a:t>
                      </a:r>
                      <a:r>
                        <a:rPr lang="en-US" altLang="ko-KR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포트 및 파일의 위치 지정</a:t>
                      </a:r>
                      <a:endParaRPr lang="en-US" altLang="ko-KR" sz="1200" baseline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Vcores </a:t>
                      </a:r>
                      <a:r>
                        <a:rPr lang="ko-KR" altLang="en-US" sz="12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  <a:tr h="4660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Worker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slaves</a:t>
                      </a:r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200" b="1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Worker </a:t>
                      </a:r>
                      <a:r>
                        <a:rPr lang="ko-KR" altLang="en-US" sz="1200" b="1" smtClean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노드 설정</a:t>
                      </a:r>
                      <a:r>
                        <a:rPr lang="en-US" altLang="ko-KR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(Spark Workder &amp; Spark Executor)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12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한 줄에 하나씩 호스트명을 지정</a:t>
                      </a:r>
                      <a:endParaRPr lang="ko-KR" altLang="en-US" sz="12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203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2. Spark </a:t>
            </a:r>
            <a:r>
              <a:rPr kumimoji="0" lang="ko-KR" altLang="en-US" sz="3000" b="1">
                <a:solidFill>
                  <a:prstClr val="white"/>
                </a:solidFill>
              </a:rPr>
              <a:t>설치 및 설정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5456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스팍 설정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1318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Spark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버전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spark-1.6.2-bin-hadoop2.6.tgz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en-US" altLang="ko-KR" sz="15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/home/</a:t>
            </a:r>
            <a:r>
              <a:rPr lang="en-US" altLang="ko-KR" sz="1500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/spark -&gt; spark-1.6.2-bin-hadoop2.6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Spark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 디렉터리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/home/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/spark/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Spark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 파일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 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spark-env.sh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spark-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defaults.conf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spark/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/spark-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env.sh.template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spark/conf/spark-env.sh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spark/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/spark-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defaults.conf.template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spark/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/spark-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defaults.conf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cp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spark/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/log4j.properties.template  spark/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conf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/log4j.properties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echo 'export SPARK_DRIVER_MEMORY=500m' &gt;&gt; spark/conf/spark-env.sh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echo 'export SPARK_EXECUTOR_INSTANCES=1'  &gt;&gt; spark/conf/spark-env.sh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echo 'export SPARK_EXECUTOR_CORES=1'      &gt;&gt; spark/conf/spark-env.sh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echo 'export SPARK_EXECUTOR_MEMORY=500m'  &gt;&gt; spark/conf/spark-env.sh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echo 'export SPARK_WORKER_DIR=/data/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spwork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&gt;&gt; spark/conf/spark-env.sh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echo 'export SPARK_PID_DIR=/data/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sptmp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  &gt;&gt;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spark/conf/spark-env.sh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0304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2. Spark </a:t>
            </a:r>
            <a:r>
              <a:rPr kumimoji="0" lang="ko-KR" altLang="en-US" sz="3000" b="1">
                <a:solidFill>
                  <a:prstClr val="white"/>
                </a:solidFill>
              </a:rPr>
              <a:t>설치 및 설정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5456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>
                <a:solidFill>
                  <a:prstClr val="black"/>
                </a:solidFill>
              </a:rPr>
              <a:t>스팍 설정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1318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Spark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 설정 파일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slaves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Spark Worker/Executor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의 호스트를 한 줄씩 등록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echo 'datanode1.hadoop.kr' &gt; spark/conf/slaves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echo 'datanode2.hadoop.kr' &gt;&gt; spark/conf/slaves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Spark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 설정 파일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log4j.properties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vi spark/conf/log4j.properties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INFO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를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ERROR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으로 변경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log4j.rootCategory=INFO, console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log4j.rootCategory=ERROR,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console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 파일을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, 3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머신에 복사</a:t>
            </a:r>
          </a:p>
          <a:p>
            <a:pPr marL="0" indent="0" latinLnBrk="0">
              <a:spcBef>
                <a:spcPct val="30000"/>
              </a:spcBef>
            </a:pPr>
            <a:endParaRPr lang="ko-KR" altLang="en-US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scp spark/conf/* hadoop@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namenode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:/home/hadoop/spark/conf/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scp spark/conf/* hadoop@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secondnode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:/home/hadoop/spark/conf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741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2. Spark </a:t>
            </a:r>
            <a:r>
              <a:rPr kumimoji="0" lang="ko-KR" altLang="en-US" sz="3000" b="1">
                <a:solidFill>
                  <a:prstClr val="white"/>
                </a:solidFill>
              </a:rPr>
              <a:t>설치 및 설정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84648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YARN </a:t>
            </a:r>
            <a:r>
              <a:rPr lang="ko-KR" altLang="en-US" b="1" smtClean="0">
                <a:solidFill>
                  <a:prstClr val="black"/>
                </a:solidFill>
              </a:rPr>
              <a:t>클러스터 매니저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6069124" y="3973785"/>
            <a:ext cx="3132348" cy="2780901"/>
            <a:chOff x="5241032" y="1388089"/>
            <a:chExt cx="3132348" cy="2780901"/>
          </a:xfrm>
        </p:grpSpPr>
        <p:sp>
          <p:nvSpPr>
            <p:cNvPr id="31" name="빗면 30"/>
            <p:cNvSpPr/>
            <p:nvPr/>
          </p:nvSpPr>
          <p:spPr>
            <a:xfrm>
              <a:off x="5241032" y="1916832"/>
              <a:ext cx="3132348" cy="1117287"/>
            </a:xfrm>
            <a:prstGeom prst="bevel">
              <a:avLst>
                <a:gd name="adj" fmla="val 3505"/>
              </a:avLst>
            </a:prstGeom>
            <a:solidFill>
              <a:schemeClr val="accent6">
                <a:alpha val="3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2" name="빗면 31"/>
            <p:cNvSpPr/>
            <p:nvPr/>
          </p:nvSpPr>
          <p:spPr>
            <a:xfrm>
              <a:off x="5241032" y="3034120"/>
              <a:ext cx="3132348" cy="1134870"/>
            </a:xfrm>
            <a:prstGeom prst="bevel">
              <a:avLst>
                <a:gd name="adj" fmla="val 3505"/>
              </a:avLst>
            </a:prstGeom>
            <a:solidFill>
              <a:schemeClr val="accent6">
                <a:alpha val="1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26076" y="1388089"/>
              <a:ext cx="23487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[ 3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secondnode ]</a:t>
              </a:r>
            </a:p>
            <a:p>
              <a:pPr algn="ctr"/>
              <a:r>
                <a:rPr lang="en-US" altLang="ko-KR" sz="1400" b="1"/>
                <a:t>enp0s8 </a:t>
              </a:r>
              <a:r>
                <a:rPr lang="en-US" altLang="ko-KR" sz="1400" b="1" smtClean="0"/>
                <a:t>192.168.56.41</a:t>
              </a:r>
              <a:endParaRPr lang="ko-KR" altLang="en-US" sz="1400" b="1"/>
            </a:p>
          </p:txBody>
        </p:sp>
        <p:sp>
          <p:nvSpPr>
            <p:cNvPr id="34" name="원통 33"/>
            <p:cNvSpPr/>
            <p:nvPr/>
          </p:nvSpPr>
          <p:spPr>
            <a:xfrm>
              <a:off x="5518357" y="2050882"/>
              <a:ext cx="1109299" cy="60594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Secondary</a:t>
              </a:r>
            </a:p>
            <a:p>
              <a:pPr algn="ctr"/>
              <a:r>
                <a:rPr lang="en-US" altLang="ko-KR" sz="1400" smtClean="0"/>
                <a:t>Namenode</a:t>
              </a:r>
              <a:endParaRPr lang="ko-KR" altLang="en-US" sz="1400"/>
            </a:p>
          </p:txBody>
        </p:sp>
        <p:sp>
          <p:nvSpPr>
            <p:cNvPr id="36" name="원통 35"/>
            <p:cNvSpPr/>
            <p:nvPr/>
          </p:nvSpPr>
          <p:spPr>
            <a:xfrm>
              <a:off x="5518357" y="3160878"/>
              <a:ext cx="1109299" cy="60594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</a:t>
              </a:r>
              <a:endParaRPr lang="ko-KR" altLang="en-US" sz="140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5845928" y="2720346"/>
              <a:ext cx="2052202" cy="2085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secondnode.hadoop.kr</a:t>
              </a:r>
              <a:endParaRPr lang="ko-KR" altLang="en-US" sz="1400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5849404" y="3844954"/>
              <a:ext cx="2052202" cy="2085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datanode2.hadoop.kr</a:t>
              </a:r>
              <a:endParaRPr lang="ko-KR" altLang="en-US" sz="1400"/>
            </a:p>
          </p:txBody>
        </p:sp>
        <p:sp>
          <p:nvSpPr>
            <p:cNvPr id="8" name="오각형 7"/>
            <p:cNvSpPr/>
            <p:nvPr/>
          </p:nvSpPr>
          <p:spPr>
            <a:xfrm>
              <a:off x="6944063" y="2067534"/>
              <a:ext cx="1109299" cy="528408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Resource</a:t>
              </a:r>
            </a:p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Manager</a:t>
              </a:r>
              <a:endParaRPr lang="ko-KR" altLang="en-US" sz="1400">
                <a:solidFill>
                  <a:schemeClr val="tx2"/>
                </a:solidFill>
              </a:endParaRPr>
            </a:p>
          </p:txBody>
        </p:sp>
        <p:sp>
          <p:nvSpPr>
            <p:cNvPr id="41" name="오각형 40"/>
            <p:cNvSpPr/>
            <p:nvPr/>
          </p:nvSpPr>
          <p:spPr>
            <a:xfrm>
              <a:off x="6944063" y="3160878"/>
              <a:ext cx="1109299" cy="528408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Node</a:t>
              </a:r>
            </a:p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Manager</a:t>
              </a:r>
              <a:endParaRPr lang="ko-KR" altLang="en-US" sz="140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6065503" y="1051572"/>
            <a:ext cx="3135969" cy="2828223"/>
            <a:chOff x="1678319" y="1340768"/>
            <a:chExt cx="3310685" cy="2828223"/>
          </a:xfrm>
        </p:grpSpPr>
        <p:sp>
          <p:nvSpPr>
            <p:cNvPr id="25" name="빗면 24"/>
            <p:cNvSpPr/>
            <p:nvPr/>
          </p:nvSpPr>
          <p:spPr>
            <a:xfrm>
              <a:off x="1678319" y="1916832"/>
              <a:ext cx="3310685" cy="1117287"/>
            </a:xfrm>
            <a:prstGeom prst="bevel">
              <a:avLst>
                <a:gd name="adj" fmla="val 3505"/>
              </a:avLst>
            </a:prstGeom>
            <a:solidFill>
              <a:schemeClr val="accent4">
                <a:alpha val="20000"/>
              </a:schemeClr>
            </a:solidFill>
            <a:ln>
              <a:solidFill>
                <a:schemeClr val="accent4">
                  <a:shade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0" name="빗면 29"/>
            <p:cNvSpPr/>
            <p:nvPr/>
          </p:nvSpPr>
          <p:spPr>
            <a:xfrm>
              <a:off x="1678319" y="3032957"/>
              <a:ext cx="3310685" cy="1136034"/>
            </a:xfrm>
            <a:prstGeom prst="bevel">
              <a:avLst>
                <a:gd name="adj" fmla="val 3505"/>
              </a:avLst>
            </a:prstGeom>
            <a:solidFill>
              <a:schemeClr val="accent4">
                <a:alpha val="1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226866" y="1340768"/>
              <a:ext cx="22172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[ 2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namenode ]</a:t>
              </a:r>
            </a:p>
            <a:p>
              <a:pPr algn="ctr"/>
              <a:r>
                <a:rPr lang="en-US" altLang="ko-KR" sz="1400" b="1" smtClean="0"/>
                <a:t>enp0s8 192.168.56.31</a:t>
              </a:r>
              <a:endParaRPr lang="ko-KR" altLang="en-US" sz="1400" b="1"/>
            </a:p>
          </p:txBody>
        </p:sp>
        <p:sp>
          <p:nvSpPr>
            <p:cNvPr id="4" name="원통 3"/>
            <p:cNvSpPr/>
            <p:nvPr/>
          </p:nvSpPr>
          <p:spPr>
            <a:xfrm>
              <a:off x="1882129" y="2024844"/>
              <a:ext cx="1172455" cy="58342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Namenode</a:t>
              </a:r>
              <a:endParaRPr lang="ko-KR" altLang="en-US" sz="1400"/>
            </a:p>
          </p:txBody>
        </p:sp>
        <p:sp>
          <p:nvSpPr>
            <p:cNvPr id="35" name="원통 34"/>
            <p:cNvSpPr/>
            <p:nvPr/>
          </p:nvSpPr>
          <p:spPr>
            <a:xfrm>
              <a:off x="1882130" y="3128109"/>
              <a:ext cx="1172454" cy="588618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</a:t>
              </a:r>
              <a:endParaRPr lang="ko-KR" altLang="en-US" sz="140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2249140" y="2708920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namenode.hadoop.kr</a:t>
              </a:r>
              <a:endParaRPr lang="ko-KR" altLang="en-US" sz="140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226867" y="3813068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datanode1.hadoop.kr</a:t>
              </a:r>
              <a:endParaRPr lang="ko-KR" altLang="en-US" sz="1400"/>
            </a:p>
          </p:txBody>
        </p:sp>
        <p:sp>
          <p:nvSpPr>
            <p:cNvPr id="40" name="오각형 39"/>
            <p:cNvSpPr/>
            <p:nvPr/>
          </p:nvSpPr>
          <p:spPr>
            <a:xfrm>
              <a:off x="3435566" y="3150452"/>
              <a:ext cx="1172455" cy="577682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Node</a:t>
              </a:r>
            </a:p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Manager</a:t>
              </a:r>
              <a:endParaRPr lang="ko-KR" altLang="en-US" sz="1400">
                <a:solidFill>
                  <a:schemeClr val="tx2"/>
                </a:solidFill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596516" y="1592796"/>
            <a:ext cx="2205998" cy="2377428"/>
            <a:chOff x="1678319" y="1692276"/>
            <a:chExt cx="3310685" cy="1776588"/>
          </a:xfrm>
        </p:grpSpPr>
        <p:sp>
          <p:nvSpPr>
            <p:cNvPr id="28" name="빗면 27"/>
            <p:cNvSpPr/>
            <p:nvPr/>
          </p:nvSpPr>
          <p:spPr>
            <a:xfrm>
              <a:off x="1678319" y="2288681"/>
              <a:ext cx="3310685" cy="1180183"/>
            </a:xfrm>
            <a:prstGeom prst="bevel">
              <a:avLst>
                <a:gd name="adj" fmla="val 3505"/>
              </a:avLst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15032" y="1692276"/>
              <a:ext cx="20409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[ 1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client ]</a:t>
              </a:r>
            </a:p>
            <a:p>
              <a:pPr algn="ctr"/>
              <a:r>
                <a:rPr lang="en-US" altLang="ko-KR" sz="1400" b="1" smtClean="0"/>
                <a:t>enp0s8 192.168.56.21</a:t>
              </a:r>
              <a:endParaRPr lang="ko-KR" altLang="en-US" sz="1400" b="1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2287168" y="3140403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client.hadoop.kr</a:t>
              </a:r>
              <a:endParaRPr lang="ko-KR" altLang="en-US" sz="1400"/>
            </a:p>
          </p:txBody>
        </p:sp>
      </p:grpSp>
      <p:sp>
        <p:nvSpPr>
          <p:cNvPr id="49" name="줄무늬가 있는 오른쪽 화살표 48"/>
          <p:cNvSpPr/>
          <p:nvPr/>
        </p:nvSpPr>
        <p:spPr>
          <a:xfrm>
            <a:off x="770697" y="2492109"/>
            <a:ext cx="1857636" cy="758329"/>
          </a:xfrm>
          <a:prstGeom prst="stripedRightArrow">
            <a:avLst>
              <a:gd name="adj1" fmla="val 6898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smtClean="0"/>
              <a:t>Spark CLI</a:t>
            </a:r>
          </a:p>
          <a:p>
            <a:pPr algn="ctr"/>
            <a:r>
              <a:rPr lang="en-US" altLang="ko-KR" sz="1400" smtClean="0"/>
              <a:t>$ spark-shell </a:t>
            </a:r>
            <a:endParaRPr lang="ko-KR" altLang="en-US" sz="1400"/>
          </a:p>
        </p:txBody>
      </p:sp>
      <p:sp>
        <p:nvSpPr>
          <p:cNvPr id="2" name="순서도: 종속 처리 1"/>
          <p:cNvSpPr/>
          <p:nvPr/>
        </p:nvSpPr>
        <p:spPr>
          <a:xfrm>
            <a:off x="800649" y="4224929"/>
            <a:ext cx="1800306" cy="1017589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Spark</a:t>
            </a:r>
          </a:p>
          <a:p>
            <a:pPr algn="ctr"/>
            <a:r>
              <a:rPr lang="en-US" altLang="ko-KR" smtClean="0"/>
              <a:t>Driver</a:t>
            </a:r>
            <a:endParaRPr lang="ko-KR" altLang="en-US"/>
          </a:p>
        </p:txBody>
      </p:sp>
      <p:sp>
        <p:nvSpPr>
          <p:cNvPr id="42" name="순서도: 종속 처리 41"/>
          <p:cNvSpPr/>
          <p:nvPr/>
        </p:nvSpPr>
        <p:spPr>
          <a:xfrm>
            <a:off x="3724499" y="2325442"/>
            <a:ext cx="1800306" cy="1017589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Spark</a:t>
            </a:r>
          </a:p>
          <a:p>
            <a:pPr algn="ctr"/>
            <a:r>
              <a:rPr lang="en-US" altLang="ko-KR" smtClean="0"/>
              <a:t>Executor</a:t>
            </a:r>
            <a:endParaRPr lang="ko-KR" altLang="en-US"/>
          </a:p>
        </p:txBody>
      </p:sp>
      <p:sp>
        <p:nvSpPr>
          <p:cNvPr id="43" name="순서도: 종속 처리 42"/>
          <p:cNvSpPr/>
          <p:nvPr/>
        </p:nvSpPr>
        <p:spPr>
          <a:xfrm>
            <a:off x="3700572" y="5014580"/>
            <a:ext cx="1800306" cy="1017589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Spark</a:t>
            </a:r>
          </a:p>
          <a:p>
            <a:pPr algn="ctr"/>
            <a:r>
              <a:rPr lang="en-US" altLang="ko-KR" smtClean="0"/>
              <a:t>Executor</a:t>
            </a: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481705" y="1051572"/>
            <a:ext cx="5910617" cy="2858689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3454327" y="4008629"/>
            <a:ext cx="5937995" cy="2746058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422253" y="1428721"/>
            <a:ext cx="2586531" cy="4191094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>
            <a:endCxn id="42" idx="1"/>
          </p:cNvCxnSpPr>
          <p:nvPr/>
        </p:nvCxnSpPr>
        <p:spPr>
          <a:xfrm flipV="1">
            <a:off x="2141548" y="2834237"/>
            <a:ext cx="1582951" cy="1879726"/>
          </a:xfrm>
          <a:prstGeom prst="straightConnector1">
            <a:avLst/>
          </a:prstGeom>
          <a:ln w="508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endCxn id="43" idx="1"/>
          </p:cNvCxnSpPr>
          <p:nvPr/>
        </p:nvCxnSpPr>
        <p:spPr>
          <a:xfrm>
            <a:off x="2104324" y="4917434"/>
            <a:ext cx="1596248" cy="605941"/>
          </a:xfrm>
          <a:prstGeom prst="straightConnector1">
            <a:avLst/>
          </a:prstGeom>
          <a:ln w="508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>
            <a:endCxn id="2" idx="0"/>
          </p:cNvCxnSpPr>
          <p:nvPr/>
        </p:nvCxnSpPr>
        <p:spPr>
          <a:xfrm>
            <a:off x="1654021" y="3140968"/>
            <a:ext cx="46781" cy="1083961"/>
          </a:xfrm>
          <a:prstGeom prst="straightConnector1">
            <a:avLst/>
          </a:prstGeom>
          <a:ln w="69850" cmpd="dbl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stCxn id="40" idx="1"/>
            <a:endCxn id="42" idx="3"/>
          </p:cNvCxnSpPr>
          <p:nvPr/>
        </p:nvCxnSpPr>
        <p:spPr>
          <a:xfrm flipH="1" flipV="1">
            <a:off x="5524805" y="2834237"/>
            <a:ext cx="2205209" cy="315860"/>
          </a:xfrm>
          <a:prstGeom prst="straightConnector1">
            <a:avLst/>
          </a:prstGeom>
          <a:ln w="69850" cmpd="dbl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stCxn id="41" idx="1"/>
            <a:endCxn id="43" idx="3"/>
          </p:cNvCxnSpPr>
          <p:nvPr/>
        </p:nvCxnSpPr>
        <p:spPr>
          <a:xfrm flipH="1" flipV="1">
            <a:off x="5500878" y="5523375"/>
            <a:ext cx="2271277" cy="487403"/>
          </a:xfrm>
          <a:prstGeom prst="straightConnector1">
            <a:avLst/>
          </a:prstGeom>
          <a:ln w="69850" cmpd="dbl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>
            <a:stCxn id="2" idx="3"/>
            <a:endCxn id="4" idx="2"/>
          </p:cNvCxnSpPr>
          <p:nvPr/>
        </p:nvCxnSpPr>
        <p:spPr>
          <a:xfrm flipV="1">
            <a:off x="2600955" y="2027358"/>
            <a:ext cx="3657602" cy="2706366"/>
          </a:xfrm>
          <a:prstGeom prst="straightConnector1">
            <a:avLst/>
          </a:prstGeom>
          <a:ln w="69850" cmpd="dbl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>
            <a:endCxn id="35" idx="2"/>
          </p:cNvCxnSpPr>
          <p:nvPr/>
        </p:nvCxnSpPr>
        <p:spPr>
          <a:xfrm>
            <a:off x="5318740" y="2825417"/>
            <a:ext cx="939818" cy="307805"/>
          </a:xfrm>
          <a:prstGeom prst="straightConnector1">
            <a:avLst/>
          </a:prstGeom>
          <a:ln w="69850" cmpd="dbl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>
            <a:endCxn id="36" idx="2"/>
          </p:cNvCxnSpPr>
          <p:nvPr/>
        </p:nvCxnSpPr>
        <p:spPr>
          <a:xfrm>
            <a:off x="5303072" y="5767076"/>
            <a:ext cx="1043377" cy="282468"/>
          </a:xfrm>
          <a:prstGeom prst="straightConnector1">
            <a:avLst/>
          </a:prstGeom>
          <a:ln w="69850" cmpd="dbl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순서도: 종속 처리 87"/>
          <p:cNvSpPr/>
          <p:nvPr/>
        </p:nvSpPr>
        <p:spPr>
          <a:xfrm>
            <a:off x="3724499" y="1201126"/>
            <a:ext cx="1800306" cy="1017589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Spark</a:t>
            </a:r>
          </a:p>
          <a:p>
            <a:pPr algn="ctr"/>
            <a:r>
              <a:rPr lang="en-US" altLang="ko-KR" smtClean="0"/>
              <a:t>AppMaster</a:t>
            </a:r>
            <a:endParaRPr lang="ko-KR" altLang="en-US"/>
          </a:p>
        </p:txBody>
      </p:sp>
      <p:cxnSp>
        <p:nvCxnSpPr>
          <p:cNvPr id="92" name="직선 화살표 연결선 91"/>
          <p:cNvCxnSpPr>
            <a:stCxn id="8" idx="1"/>
            <a:endCxn id="88" idx="3"/>
          </p:cNvCxnSpPr>
          <p:nvPr/>
        </p:nvCxnSpPr>
        <p:spPr>
          <a:xfrm flipH="1" flipV="1">
            <a:off x="5524805" y="1709921"/>
            <a:ext cx="2247350" cy="3207513"/>
          </a:xfrm>
          <a:prstGeom prst="straightConnector1">
            <a:avLst/>
          </a:prstGeom>
          <a:ln w="69850" cmpd="dbl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>
            <a:stCxn id="2" idx="3"/>
          </p:cNvCxnSpPr>
          <p:nvPr/>
        </p:nvCxnSpPr>
        <p:spPr>
          <a:xfrm flipV="1">
            <a:off x="2600955" y="2027358"/>
            <a:ext cx="2028009" cy="2706366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stCxn id="2" idx="3"/>
            <a:endCxn id="8" idx="1"/>
          </p:cNvCxnSpPr>
          <p:nvPr/>
        </p:nvCxnSpPr>
        <p:spPr>
          <a:xfrm>
            <a:off x="2600955" y="4733724"/>
            <a:ext cx="5171200" cy="183710"/>
          </a:xfrm>
          <a:prstGeom prst="straightConnector1">
            <a:avLst/>
          </a:prstGeom>
          <a:ln w="69850" cmpd="dbl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37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2. Spark </a:t>
            </a:r>
            <a:r>
              <a:rPr kumimoji="0" lang="ko-KR" altLang="en-US" sz="3000" b="1">
                <a:solidFill>
                  <a:prstClr val="white"/>
                </a:solidFill>
              </a:rPr>
              <a:t>설치 및 설정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388300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Spark </a:t>
            </a:r>
            <a:r>
              <a:rPr lang="ko-KR" altLang="en-US" b="1" smtClean="0">
                <a:solidFill>
                  <a:prstClr val="black"/>
                </a:solidFill>
              </a:rPr>
              <a:t>단독 클러스터 매니저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6069124" y="3973785"/>
            <a:ext cx="3132348" cy="2780901"/>
            <a:chOff x="5241032" y="1388089"/>
            <a:chExt cx="3132348" cy="2780901"/>
          </a:xfrm>
        </p:grpSpPr>
        <p:sp>
          <p:nvSpPr>
            <p:cNvPr id="31" name="빗면 30"/>
            <p:cNvSpPr/>
            <p:nvPr/>
          </p:nvSpPr>
          <p:spPr>
            <a:xfrm>
              <a:off x="5241032" y="1916832"/>
              <a:ext cx="3132348" cy="1117287"/>
            </a:xfrm>
            <a:prstGeom prst="bevel">
              <a:avLst>
                <a:gd name="adj" fmla="val 3505"/>
              </a:avLst>
            </a:prstGeom>
            <a:solidFill>
              <a:schemeClr val="accent6">
                <a:alpha val="3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2" name="빗면 31"/>
            <p:cNvSpPr/>
            <p:nvPr/>
          </p:nvSpPr>
          <p:spPr>
            <a:xfrm>
              <a:off x="5241032" y="3034120"/>
              <a:ext cx="3132348" cy="1134870"/>
            </a:xfrm>
            <a:prstGeom prst="bevel">
              <a:avLst>
                <a:gd name="adj" fmla="val 3505"/>
              </a:avLst>
            </a:prstGeom>
            <a:solidFill>
              <a:schemeClr val="accent6">
                <a:alpha val="1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26076" y="1388089"/>
              <a:ext cx="23487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[ 3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secondnode ]</a:t>
              </a:r>
            </a:p>
            <a:p>
              <a:pPr algn="ctr"/>
              <a:r>
                <a:rPr lang="en-US" altLang="ko-KR" sz="1400" b="1"/>
                <a:t>enp0s8 </a:t>
              </a:r>
              <a:r>
                <a:rPr lang="en-US" altLang="ko-KR" sz="1400" b="1" smtClean="0"/>
                <a:t>192.168.56.41</a:t>
              </a:r>
              <a:endParaRPr lang="ko-KR" altLang="en-US" sz="1400" b="1"/>
            </a:p>
          </p:txBody>
        </p:sp>
        <p:sp>
          <p:nvSpPr>
            <p:cNvPr id="34" name="원통 33"/>
            <p:cNvSpPr/>
            <p:nvPr/>
          </p:nvSpPr>
          <p:spPr>
            <a:xfrm>
              <a:off x="5518357" y="2050882"/>
              <a:ext cx="1109299" cy="60594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Secondary</a:t>
              </a:r>
            </a:p>
            <a:p>
              <a:pPr algn="ctr"/>
              <a:r>
                <a:rPr lang="en-US" altLang="ko-KR" sz="1400" smtClean="0"/>
                <a:t>Namenode</a:t>
              </a:r>
              <a:endParaRPr lang="ko-KR" altLang="en-US" sz="1400"/>
            </a:p>
          </p:txBody>
        </p:sp>
        <p:sp>
          <p:nvSpPr>
            <p:cNvPr id="36" name="원통 35"/>
            <p:cNvSpPr/>
            <p:nvPr/>
          </p:nvSpPr>
          <p:spPr>
            <a:xfrm>
              <a:off x="5518357" y="3160878"/>
              <a:ext cx="1109299" cy="60594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</a:t>
              </a:r>
              <a:endParaRPr lang="ko-KR" altLang="en-US" sz="140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5845928" y="2720346"/>
              <a:ext cx="2052202" cy="2085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secondnode.hadoop.kr</a:t>
              </a:r>
              <a:endParaRPr lang="ko-KR" altLang="en-US" sz="1400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5849404" y="3844954"/>
              <a:ext cx="2052202" cy="2085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datanode2.hadoop.kr</a:t>
              </a:r>
              <a:endParaRPr lang="ko-KR" altLang="en-US" sz="1400"/>
            </a:p>
          </p:txBody>
        </p:sp>
        <p:sp>
          <p:nvSpPr>
            <p:cNvPr id="8" name="오각형 7"/>
            <p:cNvSpPr/>
            <p:nvPr/>
          </p:nvSpPr>
          <p:spPr>
            <a:xfrm>
              <a:off x="6944063" y="2067534"/>
              <a:ext cx="1109299" cy="528408"/>
            </a:xfrm>
            <a:prstGeom prst="homePlat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bg1"/>
                  </a:solidFill>
                </a:rPr>
                <a:t>Spark</a:t>
              </a:r>
            </a:p>
            <a:p>
              <a:pPr algn="ctr"/>
              <a:r>
                <a:rPr lang="en-US" altLang="ko-KR" sz="1400" smtClean="0">
                  <a:solidFill>
                    <a:schemeClr val="bg1"/>
                  </a:solidFill>
                </a:rPr>
                <a:t>Master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  <p:sp>
          <p:nvSpPr>
            <p:cNvPr id="41" name="오각형 40"/>
            <p:cNvSpPr/>
            <p:nvPr/>
          </p:nvSpPr>
          <p:spPr>
            <a:xfrm>
              <a:off x="6944063" y="3160878"/>
              <a:ext cx="1109299" cy="528408"/>
            </a:xfrm>
            <a:prstGeom prst="homePlat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Node</a:t>
              </a:r>
            </a:p>
            <a:p>
              <a:pPr algn="ctr"/>
              <a:r>
                <a:rPr lang="en-US" altLang="ko-KR" sz="1400">
                  <a:solidFill>
                    <a:schemeClr val="tx2"/>
                  </a:solidFill>
                </a:rPr>
                <a:t>Worker</a:t>
              </a:r>
              <a:endParaRPr lang="ko-KR" altLang="en-US" sz="140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6065503" y="1051572"/>
            <a:ext cx="3135969" cy="2828223"/>
            <a:chOff x="1678319" y="1340768"/>
            <a:chExt cx="3310685" cy="2828223"/>
          </a:xfrm>
        </p:grpSpPr>
        <p:sp>
          <p:nvSpPr>
            <p:cNvPr id="25" name="빗면 24"/>
            <p:cNvSpPr/>
            <p:nvPr/>
          </p:nvSpPr>
          <p:spPr>
            <a:xfrm>
              <a:off x="1678319" y="1916832"/>
              <a:ext cx="3310685" cy="1117287"/>
            </a:xfrm>
            <a:prstGeom prst="bevel">
              <a:avLst>
                <a:gd name="adj" fmla="val 3505"/>
              </a:avLst>
            </a:prstGeom>
            <a:solidFill>
              <a:schemeClr val="accent4">
                <a:alpha val="20000"/>
              </a:schemeClr>
            </a:solidFill>
            <a:ln>
              <a:solidFill>
                <a:schemeClr val="accent4">
                  <a:shade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0" name="빗면 29"/>
            <p:cNvSpPr/>
            <p:nvPr/>
          </p:nvSpPr>
          <p:spPr>
            <a:xfrm>
              <a:off x="1678319" y="3032957"/>
              <a:ext cx="3310685" cy="1136034"/>
            </a:xfrm>
            <a:prstGeom prst="bevel">
              <a:avLst>
                <a:gd name="adj" fmla="val 3505"/>
              </a:avLst>
            </a:prstGeom>
            <a:solidFill>
              <a:schemeClr val="accent4">
                <a:alpha val="1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226866" y="1340768"/>
              <a:ext cx="22172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[ 2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namenode ]</a:t>
              </a:r>
            </a:p>
            <a:p>
              <a:pPr algn="ctr"/>
              <a:r>
                <a:rPr lang="en-US" altLang="ko-KR" sz="1400" b="1" smtClean="0"/>
                <a:t>enp0s8 192.168.56.31</a:t>
              </a:r>
              <a:endParaRPr lang="ko-KR" altLang="en-US" sz="1400" b="1"/>
            </a:p>
          </p:txBody>
        </p:sp>
        <p:sp>
          <p:nvSpPr>
            <p:cNvPr id="4" name="원통 3"/>
            <p:cNvSpPr/>
            <p:nvPr/>
          </p:nvSpPr>
          <p:spPr>
            <a:xfrm>
              <a:off x="1882129" y="2024844"/>
              <a:ext cx="1172455" cy="58342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Namenode</a:t>
              </a:r>
              <a:endParaRPr lang="ko-KR" altLang="en-US" sz="1400"/>
            </a:p>
          </p:txBody>
        </p:sp>
        <p:sp>
          <p:nvSpPr>
            <p:cNvPr id="35" name="원통 34"/>
            <p:cNvSpPr/>
            <p:nvPr/>
          </p:nvSpPr>
          <p:spPr>
            <a:xfrm>
              <a:off x="1882130" y="3128109"/>
              <a:ext cx="1172454" cy="588618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</a:t>
              </a:r>
              <a:endParaRPr lang="ko-KR" altLang="en-US" sz="140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2249140" y="2708920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namenode.hadoop.kr</a:t>
              </a:r>
              <a:endParaRPr lang="ko-KR" altLang="en-US" sz="140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226867" y="3813068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datanode1.hadoop.kr</a:t>
              </a:r>
              <a:endParaRPr lang="ko-KR" altLang="en-US" sz="1400"/>
            </a:p>
          </p:txBody>
        </p:sp>
        <p:sp>
          <p:nvSpPr>
            <p:cNvPr id="40" name="오각형 39"/>
            <p:cNvSpPr/>
            <p:nvPr/>
          </p:nvSpPr>
          <p:spPr>
            <a:xfrm>
              <a:off x="3435566" y="3150452"/>
              <a:ext cx="1172455" cy="577682"/>
            </a:xfrm>
            <a:prstGeom prst="homePlat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Spark</a:t>
              </a:r>
            </a:p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Worker</a:t>
              </a:r>
              <a:endParaRPr lang="ko-KR" altLang="en-US" sz="1400">
                <a:solidFill>
                  <a:schemeClr val="tx2"/>
                </a:solidFill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596516" y="1592796"/>
            <a:ext cx="2205998" cy="2377428"/>
            <a:chOff x="1678319" y="1692276"/>
            <a:chExt cx="3310685" cy="1776588"/>
          </a:xfrm>
        </p:grpSpPr>
        <p:sp>
          <p:nvSpPr>
            <p:cNvPr id="28" name="빗면 27"/>
            <p:cNvSpPr/>
            <p:nvPr/>
          </p:nvSpPr>
          <p:spPr>
            <a:xfrm>
              <a:off x="1678319" y="2288681"/>
              <a:ext cx="3310685" cy="1180183"/>
            </a:xfrm>
            <a:prstGeom prst="bevel">
              <a:avLst>
                <a:gd name="adj" fmla="val 3505"/>
              </a:avLst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15032" y="1692276"/>
              <a:ext cx="20409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[ 1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client ]</a:t>
              </a:r>
            </a:p>
            <a:p>
              <a:pPr algn="ctr"/>
              <a:r>
                <a:rPr lang="en-US" altLang="ko-KR" sz="1400" b="1" smtClean="0"/>
                <a:t>enp0s8 192.168.56.21</a:t>
              </a:r>
              <a:endParaRPr lang="ko-KR" altLang="en-US" sz="1400" b="1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2287168" y="3140403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client.hadoop.kr</a:t>
              </a:r>
              <a:endParaRPr lang="ko-KR" altLang="en-US" sz="1400"/>
            </a:p>
          </p:txBody>
        </p:sp>
      </p:grpSp>
      <p:sp>
        <p:nvSpPr>
          <p:cNvPr id="49" name="줄무늬가 있는 오른쪽 화살표 48"/>
          <p:cNvSpPr/>
          <p:nvPr/>
        </p:nvSpPr>
        <p:spPr>
          <a:xfrm>
            <a:off x="770697" y="2492109"/>
            <a:ext cx="1857636" cy="758329"/>
          </a:xfrm>
          <a:prstGeom prst="stripedRightArrow">
            <a:avLst>
              <a:gd name="adj1" fmla="val 6898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smtClean="0"/>
              <a:t>Spark CLI</a:t>
            </a:r>
          </a:p>
          <a:p>
            <a:pPr algn="ctr"/>
            <a:r>
              <a:rPr lang="en-US" altLang="ko-KR" sz="1400" smtClean="0"/>
              <a:t>$ spark-shell </a:t>
            </a:r>
            <a:endParaRPr lang="ko-KR" altLang="en-US" sz="1400"/>
          </a:p>
        </p:txBody>
      </p:sp>
      <p:sp>
        <p:nvSpPr>
          <p:cNvPr id="2" name="순서도: 종속 처리 1"/>
          <p:cNvSpPr/>
          <p:nvPr/>
        </p:nvSpPr>
        <p:spPr>
          <a:xfrm>
            <a:off x="800649" y="4224929"/>
            <a:ext cx="1800306" cy="1017589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Spark</a:t>
            </a:r>
          </a:p>
          <a:p>
            <a:pPr algn="ctr"/>
            <a:r>
              <a:rPr lang="en-US" altLang="ko-KR" smtClean="0"/>
              <a:t>Driver</a:t>
            </a:r>
            <a:endParaRPr lang="ko-KR" altLang="en-US"/>
          </a:p>
        </p:txBody>
      </p:sp>
      <p:sp>
        <p:nvSpPr>
          <p:cNvPr id="42" name="순서도: 종속 처리 41"/>
          <p:cNvSpPr/>
          <p:nvPr/>
        </p:nvSpPr>
        <p:spPr>
          <a:xfrm>
            <a:off x="3724499" y="2063633"/>
            <a:ext cx="1800306" cy="1017589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Spark</a:t>
            </a:r>
          </a:p>
          <a:p>
            <a:pPr algn="ctr"/>
            <a:r>
              <a:rPr lang="en-US" altLang="ko-KR" smtClean="0"/>
              <a:t>Executor</a:t>
            </a:r>
            <a:endParaRPr lang="ko-KR" altLang="en-US"/>
          </a:p>
        </p:txBody>
      </p:sp>
      <p:sp>
        <p:nvSpPr>
          <p:cNvPr id="43" name="순서도: 종속 처리 42"/>
          <p:cNvSpPr/>
          <p:nvPr/>
        </p:nvSpPr>
        <p:spPr>
          <a:xfrm>
            <a:off x="3700572" y="5014580"/>
            <a:ext cx="1800306" cy="1017589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Spark</a:t>
            </a:r>
          </a:p>
          <a:p>
            <a:pPr algn="ctr"/>
            <a:r>
              <a:rPr lang="en-US" altLang="ko-KR" smtClean="0"/>
              <a:t>Executor</a:t>
            </a: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607306" y="1051572"/>
            <a:ext cx="5785016" cy="2858689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3607306" y="4008629"/>
            <a:ext cx="5785016" cy="2746058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422253" y="1428721"/>
            <a:ext cx="2586531" cy="4191094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>
            <a:endCxn id="42" idx="1"/>
          </p:cNvCxnSpPr>
          <p:nvPr/>
        </p:nvCxnSpPr>
        <p:spPr>
          <a:xfrm flipV="1">
            <a:off x="2141549" y="2572428"/>
            <a:ext cx="1582950" cy="2080803"/>
          </a:xfrm>
          <a:prstGeom prst="straightConnector1">
            <a:avLst/>
          </a:prstGeom>
          <a:ln w="508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/>
          <p:cNvCxnSpPr>
            <a:endCxn id="43" idx="1"/>
          </p:cNvCxnSpPr>
          <p:nvPr/>
        </p:nvCxnSpPr>
        <p:spPr>
          <a:xfrm>
            <a:off x="2104324" y="4917434"/>
            <a:ext cx="1596248" cy="605941"/>
          </a:xfrm>
          <a:prstGeom prst="straightConnector1">
            <a:avLst/>
          </a:prstGeom>
          <a:ln w="508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/>
          <p:cNvCxnSpPr>
            <a:endCxn id="2" idx="0"/>
          </p:cNvCxnSpPr>
          <p:nvPr/>
        </p:nvCxnSpPr>
        <p:spPr>
          <a:xfrm>
            <a:off x="1654021" y="3140968"/>
            <a:ext cx="46781" cy="1083961"/>
          </a:xfrm>
          <a:prstGeom prst="straightConnector1">
            <a:avLst/>
          </a:prstGeom>
          <a:ln w="69850" cmpd="dbl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stCxn id="40" idx="1"/>
            <a:endCxn id="42" idx="3"/>
          </p:cNvCxnSpPr>
          <p:nvPr/>
        </p:nvCxnSpPr>
        <p:spPr>
          <a:xfrm flipH="1" flipV="1">
            <a:off x="5524805" y="2572428"/>
            <a:ext cx="2205209" cy="577669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stCxn id="41" idx="1"/>
            <a:endCxn id="43" idx="3"/>
          </p:cNvCxnSpPr>
          <p:nvPr/>
        </p:nvCxnSpPr>
        <p:spPr>
          <a:xfrm flipH="1" flipV="1">
            <a:off x="5500878" y="5523375"/>
            <a:ext cx="2271277" cy="487403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stCxn id="2" idx="3"/>
            <a:endCxn id="8" idx="1"/>
          </p:cNvCxnSpPr>
          <p:nvPr/>
        </p:nvCxnSpPr>
        <p:spPr>
          <a:xfrm>
            <a:off x="2600955" y="4733724"/>
            <a:ext cx="5171200" cy="183710"/>
          </a:xfrm>
          <a:prstGeom prst="straightConnector1">
            <a:avLst/>
          </a:prstGeom>
          <a:ln w="69850" cmpd="dbl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>
            <a:stCxn id="2" idx="3"/>
            <a:endCxn id="4" idx="2"/>
          </p:cNvCxnSpPr>
          <p:nvPr/>
        </p:nvCxnSpPr>
        <p:spPr>
          <a:xfrm flipV="1">
            <a:off x="2600955" y="2027358"/>
            <a:ext cx="3657602" cy="2706366"/>
          </a:xfrm>
          <a:prstGeom prst="straightConnector1">
            <a:avLst/>
          </a:prstGeom>
          <a:ln w="69850" cmpd="dbl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>
            <a:endCxn id="35" idx="2"/>
          </p:cNvCxnSpPr>
          <p:nvPr/>
        </p:nvCxnSpPr>
        <p:spPr>
          <a:xfrm>
            <a:off x="5318740" y="2825417"/>
            <a:ext cx="939818" cy="307805"/>
          </a:xfrm>
          <a:prstGeom prst="straightConnector1">
            <a:avLst/>
          </a:prstGeom>
          <a:ln w="69850" cmpd="dbl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>
            <a:endCxn id="36" idx="2"/>
          </p:cNvCxnSpPr>
          <p:nvPr/>
        </p:nvCxnSpPr>
        <p:spPr>
          <a:xfrm>
            <a:off x="5303072" y="5767076"/>
            <a:ext cx="1043377" cy="282468"/>
          </a:xfrm>
          <a:prstGeom prst="straightConnector1">
            <a:avLst/>
          </a:prstGeom>
          <a:ln w="69850" cmpd="dbl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50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2. </a:t>
            </a:r>
            <a:r>
              <a:rPr kumimoji="0" lang="en-US" altLang="ko-KR" sz="3000" b="1">
                <a:solidFill>
                  <a:prstClr val="white"/>
                </a:solidFill>
              </a:rPr>
              <a:t>Spark </a:t>
            </a:r>
            <a:r>
              <a:rPr kumimoji="0" lang="ko-KR" altLang="en-US" sz="3000" b="1">
                <a:solidFill>
                  <a:prstClr val="white"/>
                </a:solidFill>
              </a:rPr>
              <a:t>설치 및 설정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152384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Spark </a:t>
            </a:r>
            <a:r>
              <a:rPr lang="ko-KR" altLang="en-US" b="1" smtClean="0">
                <a:solidFill>
                  <a:prstClr val="black"/>
                </a:solidFill>
              </a:rPr>
              <a:t>로컬 모드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6069124" y="3973785"/>
            <a:ext cx="3132348" cy="2780901"/>
            <a:chOff x="5241032" y="1388089"/>
            <a:chExt cx="3132348" cy="2780901"/>
          </a:xfrm>
        </p:grpSpPr>
        <p:sp>
          <p:nvSpPr>
            <p:cNvPr id="31" name="빗면 30"/>
            <p:cNvSpPr/>
            <p:nvPr/>
          </p:nvSpPr>
          <p:spPr>
            <a:xfrm>
              <a:off x="5241032" y="1916832"/>
              <a:ext cx="3132348" cy="1117287"/>
            </a:xfrm>
            <a:prstGeom prst="bevel">
              <a:avLst>
                <a:gd name="adj" fmla="val 3505"/>
              </a:avLst>
            </a:prstGeom>
            <a:solidFill>
              <a:schemeClr val="accent6">
                <a:alpha val="3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2" name="빗면 31"/>
            <p:cNvSpPr/>
            <p:nvPr/>
          </p:nvSpPr>
          <p:spPr>
            <a:xfrm>
              <a:off x="5241032" y="3034120"/>
              <a:ext cx="3132348" cy="1134870"/>
            </a:xfrm>
            <a:prstGeom prst="bevel">
              <a:avLst>
                <a:gd name="adj" fmla="val 3505"/>
              </a:avLst>
            </a:prstGeom>
            <a:solidFill>
              <a:schemeClr val="accent6">
                <a:alpha val="10000"/>
              </a:schemeClr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26076" y="1388089"/>
              <a:ext cx="23487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[ 3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secondnode ]</a:t>
              </a:r>
            </a:p>
            <a:p>
              <a:pPr algn="ctr"/>
              <a:r>
                <a:rPr lang="en-US" altLang="ko-KR" sz="1400" b="1"/>
                <a:t>enp0s8 </a:t>
              </a:r>
              <a:r>
                <a:rPr lang="en-US" altLang="ko-KR" sz="1400" b="1" smtClean="0"/>
                <a:t>192.168.56.41</a:t>
              </a:r>
              <a:endParaRPr lang="ko-KR" altLang="en-US" sz="1400" b="1"/>
            </a:p>
          </p:txBody>
        </p:sp>
        <p:sp>
          <p:nvSpPr>
            <p:cNvPr id="34" name="원통 33"/>
            <p:cNvSpPr/>
            <p:nvPr/>
          </p:nvSpPr>
          <p:spPr>
            <a:xfrm>
              <a:off x="5518357" y="2050882"/>
              <a:ext cx="1109299" cy="60594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Secondary</a:t>
              </a:r>
            </a:p>
            <a:p>
              <a:pPr algn="ctr"/>
              <a:r>
                <a:rPr lang="en-US" altLang="ko-KR" sz="1400" smtClean="0"/>
                <a:t>Namenode</a:t>
              </a:r>
              <a:endParaRPr lang="ko-KR" altLang="en-US" sz="1400"/>
            </a:p>
          </p:txBody>
        </p:sp>
        <p:sp>
          <p:nvSpPr>
            <p:cNvPr id="36" name="원통 35"/>
            <p:cNvSpPr/>
            <p:nvPr/>
          </p:nvSpPr>
          <p:spPr>
            <a:xfrm>
              <a:off x="5518357" y="3160878"/>
              <a:ext cx="1109299" cy="60594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</a:t>
              </a:r>
              <a:endParaRPr lang="ko-KR" altLang="en-US" sz="140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5845928" y="2720346"/>
              <a:ext cx="2052202" cy="2085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secondnode.hadoop.kr</a:t>
              </a:r>
              <a:endParaRPr lang="ko-KR" altLang="en-US" sz="1400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5849404" y="3844954"/>
              <a:ext cx="2052202" cy="2085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datanode2.hadoop.kr</a:t>
              </a:r>
              <a:endParaRPr lang="ko-KR" altLang="en-US" sz="1400"/>
            </a:p>
          </p:txBody>
        </p:sp>
        <p:sp>
          <p:nvSpPr>
            <p:cNvPr id="8" name="오각형 7"/>
            <p:cNvSpPr/>
            <p:nvPr/>
          </p:nvSpPr>
          <p:spPr>
            <a:xfrm>
              <a:off x="6944063" y="2067534"/>
              <a:ext cx="1109299" cy="528408"/>
            </a:xfrm>
            <a:prstGeom prst="homePlat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bg1"/>
                  </a:solidFill>
                </a:rPr>
                <a:t>Spark</a:t>
              </a:r>
            </a:p>
            <a:p>
              <a:pPr algn="ctr"/>
              <a:r>
                <a:rPr lang="en-US" altLang="ko-KR" sz="1400" smtClean="0">
                  <a:solidFill>
                    <a:schemeClr val="bg1"/>
                  </a:solidFill>
                </a:rPr>
                <a:t>Master</a:t>
              </a:r>
              <a:endParaRPr lang="ko-KR" altLang="en-US" sz="1400">
                <a:solidFill>
                  <a:schemeClr val="bg1"/>
                </a:solidFill>
              </a:endParaRPr>
            </a:p>
          </p:txBody>
        </p:sp>
        <p:sp>
          <p:nvSpPr>
            <p:cNvPr id="41" name="오각형 40"/>
            <p:cNvSpPr/>
            <p:nvPr/>
          </p:nvSpPr>
          <p:spPr>
            <a:xfrm>
              <a:off x="6944063" y="3160878"/>
              <a:ext cx="1109299" cy="528408"/>
            </a:xfrm>
            <a:prstGeom prst="homePlat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Node</a:t>
              </a:r>
            </a:p>
            <a:p>
              <a:pPr algn="ctr"/>
              <a:r>
                <a:rPr lang="en-US" altLang="ko-KR" sz="1400">
                  <a:solidFill>
                    <a:schemeClr val="tx2"/>
                  </a:solidFill>
                </a:rPr>
                <a:t>Worker</a:t>
              </a:r>
              <a:endParaRPr lang="ko-KR" altLang="en-US" sz="140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6065503" y="1051572"/>
            <a:ext cx="3135969" cy="2828223"/>
            <a:chOff x="1678319" y="1340768"/>
            <a:chExt cx="3310685" cy="2828223"/>
          </a:xfrm>
        </p:grpSpPr>
        <p:sp>
          <p:nvSpPr>
            <p:cNvPr id="25" name="빗면 24"/>
            <p:cNvSpPr/>
            <p:nvPr/>
          </p:nvSpPr>
          <p:spPr>
            <a:xfrm>
              <a:off x="1678319" y="1916832"/>
              <a:ext cx="3310685" cy="1117287"/>
            </a:xfrm>
            <a:prstGeom prst="bevel">
              <a:avLst>
                <a:gd name="adj" fmla="val 3505"/>
              </a:avLst>
            </a:prstGeom>
            <a:solidFill>
              <a:schemeClr val="accent4">
                <a:alpha val="20000"/>
              </a:schemeClr>
            </a:solidFill>
            <a:ln>
              <a:solidFill>
                <a:schemeClr val="accent4">
                  <a:shade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0" name="빗면 29"/>
            <p:cNvSpPr/>
            <p:nvPr/>
          </p:nvSpPr>
          <p:spPr>
            <a:xfrm>
              <a:off x="1678319" y="3032957"/>
              <a:ext cx="3310685" cy="1136034"/>
            </a:xfrm>
            <a:prstGeom prst="bevel">
              <a:avLst>
                <a:gd name="adj" fmla="val 3505"/>
              </a:avLst>
            </a:prstGeom>
            <a:solidFill>
              <a:schemeClr val="accent4">
                <a:alpha val="10000"/>
              </a:schemeClr>
            </a:solidFill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226866" y="1340768"/>
              <a:ext cx="22172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[ 2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namenode ]</a:t>
              </a:r>
            </a:p>
            <a:p>
              <a:pPr algn="ctr"/>
              <a:r>
                <a:rPr lang="en-US" altLang="ko-KR" sz="1400" b="1" smtClean="0"/>
                <a:t>enp0s8 192.168.56.31</a:t>
              </a:r>
              <a:endParaRPr lang="ko-KR" altLang="en-US" sz="1400" b="1"/>
            </a:p>
          </p:txBody>
        </p:sp>
        <p:sp>
          <p:nvSpPr>
            <p:cNvPr id="4" name="원통 3"/>
            <p:cNvSpPr/>
            <p:nvPr/>
          </p:nvSpPr>
          <p:spPr>
            <a:xfrm>
              <a:off x="1882129" y="2024844"/>
              <a:ext cx="1172455" cy="583420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Namenode</a:t>
              </a:r>
              <a:endParaRPr lang="ko-KR" altLang="en-US" sz="1400"/>
            </a:p>
          </p:txBody>
        </p:sp>
        <p:sp>
          <p:nvSpPr>
            <p:cNvPr id="35" name="원통 34"/>
            <p:cNvSpPr/>
            <p:nvPr/>
          </p:nvSpPr>
          <p:spPr>
            <a:xfrm>
              <a:off x="1882130" y="3128109"/>
              <a:ext cx="1172454" cy="588618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</a:t>
              </a:r>
              <a:endParaRPr lang="ko-KR" altLang="en-US" sz="140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2249140" y="2708920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namenode.hadoop.kr</a:t>
              </a:r>
              <a:endParaRPr lang="ko-KR" altLang="en-US" sz="140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2226867" y="3813068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datanode1.hadoop.kr</a:t>
              </a:r>
              <a:endParaRPr lang="ko-KR" altLang="en-US" sz="1400"/>
            </a:p>
          </p:txBody>
        </p:sp>
        <p:sp>
          <p:nvSpPr>
            <p:cNvPr id="40" name="오각형 39"/>
            <p:cNvSpPr/>
            <p:nvPr/>
          </p:nvSpPr>
          <p:spPr>
            <a:xfrm>
              <a:off x="3435566" y="3150452"/>
              <a:ext cx="1172455" cy="577682"/>
            </a:xfrm>
            <a:prstGeom prst="homePlat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Spark</a:t>
              </a:r>
            </a:p>
            <a:p>
              <a:pPr algn="ctr"/>
              <a:r>
                <a:rPr lang="en-US" altLang="ko-KR" sz="1400" smtClean="0">
                  <a:solidFill>
                    <a:schemeClr val="tx2"/>
                  </a:solidFill>
                </a:rPr>
                <a:t>Worker</a:t>
              </a:r>
              <a:endParaRPr lang="ko-KR" altLang="en-US" sz="1400">
                <a:solidFill>
                  <a:schemeClr val="tx2"/>
                </a:solidFill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596516" y="1592796"/>
            <a:ext cx="2205998" cy="2377428"/>
            <a:chOff x="1678319" y="1692276"/>
            <a:chExt cx="3310685" cy="1776588"/>
          </a:xfrm>
        </p:grpSpPr>
        <p:sp>
          <p:nvSpPr>
            <p:cNvPr id="28" name="빗면 27"/>
            <p:cNvSpPr/>
            <p:nvPr/>
          </p:nvSpPr>
          <p:spPr>
            <a:xfrm>
              <a:off x="1678319" y="2288681"/>
              <a:ext cx="3310685" cy="1180183"/>
            </a:xfrm>
            <a:prstGeom prst="bevel">
              <a:avLst>
                <a:gd name="adj" fmla="val 3505"/>
              </a:avLst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315032" y="1692276"/>
              <a:ext cx="20409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smtClean="0"/>
                <a:t>[ 1</a:t>
              </a:r>
              <a:r>
                <a:rPr lang="ko-KR" altLang="en-US" sz="1400" b="1" smtClean="0"/>
                <a:t>번 머신 </a:t>
              </a:r>
              <a:r>
                <a:rPr lang="en-US" altLang="ko-KR" sz="1400" b="1" smtClean="0"/>
                <a:t>: client ]</a:t>
              </a:r>
            </a:p>
            <a:p>
              <a:pPr algn="ctr"/>
              <a:r>
                <a:rPr lang="en-US" altLang="ko-KR" sz="1400" b="1" smtClean="0"/>
                <a:t>enp0s8 192.168.56.21</a:t>
              </a:r>
              <a:endParaRPr lang="ko-KR" altLang="en-US" sz="1400" b="1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2287168" y="3140403"/>
              <a:ext cx="2169042" cy="228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mtClean="0"/>
                <a:t>client.hadoop.kr</a:t>
              </a:r>
              <a:endParaRPr lang="ko-KR" altLang="en-US" sz="1400"/>
            </a:p>
          </p:txBody>
        </p:sp>
      </p:grpSp>
      <p:sp>
        <p:nvSpPr>
          <p:cNvPr id="49" name="줄무늬가 있는 오른쪽 화살표 48"/>
          <p:cNvSpPr/>
          <p:nvPr/>
        </p:nvSpPr>
        <p:spPr>
          <a:xfrm>
            <a:off x="770697" y="2492109"/>
            <a:ext cx="1857636" cy="758329"/>
          </a:xfrm>
          <a:prstGeom prst="stripedRightArrow">
            <a:avLst>
              <a:gd name="adj1" fmla="val 6898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smtClean="0"/>
              <a:t>Spark CLI</a:t>
            </a:r>
          </a:p>
          <a:p>
            <a:pPr algn="ctr"/>
            <a:r>
              <a:rPr lang="en-US" altLang="ko-KR" sz="1400" smtClean="0"/>
              <a:t>$ spark-shell </a:t>
            </a:r>
            <a:endParaRPr lang="ko-KR" altLang="en-US" sz="1400"/>
          </a:p>
        </p:txBody>
      </p:sp>
      <p:sp>
        <p:nvSpPr>
          <p:cNvPr id="2" name="순서도: 종속 처리 1"/>
          <p:cNvSpPr/>
          <p:nvPr/>
        </p:nvSpPr>
        <p:spPr>
          <a:xfrm>
            <a:off x="800649" y="4224929"/>
            <a:ext cx="1800306" cy="1017589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Spark</a:t>
            </a:r>
          </a:p>
          <a:p>
            <a:pPr algn="ctr"/>
            <a:r>
              <a:rPr lang="en-US" altLang="ko-KR" smtClean="0"/>
              <a:t>Driver</a:t>
            </a:r>
            <a:endParaRPr lang="ko-KR" altLang="en-US"/>
          </a:p>
        </p:txBody>
      </p:sp>
      <p:sp>
        <p:nvSpPr>
          <p:cNvPr id="43" name="순서도: 종속 처리 42"/>
          <p:cNvSpPr/>
          <p:nvPr/>
        </p:nvSpPr>
        <p:spPr>
          <a:xfrm>
            <a:off x="2597216" y="4218882"/>
            <a:ext cx="1800306" cy="1017589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Spark</a:t>
            </a:r>
          </a:p>
          <a:p>
            <a:pPr algn="ctr"/>
            <a:r>
              <a:rPr lang="en-US" altLang="ko-KR" smtClean="0"/>
              <a:t>Executor</a:t>
            </a: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5728938" y="1051572"/>
            <a:ext cx="3663384" cy="2858689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5728938" y="4008629"/>
            <a:ext cx="3663384" cy="2746058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422253" y="1428720"/>
            <a:ext cx="4178472" cy="5325965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화살표 연결선 50"/>
          <p:cNvCxnSpPr>
            <a:endCxn id="2" idx="0"/>
          </p:cNvCxnSpPr>
          <p:nvPr/>
        </p:nvCxnSpPr>
        <p:spPr>
          <a:xfrm>
            <a:off x="1654021" y="3140968"/>
            <a:ext cx="46781" cy="1083961"/>
          </a:xfrm>
          <a:prstGeom prst="straightConnector1">
            <a:avLst/>
          </a:prstGeom>
          <a:ln w="69850" cmpd="dbl">
            <a:solidFill>
              <a:schemeClr val="accent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 flipV="1">
            <a:off x="2181600" y="4726304"/>
            <a:ext cx="831231" cy="2"/>
          </a:xfrm>
          <a:prstGeom prst="straightConnector1">
            <a:avLst/>
          </a:prstGeom>
          <a:ln w="508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72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3. Spark </a:t>
            </a:r>
            <a:r>
              <a:rPr kumimoji="0" lang="ko-KR" altLang="en-US" sz="3000" b="1">
                <a:solidFill>
                  <a:prstClr val="white"/>
                </a:solidFill>
              </a:rPr>
              <a:t>로컬 모드 테스트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689151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 err="1" smtClean="0">
                <a:solidFill>
                  <a:prstClr val="black"/>
                </a:solidFill>
              </a:rPr>
              <a:t>파이썬</a:t>
            </a:r>
            <a:r>
              <a:rPr lang="ko-KR" altLang="en-US" b="1" dirty="0" smtClean="0">
                <a:solidFill>
                  <a:prstClr val="black"/>
                </a:solidFill>
              </a:rPr>
              <a:t> 언어 </a:t>
            </a:r>
            <a:r>
              <a:rPr lang="en-US" altLang="ko-KR" b="1" dirty="0" smtClean="0">
                <a:solidFill>
                  <a:prstClr val="black"/>
                </a:solidFill>
              </a:rPr>
              <a:t>:</a:t>
            </a:r>
            <a:r>
              <a:rPr lang="ko-KR" altLang="en-US" b="1" dirty="0" smtClean="0">
                <a:solidFill>
                  <a:prstClr val="black"/>
                </a:solidFill>
              </a:rPr>
              <a:t> </a:t>
            </a:r>
            <a:r>
              <a:rPr lang="ko-KR" altLang="en-US" b="1" dirty="0">
                <a:solidFill>
                  <a:prstClr val="black"/>
                </a:solidFill>
              </a:rPr>
              <a:t>로컬 모드 테스트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24311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$ spark/bin/pyspark --master local[2]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&gt;&gt;&gt;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lines = sc.textFile("file:///home/hadoop/spark/README.md") 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&gt;&gt;&gt; lines.count() 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&gt;&gt;&gt;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lines.first()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&gt;&gt;&gt;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pythonLines = lines.filter(lambda line: "Python" in line)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&gt;&gt;&gt; pythonLines.count()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&gt;&gt;&gt;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CTRL+D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93367" y="4071968"/>
            <a:ext cx="8820980" cy="2555767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 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hadoop  fs  -lsr /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lsr: DEPRECATED: Please use 'ls -R' instead.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/tmp/hadoop-yarn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/tmp/hadoop-yarn/staging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/tmp/hadoop-yarn/staging/history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/tmp/hadoop-yarn/staging/history/done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drwxrwxrwt   - hadoop supergroup          0 2017-06-07 15:13 /tmp/hadoop-yarn/staging/history/done_intermediate</a:t>
            </a: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타원형 설명선 5"/>
          <p:cNvSpPr/>
          <p:nvPr/>
        </p:nvSpPr>
        <p:spPr>
          <a:xfrm>
            <a:off x="6465168" y="2201225"/>
            <a:ext cx="3204356" cy="1416201"/>
          </a:xfrm>
          <a:prstGeom prst="wedgeEllipseCallout">
            <a:avLst>
              <a:gd name="adj1" fmla="val -63510"/>
              <a:gd name="adj2" fmla="val -3835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파이썬은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&gt;&gt;&gt; </a:t>
            </a: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다음에 빈칸이 있으면 절대 안됨</a:t>
            </a:r>
            <a:endParaRPr lang="ko-KR" altLang="en-US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빗면 7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8922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3. </a:t>
            </a:r>
            <a:r>
              <a:rPr kumimoji="0" lang="en-US" altLang="ko-KR" sz="3000" b="1">
                <a:solidFill>
                  <a:prstClr val="white"/>
                </a:solidFill>
              </a:rPr>
              <a:t>Spark </a:t>
            </a:r>
            <a:r>
              <a:rPr kumimoji="0" lang="ko-KR" altLang="en-US" sz="3000" b="1">
                <a:solidFill>
                  <a:prstClr val="white"/>
                </a:solidFill>
              </a:rPr>
              <a:t>로컬 모드 테스트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68915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 smtClean="0">
                <a:solidFill>
                  <a:prstClr val="black"/>
                </a:solidFill>
              </a:rPr>
              <a:t>스칼라 언어 </a:t>
            </a:r>
            <a:r>
              <a:rPr lang="en-US" altLang="ko-KR" b="1" dirty="0" smtClean="0">
                <a:solidFill>
                  <a:prstClr val="black"/>
                </a:solidFill>
              </a:rPr>
              <a:t>:</a:t>
            </a:r>
            <a:r>
              <a:rPr lang="ko-KR" altLang="en-US" b="1" dirty="0" smtClean="0">
                <a:solidFill>
                  <a:prstClr val="black"/>
                </a:solidFill>
              </a:rPr>
              <a:t> </a:t>
            </a:r>
            <a:r>
              <a:rPr lang="ko-KR" altLang="en-US" b="1" dirty="0">
                <a:solidFill>
                  <a:prstClr val="black"/>
                </a:solidFill>
              </a:rPr>
              <a:t>로컬 모드 테스트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24311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$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spark/bin/spark-shell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</a:t>
            </a:r>
            <a:r>
              <a:rPr lang="en-US" altLang="ko-KR" sz="15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val x= sc.parallelize(Array("b", "a", "c"))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val y= x.map(z =&gt; (z,1))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println(x.collect().mkString(", "))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println(y.collect().mkString(", "))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</a:t>
            </a:r>
            <a:r>
              <a:rPr lang="en-US" altLang="ko-KR" sz="15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val x1= sc.parallelize(Array("b", "a", "c"),2)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println(x1.collect().mkString(", "))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</a:t>
            </a:r>
            <a:r>
              <a:rPr lang="en-US" altLang="ko-KR" sz="15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CTRL+D 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93367" y="4071968"/>
            <a:ext cx="8820980" cy="2555767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 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hadoop  fs  -lsr /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lsr: DEPRECATED: Please use 'ls -R' instead.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/tmp/hadoop-yarn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/tmp/hadoop-yarn/staging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/tmp/hadoop-yarn/staging/history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/tmp/hadoop-yarn/staging/history/done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drwxrwxrwt   - hadoop supergroup          0 2017-06-07 15:13 /tmp/hadoop-yarn/staging/history/done_intermediate</a:t>
            </a: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타원형 설명선 5"/>
          <p:cNvSpPr/>
          <p:nvPr/>
        </p:nvSpPr>
        <p:spPr>
          <a:xfrm>
            <a:off x="6429164" y="2193735"/>
            <a:ext cx="3240360" cy="1728192"/>
          </a:xfrm>
          <a:prstGeom prst="wedgeEllipseCallout">
            <a:avLst>
              <a:gd name="adj1" fmla="val -75025"/>
              <a:gd name="adj2" fmla="val -2862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스칼라는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Scala&gt; </a:t>
            </a: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다음에 빈칸이 있어도 상관 없음</a:t>
            </a:r>
            <a:endParaRPr lang="ko-KR" altLang="en-US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빗면 7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3435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4. </a:t>
            </a:r>
            <a:r>
              <a:rPr kumimoji="0" lang="en-US" altLang="ko-KR" sz="3000" b="1">
                <a:solidFill>
                  <a:prstClr val="white"/>
                </a:solidFill>
              </a:rPr>
              <a:t>Spark YARN </a:t>
            </a:r>
            <a:r>
              <a:rPr kumimoji="0" lang="ko-KR" altLang="en-US" sz="3000" b="1">
                <a:solidFill>
                  <a:prstClr val="white"/>
                </a:solidFill>
              </a:rPr>
              <a:t>클러스터 모드 테스트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400307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Spark YARN </a:t>
            </a:r>
            <a:r>
              <a:rPr lang="ko-KR" altLang="en-US" b="1" smtClean="0">
                <a:solidFill>
                  <a:prstClr val="black"/>
                </a:solidFill>
              </a:rPr>
              <a:t>클러스터 모드 실행 절차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031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네임노드가 있는 머신에서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( ssh namenode )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시작하기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hadoop/sbin/start-dfs.sh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리소스매니저가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있는 머신에서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( ssh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secondnode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)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YARN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시작하기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hadoop/sbin/start-yarn.sh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클라이언트 머신에서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(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현재 머신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)</a:t>
            </a: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마스터를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yarn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으로 지정하고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spark-shell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실행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Tx/>
              <a:buChar char="-"/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줄무늬가 있는 오른쪽 화살표 6"/>
          <p:cNvSpPr/>
          <p:nvPr/>
        </p:nvSpPr>
        <p:spPr>
          <a:xfrm>
            <a:off x="1676636" y="4083993"/>
            <a:ext cx="6444716" cy="2016224"/>
          </a:xfrm>
          <a:prstGeom prst="stripedRightArrow">
            <a:avLst>
              <a:gd name="adj1" fmla="val 68989"/>
              <a:gd name="adj2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atinLnBrk="0">
              <a:spcBef>
                <a:spcPct val="30000"/>
              </a:spcBef>
            </a:pPr>
            <a:r>
              <a:rPr lang="en-US" altLang="ko-KR" sz="20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$ spark/bin/spark-shell </a:t>
            </a:r>
            <a:r>
              <a:rPr lang="en-US" altLang="ko-KR" sz="20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--master   </a:t>
            </a:r>
            <a:r>
              <a:rPr lang="en-US" altLang="ko-KR" sz="20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yarn</a:t>
            </a:r>
          </a:p>
        </p:txBody>
      </p:sp>
    </p:spTree>
    <p:extLst>
      <p:ext uri="{BB962C8B-B14F-4D97-AF65-F5344CB8AC3E}">
        <p14:creationId xmlns:p14="http://schemas.microsoft.com/office/powerpoint/2010/main" val="18234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4. Spark YARN </a:t>
            </a:r>
            <a:r>
              <a:rPr kumimoji="0" lang="ko-KR" altLang="en-US" sz="3000" b="1">
                <a:solidFill>
                  <a:prstClr val="white"/>
                </a:solidFill>
              </a:rPr>
              <a:t>클러스터 모드 테스트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64130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1. HDFS </a:t>
            </a:r>
            <a:r>
              <a:rPr lang="ko-KR" altLang="en-US" b="1">
                <a:solidFill>
                  <a:prstClr val="black"/>
                </a:solidFill>
              </a:rPr>
              <a:t>서비스 시작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4319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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머신에서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머신으로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ssh namenode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호스트명 반드시 확인하세요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!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hostname 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자바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프로세스 조회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jps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서비스 시작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hadoop/sbin/start-dfs.sh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머신에서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자바 데몬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jps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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머신에서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머신으로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[6]$ ssh secondnode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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머신에서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자바 데몬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[7]$ jps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&lt;- 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로그아웃하여 다시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머신으로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[8]$ exit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&lt;-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로그아웃하여 다시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머신으로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[9]$ exit</a:t>
            </a:r>
          </a:p>
        </p:txBody>
      </p:sp>
      <p:sp>
        <p:nvSpPr>
          <p:cNvPr id="8" name="타원형 설명선 7"/>
          <p:cNvSpPr/>
          <p:nvPr/>
        </p:nvSpPr>
        <p:spPr>
          <a:xfrm>
            <a:off x="5709084" y="4617132"/>
            <a:ext cx="3996444" cy="2016224"/>
          </a:xfrm>
          <a:prstGeom prst="wedgeEllipseCallout">
            <a:avLst>
              <a:gd name="adj1" fmla="val -52513"/>
              <a:gd name="adj2" fmla="val -6249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서비스 시작과 종료는 네임노드에서 해야 함</a:t>
            </a:r>
          </a:p>
        </p:txBody>
      </p:sp>
      <p:sp>
        <p:nvSpPr>
          <p:cNvPr id="9" name="빗면 8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7411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4. Spark YARN </a:t>
            </a:r>
            <a:r>
              <a:rPr kumimoji="0" lang="ko-KR" altLang="en-US" sz="3000" b="1">
                <a:solidFill>
                  <a:prstClr val="white"/>
                </a:solidFill>
              </a:rPr>
              <a:t>클러스터 모드 테스트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64130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1. HDFS </a:t>
            </a:r>
            <a:r>
              <a:rPr lang="ko-KR" altLang="en-US" b="1">
                <a:solidFill>
                  <a:prstClr val="black"/>
                </a:solidFill>
              </a:rPr>
              <a:t>서비스 시작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367" y="1376772"/>
            <a:ext cx="4747665" cy="4408582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ssh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Last login: Wed Jun  7 14:33:51 2017 from 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namenode.hadoop.kr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1227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hadoop/sbin/start-dfs.sh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Starting namenodes on [namenode.hadoop.kr]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namenode.hadoop.kr: starting namenode, logging to /home/hadoop/hadoop/logs/hadoop-hadoop-namenode-namenode.hadoop.kr.out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datanode1.hadoop.kr: starting datanode, logging to /home/hadoop/hadoop/logs/hadoop-hadoop-datanode-namenode.hadoop.kr.out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datanode2.hadoop.kr: starting datanode, logging to /home/hadoop/hadoop/logs/hadoop-hadoop-datanode-secondnode.hadoop.kr.out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Starting secondary namenodes [secondnode.hadoop.kr]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secondnode.hadoop.kr: starting secondarynamenode, logging to /home/hadoop/hadoop/logs/hadoop-hadoop-secondarynamenode-secondnode.hadoop.kr.out</a:t>
            </a:r>
            <a:endParaRPr lang="en-US" altLang="ko-KR" sz="8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493060" y="1464488"/>
            <a:ext cx="3888432" cy="4605559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[hadoop@namenode ~]$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2017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2326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2139 DataNode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ssh secondnode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Last login: Thu Jun  1 18:02:47 2017 from secondnode.hadoop.kr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[hadoop@secondnode ~]$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1294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1147 DataNode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1235 SecondaryNameNode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[hadoop@secondnode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Connection to secondnode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Connection to namenode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[hadoop@client ~]$</a:t>
            </a:r>
            <a:endParaRPr lang="en-US" altLang="ko-KR" sz="14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502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4. Spark YARN </a:t>
            </a:r>
            <a:r>
              <a:rPr kumimoji="0" lang="ko-KR" altLang="en-US" sz="3000" b="1">
                <a:solidFill>
                  <a:prstClr val="white"/>
                </a:solidFill>
              </a:rPr>
              <a:t>클러스터 모드 테스트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64130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2. YARN </a:t>
            </a:r>
            <a:r>
              <a:rPr lang="ko-KR" altLang="en-US" b="1">
                <a:solidFill>
                  <a:prstClr val="black"/>
                </a:solidFill>
              </a:rPr>
              <a:t>서비스 시작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4319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-&gt; 1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머신에서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3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머신으로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SSH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[1]$ ssh secondnode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호스트명 반드시 확인하세요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!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[2]$ hostname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자바 프로세스 조회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[3]$ jps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YARN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서비스 시작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[4]$ hadoop/sbin/start-yarn.sh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3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머신에서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YARN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자바 데몬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[5]$ jps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3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머신에서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2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머신으로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SSH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[6]$ ssh namenode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2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머신에서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HDFS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자바 데몬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[7]$ jps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&lt;-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로그아웃하여 다시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3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머신으로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[8]$ exit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&lt;-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로그아웃하여 다시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1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머신으로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[9]$ exit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타원형 설명선 7"/>
          <p:cNvSpPr/>
          <p:nvPr/>
        </p:nvSpPr>
        <p:spPr>
          <a:xfrm>
            <a:off x="5709084" y="4617132"/>
            <a:ext cx="3996444" cy="2016224"/>
          </a:xfrm>
          <a:prstGeom prst="wedgeEllipseCallout">
            <a:avLst>
              <a:gd name="adj1" fmla="val -52513"/>
              <a:gd name="adj2" fmla="val -6249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</a:t>
            </a:r>
          </a:p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YARN 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서비스 시작과 종료는 리소스매니저 노드에서 해야 함</a:t>
            </a:r>
          </a:p>
        </p:txBody>
      </p:sp>
      <p:sp>
        <p:nvSpPr>
          <p:cNvPr id="7" name="빗면 6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HD3-Second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910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4. Spark YARN </a:t>
            </a:r>
            <a:r>
              <a:rPr kumimoji="0" lang="ko-KR" altLang="en-US" sz="3000" b="1">
                <a:solidFill>
                  <a:prstClr val="white"/>
                </a:solidFill>
              </a:rPr>
              <a:t>클러스터 모드 테스트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64130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2. YARN </a:t>
            </a:r>
            <a:r>
              <a:rPr lang="ko-KR" altLang="en-US" b="1">
                <a:solidFill>
                  <a:prstClr val="black"/>
                </a:solidFill>
              </a:rPr>
              <a:t>서비스 시작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367" y="1376772"/>
            <a:ext cx="4747665" cy="4343949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[hadoop@client ~]$ 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ssh secondnode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Last login: Wed Jun  7 14:49:54 2017 from namenode.hadoop.kr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[hadoop@secondnode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secondnode.hadoop.kr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[hadoop@secondnode ~]$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 jps</a:t>
            </a:r>
            <a:endParaRPr lang="en-US" altLang="ko-KR" sz="1050" b="1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1424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1147 DataNode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1235 SecondaryNameNode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[hadoop@secondnode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hadoop/sbin/start-yarn.sh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starting yarn daemons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starting resourcemanager, logging to /home/hadoop/hadoop/logs/yarn-hadoop-resourcemanager-secondnode.hadoop.kr.out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datanode1.hadoop.kr: starting nodemanager, logging to /home/hadoop/hadoop/logs/yarn-hadoop-nodemanager-namenode.hadoop.kr.out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datanode2.hadoop.kr: starting nodemanager, logging to /home/hadoop/hadoop/logs/yarn-hadoop-nodemanager-secondnode.hadoop.kr.out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5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05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493060" y="1464488"/>
            <a:ext cx="3888432" cy="5445789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[hadoop@secondnode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1700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1147 DataNode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1560 NodeManager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1235 SecondaryNameNode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1466 ResourceManager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[hadoop@secondnode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ssh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Last login: Wed Jun  7 14:42:54 2017 from 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100" b="1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2017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2557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2427 NodeManager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2139 DataNode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Connection to namenode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[hadoop@secondnode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Connection to secondnode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[hadoop@client ~]$</a:t>
            </a:r>
            <a:endParaRPr lang="en-US" altLang="ko-KR" sz="14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31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4. Spark YARN </a:t>
            </a:r>
            <a:r>
              <a:rPr kumimoji="0" lang="ko-KR" altLang="en-US" sz="3000" b="1">
                <a:solidFill>
                  <a:prstClr val="white"/>
                </a:solidFill>
              </a:rPr>
              <a:t>클러스터 모드 테스트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46473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스칼라 클러스터 </a:t>
            </a:r>
            <a:r>
              <a:rPr lang="ko-KR" altLang="en-US" b="1">
                <a:solidFill>
                  <a:prstClr val="black"/>
                </a:solidFill>
              </a:rPr>
              <a:t>모드 테스트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8309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$ spark/bin/spark-shell --master yarn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</a:t>
            </a:r>
            <a:r>
              <a:rPr lang="en-US" altLang="ko-KR" sz="15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var scalastr = sc.textFile("hdfs:///user/hadoop/pig.txt")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</a:t>
            </a:r>
            <a:r>
              <a:rPr lang="en-US" altLang="ko-KR" sz="15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scalastr.count()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</a:t>
            </a:r>
            <a:r>
              <a:rPr lang="en-US" altLang="ko-KR" sz="15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scalastr.first()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</a:t>
            </a:r>
            <a:r>
              <a:rPr lang="en-US" altLang="ko-KR" sz="15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println(scalastr.collect().mkString("\n"))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</a:t>
            </a:r>
            <a:r>
              <a:rPr lang="en-US" altLang="ko-KR" sz="150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CTRL+D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93367" y="4071968"/>
            <a:ext cx="8820980" cy="2555767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 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hadoop  fs  -lsr /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lsr: DEPRECATED: Please use 'ls -R' instead.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/tmp/hadoop-yarn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/tmp/hadoop-yarn/staging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/tmp/hadoop-yarn/staging/history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/tmp/hadoop-yarn/staging/history/done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drwxrwxrwt   - hadoop supergroup          0 2017-06-07 15:13 /tmp/hadoop-yarn/staging/history/done_intermediate</a:t>
            </a: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빗면 7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9844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5. </a:t>
            </a:r>
            <a:r>
              <a:rPr kumimoji="0" lang="en-US" altLang="ko-KR" sz="3000" b="1">
                <a:solidFill>
                  <a:prstClr val="white"/>
                </a:solidFill>
              </a:rPr>
              <a:t>Spark </a:t>
            </a:r>
            <a:r>
              <a:rPr kumimoji="0" lang="ko-KR" altLang="en-US" sz="3000" b="1">
                <a:solidFill>
                  <a:prstClr val="white"/>
                </a:solidFill>
              </a:rPr>
              <a:t>애플리케이션 실행과 데몬</a:t>
            </a:r>
            <a:r>
              <a:rPr kumimoji="0" lang="en-US" altLang="ko-KR" sz="3000" b="1">
                <a:solidFill>
                  <a:prstClr val="white"/>
                </a:solidFill>
              </a:rPr>
              <a:t>(</a:t>
            </a:r>
            <a:r>
              <a:rPr kumimoji="0" lang="ko-KR" altLang="en-US" sz="3000" b="1">
                <a:solidFill>
                  <a:prstClr val="white"/>
                </a:solidFill>
              </a:rPr>
              <a:t>서비스</a:t>
            </a:r>
            <a:r>
              <a:rPr kumimoji="0" lang="en-US" altLang="ko-KR" sz="3000" b="1">
                <a:solidFill>
                  <a:prstClr val="white"/>
                </a:solidFill>
              </a:rPr>
              <a:t>)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780219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YARN </a:t>
            </a:r>
            <a:r>
              <a:rPr lang="ko-KR" altLang="en-US" b="1" smtClean="0">
                <a:solidFill>
                  <a:prstClr val="black"/>
                </a:solidFill>
              </a:rPr>
              <a:t>클러스터 </a:t>
            </a:r>
            <a:r>
              <a:rPr lang="ko-KR" altLang="en-US" b="1">
                <a:solidFill>
                  <a:prstClr val="black"/>
                </a:solidFill>
              </a:rPr>
              <a:t>모드 </a:t>
            </a:r>
            <a:r>
              <a:rPr lang="en-US" altLang="ko-KR" b="1" smtClean="0">
                <a:solidFill>
                  <a:prstClr val="black"/>
                </a:solidFill>
              </a:rPr>
              <a:t>Spark </a:t>
            </a:r>
            <a:r>
              <a:rPr lang="ko-KR" altLang="en-US" b="1" smtClean="0">
                <a:solidFill>
                  <a:prstClr val="black"/>
                </a:solidFill>
              </a:rPr>
              <a:t>애플리케이션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4319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클라이언트 머신에서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Spark-Shell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실행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익스큐터는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1]$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spark/bin/spark-shell --master yarn --num-executors 2 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var scalastr = sc.textFile("hdfs:///user/hadoop/pig.txt")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scalastr.count()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새로운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Putty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를 하나 실행해서 클라이언트 머신에 접속하세요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192.168.56.21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클라이언트 머신에서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su - hadoop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네임노드 머신에서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3]$ ssh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free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세컨드노드 머신에서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6]$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secondnode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[7]$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[8]$ free</a:t>
            </a:r>
          </a:p>
        </p:txBody>
      </p:sp>
      <p:sp>
        <p:nvSpPr>
          <p:cNvPr id="9" name="타원형 설명선 8"/>
          <p:cNvSpPr/>
          <p:nvPr/>
        </p:nvSpPr>
        <p:spPr>
          <a:xfrm>
            <a:off x="6350164" y="1369456"/>
            <a:ext cx="3176832" cy="1303460"/>
          </a:xfrm>
          <a:prstGeom prst="wedgeEllipseCallout">
            <a:avLst>
              <a:gd name="adj1" fmla="val -56199"/>
              <a:gd name="adj2" fmla="val -2823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</a:t>
            </a:r>
          </a:p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Spark-Shell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을 </a:t>
            </a: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YARN 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매니저로 실행한 후 확인하세요</a:t>
            </a:r>
          </a:p>
        </p:txBody>
      </p:sp>
      <p:sp>
        <p:nvSpPr>
          <p:cNvPr id="10" name="빗면 9"/>
          <p:cNvSpPr/>
          <p:nvPr/>
        </p:nvSpPr>
        <p:spPr>
          <a:xfrm>
            <a:off x="5421052" y="3430654"/>
            <a:ext cx="3203869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  <p:sp>
        <p:nvSpPr>
          <p:cNvPr id="11" name="빗면 10"/>
          <p:cNvSpPr/>
          <p:nvPr/>
        </p:nvSpPr>
        <p:spPr>
          <a:xfrm>
            <a:off x="5424342" y="5759902"/>
            <a:ext cx="3208326" cy="736428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HD3-Secondnode</a:t>
            </a:r>
            <a:endParaRPr lang="ko-KR" altLang="en-US" sz="2400" dirty="0"/>
          </a:p>
        </p:txBody>
      </p:sp>
      <p:sp>
        <p:nvSpPr>
          <p:cNvPr id="12" name="빗면 11"/>
          <p:cNvSpPr/>
          <p:nvPr/>
        </p:nvSpPr>
        <p:spPr>
          <a:xfrm>
            <a:off x="5421052" y="456312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96825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5. Spark </a:t>
            </a:r>
            <a:r>
              <a:rPr kumimoji="0" lang="ko-KR" altLang="en-US" sz="3000" b="1">
                <a:solidFill>
                  <a:prstClr val="white"/>
                </a:solidFill>
              </a:rPr>
              <a:t>애플리케이션 실행과 데몬</a:t>
            </a:r>
            <a:r>
              <a:rPr kumimoji="0" lang="en-US" altLang="ko-KR" sz="3000" b="1">
                <a:solidFill>
                  <a:prstClr val="white"/>
                </a:solidFill>
              </a:rPr>
              <a:t>(</a:t>
            </a:r>
            <a:r>
              <a:rPr kumimoji="0" lang="ko-KR" altLang="en-US" sz="3000" b="1">
                <a:solidFill>
                  <a:prstClr val="white"/>
                </a:solidFill>
              </a:rPr>
              <a:t>서비스</a:t>
            </a:r>
            <a:r>
              <a:rPr kumimoji="0" lang="en-US" altLang="ko-KR" sz="3000" b="1">
                <a:solidFill>
                  <a:prstClr val="white"/>
                </a:solidFill>
              </a:rPr>
              <a:t>)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48608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Spark Application </a:t>
            </a:r>
            <a:r>
              <a:rPr lang="ko-KR" altLang="en-US" b="1" smtClean="0">
                <a:solidFill>
                  <a:prstClr val="black"/>
                </a:solidFill>
              </a:rPr>
              <a:t>데몬 확인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461" y="1411766"/>
            <a:ext cx="2443315" cy="1457005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[root@client ~]# </a:t>
            </a: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su - hadoop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050">
                <a:latin typeface="맑은 고딕" pitchFamily="50" charset="-127"/>
                <a:ea typeface="맑은 고딕" pitchFamily="50" charset="-127"/>
              </a:rPr>
              <a:t>마지막 로그인</a:t>
            </a: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050">
                <a:latin typeface="맑은 고딕" pitchFamily="50" charset="-127"/>
                <a:ea typeface="맑은 고딕" pitchFamily="50" charset="-127"/>
              </a:rPr>
              <a:t>월  </a:t>
            </a: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6</a:t>
            </a:r>
            <a:r>
              <a:rPr lang="ko-KR" altLang="en-US" sz="105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26 16:55:26 KST 2017 </a:t>
            </a:r>
            <a:r>
              <a:rPr lang="ko-KR" altLang="en-US" sz="1050">
                <a:latin typeface="맑은 고딕" pitchFamily="50" charset="-127"/>
                <a:ea typeface="맑은 고딕" pitchFamily="50" charset="-127"/>
              </a:rPr>
              <a:t>일시 </a:t>
            </a: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pts/1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2076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1908 </a:t>
            </a:r>
            <a:r>
              <a:rPr lang="en-US" altLang="ko-KR" sz="1400" b="1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SparkSubmit</a:t>
            </a:r>
            <a:endParaRPr lang="en-US" altLang="ko-KR" sz="14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순서도: 종속 처리 5"/>
          <p:cNvSpPr/>
          <p:nvPr/>
        </p:nvSpPr>
        <p:spPr>
          <a:xfrm>
            <a:off x="614390" y="3204921"/>
            <a:ext cx="1363289" cy="786989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Spark</a:t>
            </a:r>
          </a:p>
          <a:p>
            <a:pPr algn="ctr"/>
            <a:r>
              <a:rPr lang="en-US" altLang="ko-KR" smtClean="0"/>
              <a:t>Driver</a:t>
            </a:r>
            <a:endParaRPr lang="ko-KR" alt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808984" y="1059227"/>
            <a:ext cx="4680520" cy="2835844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ssh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Last login: Mon Jun 26 17:07:59 2017 from 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1560 NodeManager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1329 DataNode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1208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1963 </a:t>
            </a: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CoarseGrainedExecutorBackend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1894 ExecutorLauncher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[hadoop@namenode ~]$ free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              total        used        free      shared  buff/cache   available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Mem:        1596384     1010368      105324        8572      480692      414076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Swap:        204796           0      204796</a:t>
            </a:r>
            <a:endParaRPr lang="en-US" altLang="ko-KR" sz="11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순서도: 종속 처리 9"/>
          <p:cNvSpPr/>
          <p:nvPr/>
        </p:nvSpPr>
        <p:spPr>
          <a:xfrm>
            <a:off x="2455607" y="4124770"/>
            <a:ext cx="1800306" cy="1017589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Spark</a:t>
            </a:r>
          </a:p>
          <a:p>
            <a:pPr algn="ctr"/>
            <a:r>
              <a:rPr lang="en-US" altLang="ko-KR"/>
              <a:t>Executor</a:t>
            </a:r>
            <a:endParaRPr lang="ko-KR" altLang="en-US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808984" y="4016526"/>
            <a:ext cx="4680520" cy="2675800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ssh secondnode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Last login: Mon Jun 26 17:08:37 2017 from namenode.hadoop.kr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[hadoop@secondnode ~]$ </a:t>
            </a: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1304 ResourceManager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1832 CoarseGrainedExecutorBackend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1113 DataNode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smtClean="0">
                <a:latin typeface="맑은 고딕" pitchFamily="50" charset="-127"/>
                <a:ea typeface="맑은 고딕" pitchFamily="50" charset="-127"/>
              </a:rPr>
              <a:t>1419 </a:t>
            </a: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NodeManager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1208 SecondaryNameNode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[hadoop@secondnode ~]$ free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              total        used        free      shared  buff/cache   available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Mem:        1596384      972828      166192        8600      457364      449664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>
                <a:latin typeface="맑은 고딕" pitchFamily="50" charset="-127"/>
                <a:ea typeface="맑은 고딕" pitchFamily="50" charset="-127"/>
              </a:rPr>
              <a:t>Swap:        204796           0      204796</a:t>
            </a:r>
            <a:endParaRPr lang="en-US" altLang="ko-KR" sz="11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순서도: 종속 처리 11"/>
          <p:cNvSpPr/>
          <p:nvPr/>
        </p:nvSpPr>
        <p:spPr>
          <a:xfrm>
            <a:off x="2707635" y="5543472"/>
            <a:ext cx="1800306" cy="1017589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Spark</a:t>
            </a:r>
          </a:p>
          <a:p>
            <a:pPr algn="ctr"/>
            <a:r>
              <a:rPr lang="en-US" altLang="ko-KR"/>
              <a:t>Executor</a:t>
            </a:r>
            <a:endParaRPr lang="ko-KR" altLang="en-US"/>
          </a:p>
        </p:txBody>
      </p:sp>
      <p:sp>
        <p:nvSpPr>
          <p:cNvPr id="13" name="순서도: 종속 처리 12"/>
          <p:cNvSpPr/>
          <p:nvPr/>
        </p:nvSpPr>
        <p:spPr>
          <a:xfrm>
            <a:off x="2455607" y="3218075"/>
            <a:ext cx="1800306" cy="786990"/>
          </a:xfrm>
          <a:prstGeom prst="flowChartPredefined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Spark</a:t>
            </a:r>
          </a:p>
          <a:p>
            <a:pPr algn="ctr"/>
            <a:r>
              <a:rPr lang="en-US" altLang="ko-KR" smtClean="0"/>
              <a:t>AppMaster</a:t>
            </a:r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01647" y="2960948"/>
            <a:ext cx="1743041" cy="1260140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2382905" y="3116551"/>
            <a:ext cx="1994031" cy="2184657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2630155" y="5445424"/>
            <a:ext cx="1998809" cy="1259940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8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6. </a:t>
            </a:r>
            <a:r>
              <a:rPr kumimoji="0" lang="ko-KR" altLang="en-US" sz="3000" b="1">
                <a:solidFill>
                  <a:prstClr val="white"/>
                </a:solidFill>
              </a:rPr>
              <a:t>관리자 웹 </a:t>
            </a:r>
            <a:r>
              <a:rPr kumimoji="0" lang="en-US" altLang="ko-KR" sz="3000" b="1" smtClean="0">
                <a:solidFill>
                  <a:prstClr val="white"/>
                </a:solidFill>
              </a:rPr>
              <a:t>UI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776768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관리자 웹 </a:t>
            </a:r>
            <a:r>
              <a:rPr lang="en-US" altLang="ko-KR" b="1" smtClean="0">
                <a:solidFill>
                  <a:prstClr val="black"/>
                </a:solidFill>
              </a:rPr>
              <a:t>UI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63144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HDFS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네임노드 웹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UI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호스트명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포트           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네임노드 호스트명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:50070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HDFS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보조네임노드 웹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UI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호스트명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포트       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보조네임노드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호스트명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50090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YARN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리소스매니저 웹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UI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호스트명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포트 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리소스매니저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호스트명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8088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YARN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노드매니저 웹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UI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호스트명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포트   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노드매니저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(1~N)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호스트명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8042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Spark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드라이버 포트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클라이언트 호스트명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:4040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4268924" y="2816932"/>
            <a:ext cx="5328591" cy="3923462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r>
              <a:rPr lang="ko-KR" altLang="en-US" sz="16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노트북에 호스트 설정</a:t>
            </a:r>
          </a:p>
          <a:p>
            <a:pPr algn="ctr" latinLnBrk="0">
              <a:spcBef>
                <a:spcPct val="30000"/>
              </a:spcBef>
            </a:pPr>
            <a:endParaRPr lang="ko-KR" altLang="en-US" sz="16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6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C:\</a:t>
            </a:r>
            <a:r>
              <a:rPr lang="en-US" altLang="ko-KR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Windows\System32\drivers\etc\hosts</a:t>
            </a:r>
            <a:endParaRPr lang="en-US" altLang="ko-KR" sz="16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endParaRPr lang="en-US" altLang="ko-KR" sz="16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latinLnBrk="0">
              <a:spcBef>
                <a:spcPct val="30000"/>
              </a:spcBef>
            </a:pPr>
            <a:r>
              <a:rPr lang="en-US" altLang="ko-KR" sz="16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192.168.56.21 client.hadoop.kr </a:t>
            </a:r>
            <a:endParaRPr lang="en-US" altLang="ko-KR" sz="16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latinLnBrk="0">
              <a:spcBef>
                <a:spcPct val="30000"/>
              </a:spcBef>
            </a:pPr>
            <a:r>
              <a:rPr lang="en-US" altLang="ko-KR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192.168.56.31 </a:t>
            </a:r>
            <a:r>
              <a:rPr lang="en-US" altLang="ko-KR" sz="16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namenode.hadoop.kr </a:t>
            </a:r>
          </a:p>
          <a:p>
            <a:pPr latinLnBrk="0">
              <a:spcBef>
                <a:spcPct val="30000"/>
              </a:spcBef>
            </a:pPr>
            <a:r>
              <a:rPr lang="en-US" altLang="ko-KR" sz="16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192.168.56.41 secondnode.hadoop.kr </a:t>
            </a:r>
          </a:p>
          <a:p>
            <a:pPr latinLnBrk="0">
              <a:spcBef>
                <a:spcPct val="30000"/>
              </a:spcBef>
            </a:pPr>
            <a:r>
              <a:rPr lang="en-US" altLang="ko-KR" sz="16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192.168.56.31 datanode1.hadoop.kr</a:t>
            </a:r>
          </a:p>
          <a:p>
            <a:pPr latinLnBrk="0">
              <a:spcBef>
                <a:spcPct val="30000"/>
              </a:spcBef>
            </a:pPr>
            <a:r>
              <a:rPr lang="en-US" altLang="ko-KR" sz="16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192.168.56.41 datanode2.hadoop.kr</a:t>
            </a:r>
            <a:endParaRPr lang="en-US" altLang="ko-KR" sz="16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332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6. </a:t>
            </a:r>
            <a:r>
              <a:rPr kumimoji="0" lang="ko-KR" altLang="en-US" sz="3000" b="1">
                <a:solidFill>
                  <a:prstClr val="white"/>
                </a:solidFill>
              </a:rPr>
              <a:t>관리자 웹 </a:t>
            </a:r>
            <a:r>
              <a:rPr kumimoji="0" lang="en-US" altLang="ko-KR" sz="3000" b="1" smtClean="0">
                <a:solidFill>
                  <a:prstClr val="white"/>
                </a:solidFill>
              </a:rPr>
              <a:t>UI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687787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HDFS </a:t>
            </a:r>
            <a:r>
              <a:rPr lang="ko-KR" altLang="en-US" b="1" smtClean="0">
                <a:solidFill>
                  <a:prstClr val="black"/>
                </a:solidFill>
              </a:rPr>
              <a:t>네임노드</a:t>
            </a:r>
            <a:r>
              <a:rPr lang="en-US" altLang="ko-KR" b="1" smtClean="0">
                <a:solidFill>
                  <a:prstClr val="black"/>
                </a:solidFill>
              </a:rPr>
              <a:t> </a:t>
            </a:r>
            <a:r>
              <a:rPr lang="ko-KR" altLang="en-US" b="1" smtClean="0">
                <a:solidFill>
                  <a:prstClr val="black"/>
                </a:solidFill>
              </a:rPr>
              <a:t>웹 </a:t>
            </a:r>
            <a:r>
              <a:rPr lang="en-US" altLang="ko-KR" b="1" smtClean="0">
                <a:solidFill>
                  <a:prstClr val="black"/>
                </a:solidFill>
              </a:rPr>
              <a:t>UI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630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hlinkClick r:id="rId3"/>
              </a:rPr>
              <a:t>http://namenode.hadoop.kr:50070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hlinkClick r:id="rId3"/>
              </a:rPr>
              <a:t>/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672" y="1781244"/>
            <a:ext cx="5925088" cy="47653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07622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6. </a:t>
            </a:r>
            <a:r>
              <a:rPr kumimoji="0" lang="ko-KR" altLang="en-US" sz="3000" b="1">
                <a:solidFill>
                  <a:prstClr val="white"/>
                </a:solidFill>
              </a:rPr>
              <a:t>관리자 웹 </a:t>
            </a:r>
            <a:r>
              <a:rPr kumimoji="0" lang="en-US" altLang="ko-KR" sz="3000" b="1" smtClean="0">
                <a:solidFill>
                  <a:prstClr val="white"/>
                </a:solidFill>
              </a:rPr>
              <a:t>UI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687787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HDFS </a:t>
            </a:r>
            <a:r>
              <a:rPr lang="ko-KR" altLang="en-US" b="1" smtClean="0">
                <a:solidFill>
                  <a:prstClr val="black"/>
                </a:solidFill>
              </a:rPr>
              <a:t>네임노드</a:t>
            </a:r>
            <a:r>
              <a:rPr lang="en-US" altLang="ko-KR" b="1" smtClean="0">
                <a:solidFill>
                  <a:prstClr val="black"/>
                </a:solidFill>
              </a:rPr>
              <a:t> </a:t>
            </a:r>
            <a:r>
              <a:rPr lang="ko-KR" altLang="en-US" b="1" smtClean="0">
                <a:solidFill>
                  <a:prstClr val="black"/>
                </a:solidFill>
              </a:rPr>
              <a:t>웹 </a:t>
            </a:r>
            <a:r>
              <a:rPr lang="en-US" altLang="ko-KR" b="1" smtClean="0">
                <a:solidFill>
                  <a:prstClr val="black"/>
                </a:solidFill>
              </a:rPr>
              <a:t>UI</a:t>
            </a:r>
            <a:endParaRPr lang="ko-KR" altLang="en-US" b="1">
              <a:solidFill>
                <a:prstClr val="black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697" y="2639340"/>
            <a:ext cx="4831241" cy="646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타원형 설명선 12"/>
          <p:cNvSpPr/>
          <p:nvPr/>
        </p:nvSpPr>
        <p:spPr>
          <a:xfrm>
            <a:off x="4124908" y="1018961"/>
            <a:ext cx="1862577" cy="1303460"/>
          </a:xfrm>
          <a:prstGeom prst="wedgeEllipseCallout">
            <a:avLst>
              <a:gd name="adj1" fmla="val -101437"/>
              <a:gd name="adj2" fmla="val 8123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Live Nodes</a:t>
            </a:r>
          </a:p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링크 클릭</a:t>
            </a:r>
            <a:endParaRPr lang="ko-KR" altLang="en-US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65" y="3681028"/>
            <a:ext cx="8915595" cy="27723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41825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6. </a:t>
            </a:r>
            <a:r>
              <a:rPr kumimoji="0" lang="ko-KR" altLang="en-US" sz="3000" b="1">
                <a:solidFill>
                  <a:prstClr val="white"/>
                </a:solidFill>
              </a:rPr>
              <a:t>관리자 웹 </a:t>
            </a:r>
            <a:r>
              <a:rPr kumimoji="0" lang="en-US" altLang="ko-KR" sz="3000" b="1" smtClean="0">
                <a:solidFill>
                  <a:prstClr val="white"/>
                </a:solidFill>
              </a:rPr>
              <a:t>UI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14945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HDFS </a:t>
            </a:r>
            <a:r>
              <a:rPr lang="ko-KR" altLang="en-US" b="1" smtClean="0">
                <a:solidFill>
                  <a:prstClr val="black"/>
                </a:solidFill>
              </a:rPr>
              <a:t>보조네임노드</a:t>
            </a:r>
            <a:r>
              <a:rPr lang="en-US" altLang="ko-KR" b="1" smtClean="0">
                <a:solidFill>
                  <a:prstClr val="black"/>
                </a:solidFill>
              </a:rPr>
              <a:t> </a:t>
            </a:r>
            <a:r>
              <a:rPr lang="ko-KR" altLang="en-US" b="1" smtClean="0">
                <a:solidFill>
                  <a:prstClr val="black"/>
                </a:solidFill>
              </a:rPr>
              <a:t>웹 </a:t>
            </a:r>
            <a:r>
              <a:rPr lang="en-US" altLang="ko-KR" b="1" smtClean="0">
                <a:solidFill>
                  <a:prstClr val="black"/>
                </a:solidFill>
              </a:rPr>
              <a:t>UI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630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hlinkClick r:id="rId3"/>
              </a:rPr>
              <a:t>http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hlinkClick r:id="rId3"/>
              </a:rPr>
              <a:t>://secondnode.hadoop.kr:50090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hlinkClick r:id="rId3"/>
              </a:rPr>
              <a:t>/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632" y="1765500"/>
            <a:ext cx="6444716" cy="48385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1658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6. </a:t>
            </a:r>
            <a:r>
              <a:rPr kumimoji="0" lang="ko-KR" altLang="en-US" sz="3000" b="1">
                <a:solidFill>
                  <a:prstClr val="white"/>
                </a:solidFill>
              </a:rPr>
              <a:t>관리자 웹 </a:t>
            </a:r>
            <a:r>
              <a:rPr kumimoji="0" lang="en-US" altLang="ko-KR" sz="3000" b="1" smtClean="0">
                <a:solidFill>
                  <a:prstClr val="white"/>
                </a:solidFill>
              </a:rPr>
              <a:t>UI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168688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YARN </a:t>
            </a:r>
            <a:r>
              <a:rPr lang="ko-KR" altLang="en-US" b="1" smtClean="0">
                <a:solidFill>
                  <a:prstClr val="black"/>
                </a:solidFill>
              </a:rPr>
              <a:t>리소스매니저</a:t>
            </a:r>
            <a:r>
              <a:rPr lang="en-US" altLang="ko-KR" b="1" smtClean="0">
                <a:solidFill>
                  <a:prstClr val="black"/>
                </a:solidFill>
              </a:rPr>
              <a:t> </a:t>
            </a:r>
            <a:r>
              <a:rPr lang="ko-KR" altLang="en-US" b="1" smtClean="0">
                <a:solidFill>
                  <a:prstClr val="black"/>
                </a:solidFill>
              </a:rPr>
              <a:t>웹 </a:t>
            </a:r>
            <a:r>
              <a:rPr lang="en-US" altLang="ko-KR" b="1" smtClean="0">
                <a:solidFill>
                  <a:prstClr val="black"/>
                </a:solidFill>
              </a:rPr>
              <a:t>UI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630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hlinkClick r:id="rId3"/>
              </a:rPr>
              <a:t>http://secondnode.hadoop.kr:8088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hlinkClick r:id="rId3"/>
              </a:rPr>
              <a:t>/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27" y="1971393"/>
            <a:ext cx="8672859" cy="30391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34503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6. </a:t>
            </a:r>
            <a:r>
              <a:rPr kumimoji="0" lang="ko-KR" altLang="en-US" sz="3000" b="1">
                <a:solidFill>
                  <a:prstClr val="white"/>
                </a:solidFill>
              </a:rPr>
              <a:t>관리자 웹 </a:t>
            </a:r>
            <a:r>
              <a:rPr kumimoji="0" lang="en-US" altLang="ko-KR" sz="3000" b="1" smtClean="0">
                <a:solidFill>
                  <a:prstClr val="white"/>
                </a:solidFill>
              </a:rPr>
              <a:t>UI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168688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YARN </a:t>
            </a:r>
            <a:r>
              <a:rPr lang="ko-KR" altLang="en-US" b="1" smtClean="0">
                <a:solidFill>
                  <a:prstClr val="black"/>
                </a:solidFill>
              </a:rPr>
              <a:t>리소스매니저</a:t>
            </a:r>
            <a:r>
              <a:rPr lang="en-US" altLang="ko-KR" b="1" smtClean="0">
                <a:solidFill>
                  <a:prstClr val="black"/>
                </a:solidFill>
              </a:rPr>
              <a:t> </a:t>
            </a:r>
            <a:r>
              <a:rPr lang="ko-KR" altLang="en-US" b="1" smtClean="0">
                <a:solidFill>
                  <a:prstClr val="black"/>
                </a:solidFill>
              </a:rPr>
              <a:t>웹 </a:t>
            </a:r>
            <a:r>
              <a:rPr lang="en-US" altLang="ko-KR" b="1" smtClean="0">
                <a:solidFill>
                  <a:prstClr val="black"/>
                </a:solidFill>
              </a:rPr>
              <a:t>UI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630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hlinkClick r:id="rId3"/>
              </a:rPr>
              <a:t>http://secondnode.hadoop.kr:8088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hlinkClick r:id="rId3"/>
              </a:rPr>
              <a:t>/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856" y="2205871"/>
            <a:ext cx="2066925" cy="12668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510" y="3681028"/>
            <a:ext cx="8429203" cy="2748653"/>
          </a:xfrm>
          <a:prstGeom prst="rect">
            <a:avLst/>
          </a:prstGeom>
        </p:spPr>
      </p:pic>
      <p:sp>
        <p:nvSpPr>
          <p:cNvPr id="8" name="타원형 설명선 7"/>
          <p:cNvSpPr/>
          <p:nvPr/>
        </p:nvSpPr>
        <p:spPr>
          <a:xfrm>
            <a:off x="5853100" y="871021"/>
            <a:ext cx="1862577" cy="1303460"/>
          </a:xfrm>
          <a:prstGeom prst="wedgeEllipseCallout">
            <a:avLst>
              <a:gd name="adj1" fmla="val -101437"/>
              <a:gd name="adj2" fmla="val 8123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Active</a:t>
            </a:r>
          </a:p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Nodes</a:t>
            </a:r>
          </a:p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링크 클릭</a:t>
            </a:r>
            <a:endParaRPr lang="ko-KR" altLang="en-US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4066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6. </a:t>
            </a:r>
            <a:r>
              <a:rPr kumimoji="0" lang="ko-KR" altLang="en-US" sz="3000" b="1">
                <a:solidFill>
                  <a:prstClr val="white"/>
                </a:solidFill>
              </a:rPr>
              <a:t>관리자 웹 </a:t>
            </a:r>
            <a:r>
              <a:rPr kumimoji="0" lang="en-US" altLang="ko-KR" sz="3000" b="1" smtClean="0">
                <a:solidFill>
                  <a:prstClr val="white"/>
                </a:solidFill>
              </a:rPr>
              <a:t>UI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937856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YARN </a:t>
            </a:r>
            <a:r>
              <a:rPr lang="ko-KR" altLang="en-US" b="1" smtClean="0">
                <a:solidFill>
                  <a:prstClr val="black"/>
                </a:solidFill>
              </a:rPr>
              <a:t>노드매니저</a:t>
            </a:r>
            <a:r>
              <a:rPr lang="en-US" altLang="ko-KR" b="1" smtClean="0">
                <a:solidFill>
                  <a:prstClr val="black"/>
                </a:solidFill>
              </a:rPr>
              <a:t> </a:t>
            </a:r>
            <a:r>
              <a:rPr lang="ko-KR" altLang="en-US" b="1" smtClean="0">
                <a:solidFill>
                  <a:prstClr val="black"/>
                </a:solidFill>
              </a:rPr>
              <a:t>웹 </a:t>
            </a:r>
            <a:r>
              <a:rPr lang="en-US" altLang="ko-KR" b="1" smtClean="0">
                <a:solidFill>
                  <a:prstClr val="black"/>
                </a:solidFill>
              </a:rPr>
              <a:t>UI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9307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hlinkClick r:id="rId3"/>
              </a:rPr>
              <a:t>http://datanode1.hadoop.kr:8042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hlinkClick r:id="rId3"/>
              </a:rPr>
              <a:t>/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hlinkClick r:id="rId4"/>
              </a:rPr>
              <a:t>http://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hlinkClick r:id="rId4"/>
              </a:rPr>
              <a:t>datanode2.hadoop.kr:8042/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08" y="2089511"/>
            <a:ext cx="4373090" cy="31321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4970" y="1468535"/>
            <a:ext cx="4497114" cy="30459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260" y="5049180"/>
            <a:ext cx="2916083" cy="16323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0952" y="4445391"/>
            <a:ext cx="3105150" cy="15525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750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6. </a:t>
            </a:r>
            <a:r>
              <a:rPr kumimoji="0" lang="ko-KR" altLang="en-US" sz="3000" b="1">
                <a:solidFill>
                  <a:prstClr val="white"/>
                </a:solidFill>
              </a:rPr>
              <a:t>관리자 웹 </a:t>
            </a:r>
            <a:r>
              <a:rPr kumimoji="0" lang="en-US" altLang="ko-KR" sz="3000" b="1" smtClean="0">
                <a:solidFill>
                  <a:prstClr val="white"/>
                </a:solidFill>
              </a:rPr>
              <a:t>UI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70542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Spark </a:t>
            </a:r>
            <a:r>
              <a:rPr lang="ko-KR" altLang="en-US" b="1" smtClean="0">
                <a:solidFill>
                  <a:prstClr val="black"/>
                </a:solidFill>
              </a:rPr>
              <a:t>드라이버</a:t>
            </a:r>
            <a:r>
              <a:rPr lang="en-US" altLang="ko-KR" b="1" smtClean="0">
                <a:solidFill>
                  <a:prstClr val="black"/>
                </a:solidFill>
              </a:rPr>
              <a:t> </a:t>
            </a:r>
            <a:r>
              <a:rPr lang="ko-KR" altLang="en-US" b="1" smtClean="0">
                <a:solidFill>
                  <a:prstClr val="black"/>
                </a:solidFill>
              </a:rPr>
              <a:t>웹 </a:t>
            </a:r>
            <a:r>
              <a:rPr lang="en-US" altLang="ko-KR" b="1" smtClean="0">
                <a:solidFill>
                  <a:prstClr val="black"/>
                </a:solidFill>
              </a:rPr>
              <a:t>UI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630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hlinkClick r:id="rId3"/>
              </a:rPr>
              <a:t>http://client.hadoop.kr:4040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hlinkClick r:id="rId3"/>
              </a:rPr>
              <a:t>/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28" y="1765500"/>
            <a:ext cx="6348897" cy="187093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192" y="3212976"/>
            <a:ext cx="2143125" cy="12001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386" y="4693081"/>
            <a:ext cx="7784865" cy="19232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타원형 설명선 8"/>
          <p:cNvSpPr/>
          <p:nvPr/>
        </p:nvSpPr>
        <p:spPr>
          <a:xfrm>
            <a:off x="5853100" y="871021"/>
            <a:ext cx="1862577" cy="1303460"/>
          </a:xfrm>
          <a:prstGeom prst="wedgeEllipseCallout">
            <a:avLst>
              <a:gd name="adj1" fmla="val -94424"/>
              <a:gd name="adj2" fmla="val 4500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YARN</a:t>
            </a:r>
          </a:p>
          <a:p>
            <a:pPr algn="ctr" latinLnBrk="0">
              <a:spcBef>
                <a:spcPct val="30000"/>
              </a:spcBef>
            </a:pP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리소스매니저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웹 </a:t>
            </a: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UI</a:t>
            </a:r>
            <a:endParaRPr lang="ko-KR" altLang="en-US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타원형 설명선 9"/>
          <p:cNvSpPr/>
          <p:nvPr/>
        </p:nvSpPr>
        <p:spPr>
          <a:xfrm>
            <a:off x="7267136" y="1789410"/>
            <a:ext cx="1862577" cy="1303460"/>
          </a:xfrm>
          <a:prstGeom prst="wedgeEllipseCallout">
            <a:avLst>
              <a:gd name="adj1" fmla="val -19975"/>
              <a:gd name="adj2" fmla="val 11284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Application</a:t>
            </a:r>
          </a:p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Master</a:t>
            </a:r>
          </a:p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링크 클릭</a:t>
            </a:r>
            <a:endParaRPr lang="ko-KR" altLang="en-US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4520953" y="4221088"/>
            <a:ext cx="2628291" cy="1332148"/>
          </a:xfrm>
          <a:prstGeom prst="straightConnector1">
            <a:avLst/>
          </a:prstGeom>
          <a:ln w="69850" cmpd="dbl">
            <a:solidFill>
              <a:srgbClr val="00B05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6495239" y="3079154"/>
            <a:ext cx="468052" cy="550365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5641511" y="2724952"/>
            <a:ext cx="1039682" cy="632040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9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ko-KR" altLang="en-US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ko-KR" altLang="en-US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4000" b="1" smtClean="0">
                <a:solidFill>
                  <a:prstClr val="black"/>
                </a:solidFill>
              </a:rPr>
              <a:t>감사합니다</a:t>
            </a:r>
            <a:r>
              <a:rPr lang="en-US" altLang="ko-KR" sz="4000" b="1" smtClean="0">
                <a:solidFill>
                  <a:prstClr val="black"/>
                </a:solidFill>
              </a:rPr>
              <a:t>.</a:t>
            </a:r>
            <a:endParaRPr lang="ko-KR" altLang="en-US" sz="4000" b="1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8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6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6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2402</TotalTime>
  <Words>4028</Words>
  <Application>Microsoft Office PowerPoint</Application>
  <PresentationFormat>A4 용지(210x297mm)</PresentationFormat>
  <Paragraphs>897</Paragraphs>
  <Slides>29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29</vt:i4>
      </vt:variant>
    </vt:vector>
  </HeadingPairs>
  <TitlesOfParts>
    <vt:vector size="40" baseType="lpstr">
      <vt:lpstr>@산돌퍼즐Bk</vt:lpstr>
      <vt:lpstr>Arials</vt:lpstr>
      <vt:lpstr>굴림</vt:lpstr>
      <vt:lpstr>나눔고딕</vt:lpstr>
      <vt:lpstr>맑은 고딕</vt:lpstr>
      <vt:lpstr>Arial</vt:lpstr>
      <vt:lpstr>Wingdings</vt:lpstr>
      <vt:lpstr>디자인 사용자 지정</vt:lpstr>
      <vt:lpstr>17_Office 테마</vt:lpstr>
      <vt:lpstr>6_디자인 사용자 지정</vt:lpstr>
      <vt:lpstr>26_Office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빅데이타 개발자 과정</dc:title>
  <dc:creator>장형석</dc:creator>
  <cp:lastModifiedBy>user</cp:lastModifiedBy>
  <cp:revision>223</cp:revision>
  <dcterms:created xsi:type="dcterms:W3CDTF">2012-04-02T02:40:52Z</dcterms:created>
  <dcterms:modified xsi:type="dcterms:W3CDTF">2017-08-18T03:11:54Z</dcterms:modified>
</cp:coreProperties>
</file>