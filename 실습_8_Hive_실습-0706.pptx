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907" r:id="rId3"/>
    <p:sldMasterId id="2147483926" r:id="rId4"/>
    <p:sldMasterId id="2147483929" r:id="rId5"/>
  </p:sldMasterIdLst>
  <p:notesMasterIdLst>
    <p:notesMasterId r:id="rId44"/>
  </p:notesMasterIdLst>
  <p:sldIdLst>
    <p:sldId id="606" r:id="rId6"/>
    <p:sldId id="869" r:id="rId7"/>
    <p:sldId id="870" r:id="rId8"/>
    <p:sldId id="871" r:id="rId9"/>
    <p:sldId id="872" r:id="rId10"/>
    <p:sldId id="873" r:id="rId11"/>
    <p:sldId id="797" r:id="rId12"/>
    <p:sldId id="849" r:id="rId13"/>
    <p:sldId id="823" r:id="rId14"/>
    <p:sldId id="824" r:id="rId15"/>
    <p:sldId id="825" r:id="rId16"/>
    <p:sldId id="852" r:id="rId17"/>
    <p:sldId id="853" r:id="rId18"/>
    <p:sldId id="851" r:id="rId19"/>
    <p:sldId id="854" r:id="rId20"/>
    <p:sldId id="855" r:id="rId21"/>
    <p:sldId id="864" r:id="rId22"/>
    <p:sldId id="850" r:id="rId23"/>
    <p:sldId id="826" r:id="rId24"/>
    <p:sldId id="856" r:id="rId25"/>
    <p:sldId id="865" r:id="rId26"/>
    <p:sldId id="810" r:id="rId27"/>
    <p:sldId id="836" r:id="rId28"/>
    <p:sldId id="829" r:id="rId29"/>
    <p:sldId id="857" r:id="rId30"/>
    <p:sldId id="830" r:id="rId31"/>
    <p:sldId id="837" r:id="rId32"/>
    <p:sldId id="858" r:id="rId33"/>
    <p:sldId id="859" r:id="rId34"/>
    <p:sldId id="866" r:id="rId35"/>
    <p:sldId id="867" r:id="rId36"/>
    <p:sldId id="868" r:id="rId37"/>
    <p:sldId id="839" r:id="rId38"/>
    <p:sldId id="860" r:id="rId39"/>
    <p:sldId id="861" r:id="rId40"/>
    <p:sldId id="862" r:id="rId41"/>
    <p:sldId id="863" r:id="rId42"/>
    <p:sldId id="640" r:id="rId43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1094">
          <p15:clr>
            <a:srgbClr val="A4A3A4"/>
          </p15:clr>
        </p15:guide>
        <p15:guide id="6" pos="3120">
          <p15:clr>
            <a:srgbClr val="A4A3A4"/>
          </p15:clr>
        </p15:guide>
        <p15:guide id="7" pos="262">
          <p15:clr>
            <a:srgbClr val="A4A3A4"/>
          </p15:clr>
        </p15:guide>
        <p15:guide id="8" pos="5978">
          <p15:clr>
            <a:srgbClr val="A4A3A4"/>
          </p15:clr>
        </p15:guide>
        <p15:guide id="9" pos="512">
          <p15:clr>
            <a:srgbClr val="A4A3A4"/>
          </p15:clr>
        </p15:guide>
        <p15:guide id="10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507" autoAdjust="0"/>
  </p:normalViewPr>
  <p:slideViewPr>
    <p:cSldViewPr>
      <p:cViewPr varScale="1">
        <p:scale>
          <a:sx n="57" d="100"/>
          <a:sy n="57" d="100"/>
        </p:scale>
        <p:origin x="78" y="180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-282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의 설계 개념 및 특성입니다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먼저 분산컴퓨팅 환경에서 운영되어야 하기 때문에 함수형</a:t>
            </a:r>
            <a:r>
              <a:rPr lang="en-US" altLang="ko-KR" sz="500"/>
              <a:t> </a:t>
            </a:r>
            <a:r>
              <a:rPr lang="ko-KR" altLang="en-US" sz="500"/>
              <a:t>프로그램의 특성을 가지고 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물론 실시간 처리도 가능은 하지만 앞서 언급했다시피 분산컴퓨팅 환경에서 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운영되기 때문에 배치형식의 데이터 처리 시스템으로 설계가 되었습니다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사용자의 </a:t>
            </a:r>
            <a:r>
              <a:rPr lang="en-US" altLang="ko-KR" sz="500"/>
              <a:t>NEED</a:t>
            </a:r>
            <a:r>
              <a:rPr lang="ko-KR" altLang="en-US" sz="500"/>
              <a:t>를 파악하지 못하고 개발한 프로그램은 사실 쓸모가 없을 것입니다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여러 어플리케이션 로직의 주요관심사들을 파악했고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이러한 요소들을 최대한 반영하였습니다</a:t>
            </a:r>
            <a:r>
              <a:rPr lang="en-US" altLang="ko-KR" sz="500"/>
              <a:t>.</a:t>
            </a:r>
            <a:endParaRPr lang="ko-KR" altLang="en-US" sz="500"/>
          </a:p>
        </p:txBody>
      </p:sp>
      <p:sp>
        <p:nvSpPr>
          <p:cNvPr id="177156" name="슬라이드 번호 개체 틀 3"/>
          <p:cNvSpPr txBox="1">
            <a:spLocks noGrp="1"/>
          </p:cNvSpPr>
          <p:nvPr/>
        </p:nvSpPr>
        <p:spPr bwMode="auto"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4" rIns="91430" bIns="45714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CFB022F2-3415-402A-A9CC-D52546D5D230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206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022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의 설계 개념 및 특성입니다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먼저 분산컴퓨팅 환경에서 운영되어야 하기 때문에 함수형</a:t>
            </a:r>
            <a:r>
              <a:rPr lang="en-US" altLang="ko-KR" sz="500"/>
              <a:t> </a:t>
            </a:r>
            <a:r>
              <a:rPr lang="ko-KR" altLang="en-US" sz="500"/>
              <a:t>프로그램의 특성을 가지고 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물론 실시간 처리도 가능은 하지만 앞서 언급했다시피 분산컴퓨팅 환경에서 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운영되기 때문에 배치형식의 데이터 처리 시스템으로 설계가 되었습니다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사용자의 </a:t>
            </a:r>
            <a:r>
              <a:rPr lang="en-US" altLang="ko-KR" sz="500"/>
              <a:t>NEED</a:t>
            </a:r>
            <a:r>
              <a:rPr lang="ko-KR" altLang="en-US" sz="500"/>
              <a:t>를 파악하지 못하고 개발한 프로그램은 사실 쓸모가 없을 것입니다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여러 어플리케이션 로직의 주요관심사들을 파악했고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이러한 요소들을 최대한 반영하였습니다</a:t>
            </a:r>
            <a:r>
              <a:rPr lang="en-US" altLang="ko-KR" sz="500"/>
              <a:t>.</a:t>
            </a:r>
            <a:endParaRPr lang="ko-KR" altLang="en-US" sz="500"/>
          </a:p>
        </p:txBody>
      </p:sp>
      <p:sp>
        <p:nvSpPr>
          <p:cNvPr id="180228" name="슬라이드 번호 개체 틀 3"/>
          <p:cNvSpPr txBox="1">
            <a:spLocks noGrp="1"/>
          </p:cNvSpPr>
          <p:nvPr/>
        </p:nvSpPr>
        <p:spPr bwMode="auto"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4" rIns="91430" bIns="45714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F030AE05-0D5C-4117-83ED-33B9D7DA8B73}" type="slidenum">
              <a:rPr kumimoji="0" lang="ko-KR" altLang="en-US" sz="1200"/>
              <a:pPr algn="r" eaLnBrk="1" hangingPunct="1"/>
              <a:t>3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092047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의 설계 개념 및 특성입니다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먼저 분산컴퓨팅 환경에서 운영되어야 하기 때문에 함수형</a:t>
            </a:r>
            <a:r>
              <a:rPr lang="en-US" altLang="ko-KR" sz="500"/>
              <a:t> </a:t>
            </a:r>
            <a:r>
              <a:rPr lang="ko-KR" altLang="en-US" sz="500"/>
              <a:t>프로그램의 특성을 가지고 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물론 실시간 처리도 가능은 하지만 앞서 언급했다시피 분산컴퓨팅 환경에서 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운영되기 때문에 배치형식의 데이터 처리 시스템으로 설계가 되었습니다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사용자의 </a:t>
            </a:r>
            <a:r>
              <a:rPr lang="en-US" altLang="ko-KR" sz="500"/>
              <a:t>NEED</a:t>
            </a:r>
            <a:r>
              <a:rPr lang="ko-KR" altLang="en-US" sz="500"/>
              <a:t>를 파악하지 못하고 개발한 프로그램은 사실 쓸모가 없을 것입니다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여러 어플리케이션 로직의 주요관심사들을 파악했고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이러한 요소들을 최대한 반영하였습니다</a:t>
            </a:r>
            <a:r>
              <a:rPr lang="en-US" altLang="ko-KR" sz="500"/>
              <a:t>.</a:t>
            </a:r>
            <a:endParaRPr lang="ko-KR" altLang="en-US" sz="500"/>
          </a:p>
        </p:txBody>
      </p:sp>
      <p:sp>
        <p:nvSpPr>
          <p:cNvPr id="183300" name="슬라이드 번호 개체 틀 3"/>
          <p:cNvSpPr txBox="1">
            <a:spLocks noGrp="1"/>
          </p:cNvSpPr>
          <p:nvPr/>
        </p:nvSpPr>
        <p:spPr bwMode="auto"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4" rIns="91430" bIns="45714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0939CF36-4EEE-4A91-B953-F57C1D420874}" type="slidenum">
              <a:rPr kumimoji="0" lang="ko-KR" altLang="en-US" sz="1200"/>
              <a:pPr algn="r" eaLnBrk="1" hangingPunct="1"/>
              <a:t>4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946146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의 설계 개념 및 특성입니다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먼저 분산컴퓨팅 환경에서 운영되어야 하기 때문에 함수형</a:t>
            </a:r>
            <a:r>
              <a:rPr lang="en-US" altLang="ko-KR" sz="500"/>
              <a:t> </a:t>
            </a:r>
            <a:r>
              <a:rPr lang="ko-KR" altLang="en-US" sz="500"/>
              <a:t>프로그램의 특성을 가지고 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물론 실시간 처리도 가능은 하지만 앞서 언급했다시피 분산컴퓨팅 환경에서 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운영되기 때문에 배치형식의 데이터 처리 시스템으로 설계가 되었습니다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사용자의 </a:t>
            </a:r>
            <a:r>
              <a:rPr lang="en-US" altLang="ko-KR" sz="500"/>
              <a:t>NEED</a:t>
            </a:r>
            <a:r>
              <a:rPr lang="ko-KR" altLang="en-US" sz="500"/>
              <a:t>를 파악하지 못하고 개발한 프로그램은 사실 쓸모가 없을 것입니다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여러 어플리케이션 로직의 주요관심사들을 파악했고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이러한 요소들을 최대한 반영하였습니다</a:t>
            </a:r>
            <a:r>
              <a:rPr lang="en-US" altLang="ko-KR" sz="500"/>
              <a:t>.</a:t>
            </a:r>
            <a:endParaRPr lang="ko-KR" altLang="en-US" sz="500"/>
          </a:p>
        </p:txBody>
      </p:sp>
      <p:sp>
        <p:nvSpPr>
          <p:cNvPr id="184324" name="슬라이드 번호 개체 틀 3"/>
          <p:cNvSpPr txBox="1">
            <a:spLocks noGrp="1"/>
          </p:cNvSpPr>
          <p:nvPr/>
        </p:nvSpPr>
        <p:spPr bwMode="auto"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4" rIns="91430" bIns="45714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425B7715-0DE2-4987-ABC2-0A56E8AFE889}" type="slidenum">
              <a:rPr kumimoji="0" lang="ko-KR" altLang="en-US" sz="1200"/>
              <a:pPr algn="r" eaLnBrk="1" hangingPunct="1"/>
              <a:t>5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4217240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53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의 설계 개념 및 특성입니다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먼저 분산컴퓨팅 환경에서 운영되어야 하기 때문에 함수형</a:t>
            </a:r>
            <a:r>
              <a:rPr lang="en-US" altLang="ko-KR" sz="500"/>
              <a:t> </a:t>
            </a:r>
            <a:r>
              <a:rPr lang="ko-KR" altLang="en-US" sz="500"/>
              <a:t>프로그램의 특성을 가지고 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물론 실시간 처리도 가능은 하지만 앞서 언급했다시피 분산컴퓨팅 환경에서 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운영되기 때문에 배치형식의 데이터 처리 시스템으로 설계가 되었습니다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사용자의 </a:t>
            </a:r>
            <a:r>
              <a:rPr lang="en-US" altLang="ko-KR" sz="500"/>
              <a:t>NEED</a:t>
            </a:r>
            <a:r>
              <a:rPr lang="ko-KR" altLang="en-US" sz="500"/>
              <a:t>를 파악하지 못하고 개발한 프로그램은 사실 쓸모가 없을 것입니다</a:t>
            </a:r>
            <a:r>
              <a:rPr lang="en-US" altLang="ko-KR" sz="50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/>
              <a:t>MapReduce</a:t>
            </a:r>
            <a:r>
              <a:rPr lang="ko-KR" altLang="en-US" sz="500"/>
              <a:t>는 여러 어플리케이션 로직의 주요관심사들을 파악했고</a:t>
            </a:r>
            <a:endParaRPr lang="en-US" altLang="ko-KR" sz="50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/>
              <a:t>이러한 요소들을 최대한 반영하였습니다</a:t>
            </a:r>
            <a:r>
              <a:rPr lang="en-US" altLang="ko-KR" sz="500"/>
              <a:t>.</a:t>
            </a:r>
            <a:endParaRPr lang="ko-KR" altLang="en-US" sz="500"/>
          </a:p>
        </p:txBody>
      </p:sp>
      <p:sp>
        <p:nvSpPr>
          <p:cNvPr id="185348" name="슬라이드 번호 개체 틀 3"/>
          <p:cNvSpPr txBox="1">
            <a:spLocks noGrp="1"/>
          </p:cNvSpPr>
          <p:nvPr/>
        </p:nvSpPr>
        <p:spPr bwMode="auto"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4" rIns="91430" bIns="45714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6C0D0135-EB9E-430B-A969-49E04B2F3597}" type="slidenum">
              <a:rPr kumimoji="0" lang="ko-KR" altLang="en-US" sz="1200"/>
              <a:pPr algn="r" eaLnBrk="1" hangingPunct="1"/>
              <a:t>6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789163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7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8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014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99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997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663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76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577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577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4480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 dirty="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525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93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61643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934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173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049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5381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47778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97441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88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5094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43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42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CF9BC0B-8EF2-4310-A5C3-81962CEE1E6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19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1F3F331-D54E-4B60-9D06-0EDB71AE5D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774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F4A59F4E-CC33-4D8F-942E-B8A24766151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399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FE6FE391-AFD7-4675-B8AF-0F833746417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8866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C2F8FD9B-F171-43E1-B899-CE20B696718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0215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12CB2B2B-7C46-4CE8-B8B9-77D2CA8D5D9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1467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7E4E54DE-1B36-456E-BFC3-3F6A1A95E8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5282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875EB32-0084-44D3-A269-99A9E22B1A3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606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133A9BDD-37D0-4926-A0A7-A0D45A5C83F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272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C3654123-2431-48CA-A66E-C7B0B41EFF6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74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1859EE06-283E-4C17-B7AF-C4EBC3CECDB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4042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1500" dirty="0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C689A850-7AD5-40B4-AD09-BB3B467F22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52" y="6308725"/>
            <a:ext cx="962936" cy="54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070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7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103" name="모서리가 둥근 직사각형 6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8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099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4100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F3EB84B-8E86-4CA7-A13E-11C48D8F517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102" name="Picture 8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863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dirty="0" smtClean="0">
                <a:solidFill>
                  <a:schemeClr val="tx2"/>
                </a:solidFill>
              </a:rPr>
              <a:t># Hive</a:t>
            </a:r>
            <a:r>
              <a:rPr lang="ko-KR" altLang="en-US" sz="4400" b="1" dirty="0" smtClean="0">
                <a:solidFill>
                  <a:schemeClr val="tx2"/>
                </a:solidFill>
              </a:rPr>
              <a:t>의 이해 및</a:t>
            </a:r>
            <a:r>
              <a:rPr lang="en-US" altLang="ko-KR" sz="4400" b="1" dirty="0" smtClean="0">
                <a:solidFill>
                  <a:schemeClr val="tx2"/>
                </a:solidFill>
              </a:rPr>
              <a:t> </a:t>
            </a:r>
            <a:r>
              <a:rPr lang="ko-KR" altLang="en-US" sz="4400" b="1" dirty="0" smtClean="0">
                <a:solidFill>
                  <a:schemeClr val="tx2"/>
                </a:solidFill>
              </a:rPr>
              <a:t>실습</a:t>
            </a:r>
            <a:endParaRPr lang="ko-KR" altLang="en-US" sz="4400" b="1" dirty="0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[ </a:t>
            </a:r>
            <a:r>
              <a:rPr lang="ko-KR" altLang="en-US" sz="3000" b="1" smtClean="0">
                <a:solidFill>
                  <a:schemeClr val="bg1"/>
                </a:solidFill>
              </a:rPr>
              <a:t>빅데이터 플랫폼 </a:t>
            </a:r>
            <a:r>
              <a:rPr lang="en-US" altLang="ko-KR" sz="3000" b="1" smtClean="0">
                <a:solidFill>
                  <a:schemeClr val="bg1"/>
                </a:solidFill>
              </a:rPr>
              <a:t>]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39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800" b="1" smtClean="0"/>
              <a:t>Hive </a:t>
            </a:r>
            <a:r>
              <a:rPr lang="ko-KR" altLang="en-US" sz="1800" b="1" smtClean="0"/>
              <a:t>개요</a:t>
            </a:r>
            <a:endParaRPr lang="ko-KR" altLang="en-US" sz="1800" b="1"/>
          </a:p>
        </p:txBody>
      </p:sp>
      <p:sp>
        <p:nvSpPr>
          <p:cNvPr id="5125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srgbClr val="FFFFFF"/>
                </a:solidFill>
              </a:rPr>
              <a:t># Hive </a:t>
            </a:r>
            <a:r>
              <a:rPr kumimoji="0" lang="ko-KR" altLang="en-US" sz="3000" b="1" dirty="0" smtClean="0">
                <a:solidFill>
                  <a:srgbClr val="FFFFFF"/>
                </a:solidFill>
              </a:rPr>
              <a:t>개요</a:t>
            </a:r>
            <a:endParaRPr kumimoji="0" lang="ko-KR" altLang="en-US" sz="3000" b="1" dirty="0">
              <a:solidFill>
                <a:srgbClr val="FFFFFF"/>
              </a:solidFill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458529" y="1576499"/>
            <a:ext cx="9027278" cy="376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FontTx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개요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을 사용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데이터 요약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쿼리 및 분석을 수행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하둡 기반의 데이터웨어하우스 시스템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페이스북 주도로 개발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FontTx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 기본적인 작동 원리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사용자가 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SQL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쿼리를 작성하면 이것을 자동으로 맵리듀스 작업으로 변경해서 클러스터에서 실행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FontTx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 기본 구성과 특징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실행 부분 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쿼리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-&gt;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맵리듀스 실행</a:t>
            </a: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메타데이터 정보 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: Mysql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과 같은 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RDBMS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에 저장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FontTx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 Hive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와 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RDBMS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의 차이점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작은 데이터일 경우 응답 속도가 </a:t>
            </a:r>
            <a:r>
              <a:rPr lang="ko-KR" altLang="en-US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느리다</a:t>
            </a:r>
            <a:r>
              <a:rPr lang="en-US" altLang="ko-KR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레코드 단위의 </a:t>
            </a:r>
            <a:r>
              <a:rPr lang="en-US" altLang="ko-KR" sz="1300" b="1" dirty="0">
                <a:solidFill>
                  <a:srgbClr val="000000"/>
                </a:solidFill>
                <a:latin typeface="맑은 고딕"/>
                <a:ea typeface="맑은 고딕"/>
              </a:rPr>
              <a:t>Insert, Update, Delete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를 지원하지 </a:t>
            </a:r>
            <a:r>
              <a:rPr lang="ko-KR" altLang="en-US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않는다</a:t>
            </a:r>
            <a:r>
              <a:rPr lang="en-US" altLang="ko-KR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트랜잭션을 지원하지 </a:t>
            </a:r>
            <a:r>
              <a:rPr lang="ko-KR" altLang="en-US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않는다</a:t>
            </a:r>
            <a:r>
              <a:rPr lang="en-US" altLang="ko-KR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통계정보를 바로 확인할 수 </a:t>
            </a:r>
            <a:r>
              <a:rPr lang="ko-KR" altLang="en-US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없다</a:t>
            </a:r>
            <a:r>
              <a:rPr lang="en-US" altLang="ko-KR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r>
              <a:rPr lang="ko-KR" altLang="en-US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endParaRPr lang="ko-KR" altLang="en-US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입력값 오류도 바로 확인할 수 </a:t>
            </a:r>
            <a:r>
              <a:rPr lang="ko-KR" altLang="en-US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없다</a:t>
            </a:r>
            <a:r>
              <a:rPr lang="en-US" altLang="ko-KR" sz="1300" b="1" dirty="0" smtClean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5932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16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엔터프라이즈 </a:t>
            </a:r>
            <a:r>
              <a:rPr lang="en-US" altLang="ko-KR" sz="1800" b="1" smtClean="0"/>
              <a:t>Data Warehouse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" t="15401" r="3412"/>
          <a:stretch>
            <a:fillRect/>
          </a:stretch>
        </p:blipFill>
        <p:spPr bwMode="auto">
          <a:xfrm>
            <a:off x="415925" y="2852738"/>
            <a:ext cx="90741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 dirty="0">
                <a:solidFill>
                  <a:srgbClr val="FFFFFF"/>
                </a:solidFill>
              </a:rPr>
              <a:t># Hive </a:t>
            </a:r>
            <a:r>
              <a:rPr kumimoji="0" lang="ko-KR" altLang="en-US" sz="3000" b="1" dirty="0">
                <a:solidFill>
                  <a:srgbClr val="FFFFFF"/>
                </a:solidFill>
              </a:rPr>
              <a:t>개요</a:t>
            </a:r>
          </a:p>
        </p:txBody>
      </p:sp>
      <p:sp>
        <p:nvSpPr>
          <p:cNvPr id="8197" name="모서리가 둥근 직사각형 7"/>
          <p:cNvSpPr>
            <a:spLocks noChangeArrowheads="1"/>
          </p:cNvSpPr>
          <p:nvPr/>
        </p:nvSpPr>
        <p:spPr bwMode="auto">
          <a:xfrm>
            <a:off x="415925" y="1736725"/>
            <a:ext cx="9074150" cy="649288"/>
          </a:xfrm>
          <a:prstGeom prst="roundRect">
            <a:avLst>
              <a:gd name="adj" fmla="val 0"/>
            </a:avLst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</a:pPr>
            <a:r>
              <a:rPr kumimoji="0" lang="ko-KR" altLang="en-US"/>
              <a:t>엔터프라이즈 </a:t>
            </a:r>
            <a:r>
              <a:rPr kumimoji="0" lang="en-US" altLang="ko-KR" smtClean="0"/>
              <a:t>DW</a:t>
            </a:r>
            <a:r>
              <a:rPr kumimoji="0" lang="ko-KR" altLang="en-US" smtClean="0"/>
              <a:t>에서의 </a:t>
            </a:r>
            <a:r>
              <a:rPr kumimoji="0" lang="en-US" altLang="ko-KR"/>
              <a:t>Hive</a:t>
            </a:r>
          </a:p>
        </p:txBody>
      </p:sp>
    </p:spTree>
    <p:extLst>
      <p:ext uri="{BB962C8B-B14F-4D97-AF65-F5344CB8AC3E}">
        <p14:creationId xmlns:p14="http://schemas.microsoft.com/office/powerpoint/2010/main" val="326271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451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데이터 모델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sz="1600" smtClean="0"/>
              <a:t>테이블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컬럼 타입 </a:t>
            </a:r>
            <a:r>
              <a:rPr lang="en-US" altLang="ko-KR" sz="1400" smtClean="0"/>
              <a:t>( int, float, string, boolean )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리스트 </a:t>
            </a:r>
            <a:r>
              <a:rPr lang="en-US" altLang="ko-KR" sz="1400" smtClean="0"/>
              <a:t>: map ( JSON</a:t>
            </a:r>
            <a:r>
              <a:rPr lang="ko-KR" altLang="en-US" sz="1400" smtClean="0"/>
              <a:t>과 유사 </a:t>
            </a:r>
            <a:r>
              <a:rPr lang="en-US" altLang="ko-KR" sz="1400" smtClean="0"/>
              <a:t>)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파티션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테이블은 하나 이상의 파티션 키를 가짐  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데이터 접근을 위한 테이블 구조의 최적화</a:t>
            </a:r>
            <a:r>
              <a:rPr lang="en-US" altLang="ko-KR" sz="1400" smtClean="0"/>
              <a:t>(</a:t>
            </a:r>
            <a:r>
              <a:rPr lang="ko-KR" altLang="en-US" sz="1400" smtClean="0"/>
              <a:t>인덱스</a:t>
            </a:r>
            <a:r>
              <a:rPr lang="en-US" altLang="ko-KR" sz="1400" smtClean="0"/>
              <a:t>)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None/>
            </a:pPr>
            <a:r>
              <a:rPr lang="en-US" altLang="ko-KR" sz="1400" smtClean="0"/>
              <a:t>	Ex) </a:t>
            </a:r>
            <a:r>
              <a:rPr lang="ko-KR" altLang="en-US" sz="1400" smtClean="0"/>
              <a:t>날짜별 파티션 테이블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버킷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파티션의 데이터는 특정 해쉬 함수에 의해서 버킷으로 분할 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특정 범위의 해쉬 파티션</a:t>
            </a:r>
            <a:r>
              <a:rPr lang="en-US" altLang="ko-KR" sz="1400" smtClean="0"/>
              <a:t>(</a:t>
            </a:r>
            <a:r>
              <a:rPr lang="ko-KR" altLang="en-US" sz="1400" smtClean="0"/>
              <a:t>샘플링에 이용</a:t>
            </a:r>
            <a:r>
              <a:rPr lang="en-US" altLang="ko-KR" sz="1400" smtClean="0"/>
              <a:t>)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</p:txBody>
      </p:sp>
      <p:sp>
        <p:nvSpPr>
          <p:cNvPr id="11267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 dirty="0">
                <a:solidFill>
                  <a:srgbClr val="FFFFFF"/>
                </a:solidFill>
              </a:rPr>
              <a:t># Hive </a:t>
            </a:r>
            <a:r>
              <a:rPr kumimoji="0" lang="ko-KR" altLang="en-US" sz="3000" b="1" dirty="0">
                <a:solidFill>
                  <a:srgbClr val="FFFFFF"/>
                </a:solidFill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236447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41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메타스토어</a:t>
            </a:r>
            <a:r>
              <a:rPr lang="en-US" altLang="ko-KR" sz="1800" b="1" smtClean="0"/>
              <a:t>(Metastore)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sz="1600" smtClean="0"/>
              <a:t>데이터베이스 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테이블 목록등의 정보를 가진 네임스페이스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테이블 명세를 저장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컬럼 타입</a:t>
            </a:r>
            <a:r>
              <a:rPr lang="en-US" altLang="ko-KR" sz="1400" smtClean="0"/>
              <a:t>, </a:t>
            </a:r>
            <a:r>
              <a:rPr lang="ko-KR" altLang="en-US" sz="1400" smtClean="0"/>
              <a:t>물리적 레이아웃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파티션 데이터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sz="1600" smtClean="0"/>
              <a:t>Derby, Mysql </a:t>
            </a:r>
            <a:r>
              <a:rPr lang="ko-KR" altLang="en-US" sz="1600" smtClean="0"/>
              <a:t>또는 </a:t>
            </a:r>
            <a:r>
              <a:rPr lang="en-US" altLang="ko-KR" sz="1600" smtClean="0"/>
              <a:t>RDBMS</a:t>
            </a:r>
            <a:r>
              <a:rPr lang="ko-KR" altLang="en-US" sz="1600" smtClean="0"/>
              <a:t>에 저장될 수 있음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</p:txBody>
      </p:sp>
      <p:sp>
        <p:nvSpPr>
          <p:cNvPr id="12291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 dirty="0">
                <a:solidFill>
                  <a:srgbClr val="FFFFFF"/>
                </a:solidFill>
              </a:rPr>
              <a:t># Hive </a:t>
            </a:r>
            <a:r>
              <a:rPr kumimoji="0" lang="ko-KR" altLang="en-US" sz="3000" b="1" dirty="0">
                <a:solidFill>
                  <a:srgbClr val="FFFFFF"/>
                </a:solidFill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366651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469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물리적 레이아웃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sz="1600" smtClean="0"/>
              <a:t>HDFS</a:t>
            </a:r>
            <a:r>
              <a:rPr lang="ko-KR" altLang="en-US" sz="1600" smtClean="0"/>
              <a:t>에 위치한 </a:t>
            </a:r>
            <a:r>
              <a:rPr lang="en-US" altLang="ko-KR" sz="1600" smtClean="0"/>
              <a:t>Warehouse </a:t>
            </a:r>
            <a:r>
              <a:rPr lang="ko-KR" altLang="en-US" sz="1600" smtClean="0"/>
              <a:t>디렉토리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en-US" altLang="ko-KR" sz="1400" smtClean="0"/>
              <a:t>/user/hive/warehouse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테이블은 </a:t>
            </a:r>
            <a:r>
              <a:rPr lang="en-US" altLang="ko-KR" sz="1600" smtClean="0"/>
              <a:t>Warehouse</a:t>
            </a:r>
            <a:r>
              <a:rPr lang="ko-KR" altLang="en-US" sz="1600" smtClean="0"/>
              <a:t>의 서브디렉토리에 저장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파티션은 해당 테이블의 서브디렉토리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실제 데이터는 일반파일로 저장됨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특정 구분자로 컬럼을 구분하는 텍스트 파일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None/>
            </a:pPr>
            <a:r>
              <a:rPr lang="ko-KR" altLang="en-US" sz="1400" smtClean="0"/>
              <a:t>	또는 순차 파일 형태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en-US" altLang="ko-KR" sz="1400" smtClean="0"/>
              <a:t>SerDe </a:t>
            </a:r>
            <a:r>
              <a:rPr lang="ko-KR" altLang="en-US" sz="1400" smtClean="0"/>
              <a:t>형식</a:t>
            </a:r>
            <a:r>
              <a:rPr lang="en-US" altLang="ko-KR" sz="1400" smtClean="0"/>
              <a:t>, </a:t>
            </a:r>
            <a:r>
              <a:rPr lang="ko-KR" altLang="en-US" sz="1400" smtClean="0"/>
              <a:t>임의 형식 지원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</p:txBody>
      </p:sp>
      <p:sp>
        <p:nvSpPr>
          <p:cNvPr id="13315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 dirty="0">
                <a:solidFill>
                  <a:srgbClr val="FFFFFF"/>
                </a:solidFill>
              </a:rPr>
              <a:t># Hive </a:t>
            </a:r>
            <a:r>
              <a:rPr kumimoji="0" lang="ko-KR" altLang="en-US" sz="3000" b="1" dirty="0">
                <a:solidFill>
                  <a:srgbClr val="FFFFFF"/>
                </a:solidFill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195777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 dirty="0" smtClean="0">
                <a:solidFill>
                  <a:srgbClr val="FFFFFF"/>
                </a:solidFill>
              </a:rPr>
              <a:t># </a:t>
            </a:r>
            <a:r>
              <a:rPr lang="ko-KR" altLang="en-US" sz="3200" b="1" dirty="0" smtClean="0">
                <a:solidFill>
                  <a:srgbClr val="FFFFFF"/>
                </a:solidFill>
              </a:rPr>
              <a:t>실습 환경</a:t>
            </a:r>
            <a:endParaRPr kumimoji="0"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0061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전체 구성도</a:t>
            </a:r>
            <a:r>
              <a:rPr lang="en-US" altLang="ko-KR" b="1" smtClean="0"/>
              <a:t>(</a:t>
            </a:r>
            <a:r>
              <a:rPr lang="ko-KR" altLang="en-US" b="1" smtClean="0"/>
              <a:t>실제 실습 환경</a:t>
            </a:r>
            <a:r>
              <a:rPr lang="en-US" altLang="ko-KR" b="1" smtClean="0"/>
              <a:t>)</a:t>
            </a:r>
            <a:endParaRPr lang="ko-KR" altLang="en-US" b="1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68524" y="4617132"/>
            <a:ext cx="1548172" cy="194421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인프라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550600" y="4617132"/>
            <a:ext cx="6650871" cy="1944215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92760" y="6057292"/>
            <a:ext cx="6192688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가상화 환경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오라클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Virtual Box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376110" y="5265204"/>
            <a:ext cx="1654620" cy="674190"/>
            <a:chOff x="2792760" y="5268356"/>
            <a:chExt cx="1654620" cy="674190"/>
          </a:xfrm>
        </p:grpSpPr>
        <p:pic>
          <p:nvPicPr>
            <p:cNvPr id="10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756756" y="5265204"/>
            <a:ext cx="1619354" cy="674190"/>
            <a:chOff x="2792760" y="5268356"/>
            <a:chExt cx="1619354" cy="674190"/>
          </a:xfrm>
        </p:grpSpPr>
        <p:pic>
          <p:nvPicPr>
            <p:cNvPr id="16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938711" y="5265204"/>
            <a:ext cx="1654620" cy="674190"/>
            <a:chOff x="2792760" y="5268356"/>
            <a:chExt cx="1654620" cy="674190"/>
          </a:xfrm>
        </p:grpSpPr>
        <p:pic>
          <p:nvPicPr>
            <p:cNvPr id="19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직사각형 19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444559" y="5265204"/>
            <a:ext cx="1654620" cy="674190"/>
            <a:chOff x="2792760" y="5268356"/>
            <a:chExt cx="1654620" cy="674190"/>
          </a:xfrm>
        </p:grpSpPr>
        <p:pic>
          <p:nvPicPr>
            <p:cNvPr id="2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4" name="직선 연결선 23"/>
          <p:cNvCxnSpPr/>
          <p:nvPr/>
        </p:nvCxnSpPr>
        <p:spPr bwMode="auto">
          <a:xfrm flipH="1">
            <a:off x="2915962" y="5013176"/>
            <a:ext cx="6069486" cy="1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24" y="4666994"/>
            <a:ext cx="369761" cy="18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직선 연결선 28"/>
          <p:cNvCxnSpPr>
            <a:endCxn id="26" idx="2"/>
          </p:cNvCxnSpPr>
          <p:nvPr/>
        </p:nvCxnSpPr>
        <p:spPr>
          <a:xfrm flipV="1">
            <a:off x="5950704" y="4849395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566432" y="5067444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5203420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6748387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8254235" y="5087400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80"/>
          <p:cNvSpPr>
            <a:spLocks noChangeArrowheads="1"/>
          </p:cNvSpPr>
          <p:nvPr/>
        </p:nvSpPr>
        <p:spPr bwMode="auto">
          <a:xfrm>
            <a:off x="6118923" y="4650546"/>
            <a:ext cx="12589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[ Network ]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668524" y="2540638"/>
            <a:ext cx="1548172" cy="97597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Apache 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Hadoop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68524" y="3575560"/>
            <a:ext cx="8532947" cy="982623"/>
            <a:chOff x="668524" y="3575560"/>
            <a:chExt cx="8532947" cy="982623"/>
          </a:xfrm>
        </p:grpSpPr>
        <p:sp>
          <p:nvSpPr>
            <p:cNvPr id="44" name="직사각형 43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43" name="직사각형 4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Operating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6.9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32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2550599" y="2540638"/>
            <a:ext cx="6650871" cy="982623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794856" y="2670900"/>
            <a:ext cx="2023170" cy="3610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HDFS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818026" y="2670900"/>
            <a:ext cx="2043186" cy="3610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MapReduce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861212" y="2667183"/>
            <a:ext cx="1944216" cy="3610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Yarn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792760" y="3028234"/>
            <a:ext cx="6012668" cy="3651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Apache Hadoop 2.X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668524" y="1510273"/>
            <a:ext cx="8532947" cy="982623"/>
            <a:chOff x="668524" y="3575560"/>
            <a:chExt cx="8532947" cy="982623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Hadoop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Ecosystem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err="1" smtClean="0">
                  <a:solidFill>
                    <a:schemeClr val="tx1"/>
                  </a:solidFill>
                  <a:latin typeface="+mn-ea"/>
                </a:rPr>
                <a:t>Mysql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 DB</a:t>
              </a: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Pig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Hive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Spark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cxnSp>
        <p:nvCxnSpPr>
          <p:cNvPr id="59" name="직선 화살표 연결선 58"/>
          <p:cNvCxnSpPr>
            <a:stCxn id="46" idx="0"/>
          </p:cNvCxnSpPr>
          <p:nvPr/>
        </p:nvCxnSpPr>
        <p:spPr>
          <a:xfrm flipV="1">
            <a:off x="3806441" y="2276872"/>
            <a:ext cx="3054771" cy="394028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47" idx="0"/>
          </p:cNvCxnSpPr>
          <p:nvPr/>
        </p:nvCxnSpPr>
        <p:spPr>
          <a:xfrm flipV="1">
            <a:off x="5839619" y="2276872"/>
            <a:ext cx="1173993" cy="394028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endCxn id="48" idx="0"/>
          </p:cNvCxnSpPr>
          <p:nvPr/>
        </p:nvCxnSpPr>
        <p:spPr>
          <a:xfrm>
            <a:off x="6970551" y="2276872"/>
            <a:ext cx="862769" cy="390311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55" idx="3"/>
          </p:cNvCxnSpPr>
          <p:nvPr/>
        </p:nvCxnSpPr>
        <p:spPr>
          <a:xfrm flipV="1">
            <a:off x="4484123" y="1998104"/>
            <a:ext cx="1998035" cy="8878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56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 dirty="0" smtClean="0">
                <a:solidFill>
                  <a:srgbClr val="FFFFFF"/>
                </a:solidFill>
              </a:rPr>
              <a:t># Hive </a:t>
            </a:r>
            <a:r>
              <a:rPr lang="ko-KR" altLang="en-US" sz="3200" b="1" dirty="0" smtClean="0">
                <a:solidFill>
                  <a:srgbClr val="FFFFFF"/>
                </a:solidFill>
              </a:rPr>
              <a:t>작업 절차</a:t>
            </a:r>
            <a:endParaRPr kumimoji="0" lang="ko-KR" altLang="en-US" sz="36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/>
              <a:t>작업 절차</a:t>
            </a:r>
            <a:endParaRPr lang="ko-KR" altLang="en-US" b="1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45316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[root]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계정으로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[root]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[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계정으로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설정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있는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 HDFS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hadoop/sbin/start-dfs.sh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리소스매니저가 있는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 YARN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hadoop/sbin/start-yarn.sh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단계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CLI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실행하기</a:t>
            </a:r>
            <a:endParaRPr lang="en-US" altLang="ko-KR" sz="1300" b="1" dirty="0">
              <a:latin typeface="+mn-ea"/>
              <a:ea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465168" y="1124744"/>
            <a:ext cx="1548172" cy="982622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1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err="1" smtClean="0">
                <a:solidFill>
                  <a:srgbClr val="000000"/>
                </a:solidFill>
              </a:rPr>
              <a:t>Mysql</a:t>
            </a:r>
            <a:r>
              <a:rPr lang="en-US" altLang="ko-KR" sz="1400" b="1" dirty="0" smtClean="0">
                <a:solidFill>
                  <a:srgbClr val="000000"/>
                </a:solidFill>
              </a:rPr>
              <a:t> DB 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설정</a:t>
            </a:r>
            <a:endParaRPr lang="en-US" altLang="ko-KR" sz="1400" b="1" dirty="0" smtClean="0">
              <a:solidFill>
                <a:srgbClr val="000000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5565068" y="2348880"/>
            <a:ext cx="3312368" cy="900100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2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Hive 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클라이언트 설정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5565068" y="3676558"/>
            <a:ext cx="1476164" cy="879488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3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HDFS 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시작하기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31" name="아래쪽 화살표 30"/>
          <p:cNvSpPr/>
          <p:nvPr/>
        </p:nvSpPr>
        <p:spPr>
          <a:xfrm>
            <a:off x="6721343" y="2032014"/>
            <a:ext cx="998991" cy="438348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6721342" y="3170192"/>
            <a:ext cx="998991" cy="436422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0" name="모서리가 둥근 직사각형 29"/>
          <p:cNvSpPr/>
          <p:nvPr/>
        </p:nvSpPr>
        <p:spPr bwMode="auto">
          <a:xfrm>
            <a:off x="7401272" y="3933056"/>
            <a:ext cx="1476164" cy="879488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4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YARN 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시작하기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33" name="아래쪽 화살표 32"/>
          <p:cNvSpPr/>
          <p:nvPr/>
        </p:nvSpPr>
        <p:spPr>
          <a:xfrm>
            <a:off x="6721341" y="4905164"/>
            <a:ext cx="998991" cy="436422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4" name="모서리가 둥근 직사각형 33"/>
          <p:cNvSpPr/>
          <p:nvPr/>
        </p:nvSpPr>
        <p:spPr bwMode="auto">
          <a:xfrm>
            <a:off x="5583070" y="5422411"/>
            <a:ext cx="3312368" cy="900100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5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단계</a:t>
            </a:r>
            <a:endParaRPr lang="en-US" altLang="ko-KR" sz="1400" b="1" dirty="0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</a:rPr>
              <a:t>Hive CLI </a:t>
            </a:r>
            <a:r>
              <a:rPr lang="ko-KR" altLang="en-US" sz="1400" b="1" dirty="0" smtClean="0">
                <a:solidFill>
                  <a:srgbClr val="000000"/>
                </a:solidFill>
              </a:rPr>
              <a:t>실행하기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91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 dirty="0">
                <a:solidFill>
                  <a:srgbClr val="FFFFFF"/>
                </a:solidFill>
              </a:rPr>
              <a:t># </a:t>
            </a:r>
            <a:r>
              <a:rPr lang="en-US" altLang="ko-KR" sz="3200" b="1" dirty="0" smtClean="0">
                <a:solidFill>
                  <a:srgbClr val="FFFFFF"/>
                </a:solidFill>
              </a:rPr>
              <a:t>Hive </a:t>
            </a:r>
            <a:r>
              <a:rPr lang="ko-KR" altLang="en-US" sz="3200" b="1" dirty="0" smtClean="0">
                <a:solidFill>
                  <a:srgbClr val="FFFFFF"/>
                </a:solidFill>
              </a:rPr>
              <a:t>설정 개요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372783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dirty="0" smtClean="0">
                <a:solidFill>
                  <a:prstClr val="black"/>
                </a:solidFill>
              </a:rPr>
              <a:t>주요 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Hive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 설정 파일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(</a:t>
            </a:r>
            <a:r>
              <a:rPr lang="ko-KR" altLang="en-US" sz="1600" b="1" dirty="0" err="1" smtClean="0">
                <a:solidFill>
                  <a:prstClr val="black"/>
                </a:solidFill>
              </a:rPr>
              <a:t>하둡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 포함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)</a:t>
            </a:r>
            <a:endParaRPr lang="ko-KR" altLang="en-US" sz="1600" b="1" dirty="0">
              <a:solidFill>
                <a:prstClr val="black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716666"/>
              </p:ext>
            </p:extLst>
          </p:nvPr>
        </p:nvGraphicFramePr>
        <p:xfrm>
          <a:off x="560761" y="1732197"/>
          <a:ext cx="8568952" cy="4715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91"/>
                <a:gridCol w="2448272"/>
                <a:gridCol w="486078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구분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설정 파일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기능</a:t>
                      </a:r>
                      <a:endParaRPr lang="ko-KR" altLang="en-US" sz="1400"/>
                    </a:p>
                  </a:txBody>
                  <a:tcPr/>
                </a:tc>
              </a:tr>
              <a:tr h="15007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</a:p>
                    <a:p>
                      <a:pPr algn="ctr" latinLnBrk="1"/>
                      <a:r>
                        <a:rPr lang="ko-KR" altLang="en-US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/home/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hadoop</a:t>
                      </a:r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/.</a:t>
                      </a:r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bashrc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하둡과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위한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리눅스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환경설정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JAVA_HOME,</a:t>
                      </a: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HADOOP_HOME, HADOOP_CONF_DIR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baseline="0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HIVE_HOME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PATH </a:t>
                      </a: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/>
                </a:tc>
              </a:tr>
              <a:tr h="88624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/home/</a:t>
                      </a:r>
                      <a:r>
                        <a:rPr lang="en-US" altLang="ko-KR" sz="1600" b="1" dirty="0" err="1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hadoop</a:t>
                      </a:r>
                      <a:r>
                        <a:rPr lang="en-US" altLang="ko-KR" sz="1600" b="1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hive/</a:t>
                      </a:r>
                      <a:r>
                        <a:rPr lang="en-US" altLang="ko-KR" sz="1600" b="1" dirty="0" err="1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</a:t>
                      </a:r>
                      <a:r>
                        <a:rPr lang="en-US" altLang="ko-KR" sz="1600" b="1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/hive-site.xml</a:t>
                      </a:r>
                      <a:endParaRPr lang="ko-KR" altLang="en-US" sz="1600" b="1" dirty="0">
                        <a:solidFill>
                          <a:srgbClr val="7030A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설정 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400" b="1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</a:t>
                      </a:r>
                      <a:r>
                        <a:rPr lang="en-US" altLang="ko-KR" sz="1400" b="1" dirty="0" err="1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Meta</a:t>
                      </a:r>
                      <a:r>
                        <a:rPr lang="en-US" altLang="ko-KR" sz="1400" b="1" baseline="0" dirty="0" err="1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Store</a:t>
                      </a:r>
                      <a:r>
                        <a:rPr lang="en-US" altLang="ko-KR" sz="1400" b="1" baseline="0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 </a:t>
                      </a:r>
                      <a:r>
                        <a:rPr lang="ko-KR" altLang="en-US" sz="1400" b="1" baseline="0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1200" b="1" baseline="0" dirty="0" smtClean="0">
                        <a:solidFill>
                          <a:srgbClr val="7030A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400" b="1" baseline="0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JDBC URL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400" b="1" baseline="0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DB User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400" b="1" baseline="0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 DB Password</a:t>
                      </a:r>
                      <a:endParaRPr lang="ko-KR" altLang="en-US" sz="1400" b="1" dirty="0">
                        <a:solidFill>
                          <a:srgbClr val="7030A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78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MapReduce</a:t>
                      </a:r>
                      <a:endParaRPr lang="en-US" altLang="ko-KR" sz="14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mapred-site.xml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MapReduce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애플리케이션 환경 설정</a:t>
                      </a:r>
                      <a:endParaRPr lang="en-US" altLang="ko-KR" sz="12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프레임워크 설정 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YARN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잡히스토리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서버 등 관련 데몬 설정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 </a:t>
                      </a:r>
                    </a:p>
                    <a:p>
                      <a:pPr algn="ctr" latinLnBrk="1"/>
                      <a:r>
                        <a:rPr lang="ko-KR" altLang="en-US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hdfs-site.xml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관련된 속성 설정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네임노드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세컨드노드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데이터노드의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각종 포트 설정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파일의 위치 지정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466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</a:t>
                      </a:r>
                    </a:p>
                    <a:p>
                      <a:pPr algn="ctr" latinLnBrk="1"/>
                      <a:r>
                        <a:rPr lang="ko-KR" altLang="en-US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yarn-site.xml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관련된 속성 설정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리소스매니저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</a:t>
                      </a:r>
                      <a:endParaRPr lang="en-US" altLang="ko-KR" sz="12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YARN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포트 및 파일의 위치 지정</a:t>
                      </a:r>
                      <a:endParaRPr lang="en-US" altLang="ko-KR" sz="12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12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Vcores</a:t>
                      </a:r>
                      <a:r>
                        <a:rPr lang="en-US" altLang="ko-KR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466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Worker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slaves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Worker </a:t>
                      </a:r>
                      <a:r>
                        <a:rPr lang="ko-KR" altLang="en-US" sz="1200" b="1" dirty="0" err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</a:t>
                      </a:r>
                      <a:r>
                        <a:rPr lang="ko-KR" altLang="en-US" sz="1200" b="1" dirty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설정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(Hive </a:t>
                      </a:r>
                      <a:r>
                        <a:rPr lang="en-US" altLang="ko-KR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Workder</a:t>
                      </a:r>
                      <a:r>
                        <a:rPr lang="en-US" altLang="ko-KR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&amp; Hive Executor)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한 줄에 하나씩 </a:t>
                      </a:r>
                      <a:r>
                        <a:rPr lang="ko-KR" altLang="en-US" sz="12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호스트명을</a:t>
                      </a:r>
                      <a:r>
                        <a:rPr lang="ko-KR" altLang="en-US" sz="12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1856656" y="2960948"/>
            <a:ext cx="6012668" cy="936104"/>
          </a:xfrm>
          <a:prstGeom prst="rect">
            <a:avLst/>
          </a:prstGeom>
          <a:noFill/>
          <a:ln w="412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03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1. </a:t>
            </a:r>
            <a:r>
              <a:rPr kumimoji="0" lang="ko-KR" altLang="en-US" sz="3000" b="1">
                <a:solidFill>
                  <a:prstClr val="white"/>
                </a:solidFill>
              </a:rPr>
              <a:t>가상 머신 시작하고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접속하기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4121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가상 </a:t>
            </a:r>
            <a:r>
              <a:rPr lang="ko-KR" altLang="en-US" b="1" dirty="0">
                <a:solidFill>
                  <a:prstClr val="black"/>
                </a:solidFill>
              </a:rPr>
              <a:t>머신 </a:t>
            </a:r>
            <a:r>
              <a:rPr lang="en-US" altLang="ko-KR" b="1" dirty="0">
                <a:solidFill>
                  <a:prstClr val="black"/>
                </a:solidFill>
              </a:rPr>
              <a:t>3</a:t>
            </a:r>
            <a:r>
              <a:rPr lang="ko-KR" altLang="en-US" b="1" dirty="0">
                <a:solidFill>
                  <a:prstClr val="black"/>
                </a:solidFill>
              </a:rPr>
              <a:t>대를 모두 시작</a:t>
            </a:r>
            <a:r>
              <a:rPr lang="en-US" altLang="ko-KR" b="1" dirty="0">
                <a:solidFill>
                  <a:prstClr val="black"/>
                </a:solidFill>
              </a:rPr>
              <a:t>( </a:t>
            </a:r>
            <a:r>
              <a:rPr lang="ko-KR" altLang="en-US" b="1" dirty="0">
                <a:solidFill>
                  <a:prstClr val="black"/>
                </a:solidFill>
              </a:rPr>
              <a:t>전원 </a:t>
            </a:r>
            <a:r>
              <a:rPr lang="en-US" altLang="ko-KR" b="1" dirty="0">
                <a:solidFill>
                  <a:prstClr val="black"/>
                </a:solidFill>
              </a:rPr>
              <a:t>On )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hd1-client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hd2-namenode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hd3-secondnode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빗면 1"/>
          <p:cNvSpPr/>
          <p:nvPr/>
        </p:nvSpPr>
        <p:spPr>
          <a:xfrm>
            <a:off x="6025287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prstClr val="white"/>
                </a:solidFill>
              </a:rPr>
              <a:t>Virtual-Box</a:t>
            </a:r>
            <a:endParaRPr lang="ko-KR" altLang="en-US" sz="2400" dirty="0">
              <a:solidFill>
                <a:prstClr val="white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3" y="2312876"/>
            <a:ext cx="2428678" cy="15938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44" y="3717032"/>
            <a:ext cx="2428678" cy="159382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003" y="5157192"/>
            <a:ext cx="2428678" cy="1593820"/>
          </a:xfrm>
          <a:prstGeom prst="rect">
            <a:avLst/>
          </a:prstGeom>
        </p:spPr>
      </p:pic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80718" y="3544328"/>
            <a:ext cx="224324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Putty</a:t>
            </a:r>
            <a:r>
              <a:rPr lang="ko-KR" altLang="en-US" b="1" dirty="0" smtClean="0">
                <a:solidFill>
                  <a:prstClr val="black"/>
                </a:solidFill>
              </a:rPr>
              <a:t>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ssh</a:t>
            </a:r>
            <a:r>
              <a:rPr lang="en-US" altLang="ko-KR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</a:rPr>
              <a:t>접속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90218" y="4094373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Putty.exe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(hd1-client)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: 192.168.56.21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로그인 아이디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가로로 말린 두루마리 모양 11"/>
          <p:cNvSpPr/>
          <p:nvPr/>
        </p:nvSpPr>
        <p:spPr>
          <a:xfrm>
            <a:off x="3144651" y="4513942"/>
            <a:ext cx="2556284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hd1-client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286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[root]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네임노드에서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 err="1">
                <a:solidFill>
                  <a:prstClr val="white"/>
                </a:solidFill>
              </a:rPr>
              <a:t>Mysql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 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1581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ko-KR" altLang="en-US" b="1" dirty="0" smtClean="0">
                <a:solidFill>
                  <a:prstClr val="black"/>
                </a:solidFill>
              </a:rPr>
              <a:t>를 위한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r>
              <a:rPr lang="ko-KR" altLang="en-US" b="1" dirty="0" smtClean="0">
                <a:solidFill>
                  <a:prstClr val="black"/>
                </a:solidFill>
              </a:rPr>
              <a:t>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313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DB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네임노드에서만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실행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 여부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확인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systemctl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status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Hive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위한 데이터베이스 생성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mysqladmin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create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mysqlshow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2483778" y="4221088"/>
            <a:ext cx="5321931" cy="189759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atinLnBrk="0">
              <a:spcBef>
                <a:spcPct val="30000"/>
              </a:spcBef>
            </a:pP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systemctl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start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endParaRPr lang="en-US" altLang="ko-KR" sz="14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latinLnBrk="0">
              <a:spcBef>
                <a:spcPct val="30000"/>
              </a:spcBef>
            </a:pPr>
            <a:r>
              <a:rPr lang="en-US" altLang="ko-KR" sz="14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r>
              <a:rPr lang="en-US" altLang="ko-KR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종료하기 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systemctl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stop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endParaRPr lang="en-US" altLang="ko-KR" sz="14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latinLnBrk="0">
              <a:spcBef>
                <a:spcPct val="30000"/>
              </a:spcBef>
            </a:pPr>
            <a:r>
              <a:rPr lang="ko-KR" altLang="en-US" sz="14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부팅시</a:t>
            </a:r>
            <a:r>
              <a:rPr lang="ko-KR" altLang="en-US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자동 시작 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systemctl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enable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endParaRPr lang="en-US" altLang="ko-KR" sz="14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latinLnBrk="0">
              <a:spcBef>
                <a:spcPct val="30000"/>
              </a:spcBef>
            </a:pPr>
            <a:r>
              <a:rPr lang="ko-KR" altLang="en-US" sz="14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부팅시</a:t>
            </a:r>
            <a:r>
              <a:rPr lang="ko-KR" altLang="en-US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않기 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systemctl</a:t>
            </a: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disable </a:t>
            </a:r>
            <a:r>
              <a:rPr lang="en-US" altLang="ko-KR" sz="14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mysqld</a:t>
            </a:r>
            <a:endParaRPr lang="en-US" altLang="ko-KR" sz="14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30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[root]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네임노드에서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 err="1">
                <a:solidFill>
                  <a:prstClr val="white"/>
                </a:solidFill>
              </a:rPr>
              <a:t>Mysql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 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1581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ko-KR" altLang="en-US" b="1" dirty="0" smtClean="0">
                <a:solidFill>
                  <a:prstClr val="black"/>
                </a:solidFill>
              </a:rPr>
              <a:t>를 위한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r>
              <a:rPr lang="ko-KR" altLang="en-US" b="1" dirty="0" smtClean="0">
                <a:solidFill>
                  <a:prstClr val="black"/>
                </a:solidFill>
              </a:rPr>
              <a:t>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9593" y="1509464"/>
            <a:ext cx="8820980" cy="503644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 smtClean="0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root@namenode's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Last login: Sun Jul  2 00:34:10 2017 from client.hadoop.kr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root@namenode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systemctl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status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mysqld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●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mysqld.service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- MySQL Community 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Loaded: loaded (/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usr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/lib/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systemd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/system/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mysqld.service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; enabled; vendor preset: disabled)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Active: active (running)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since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2017-07-03 11:06:01 KST; 18min ago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Process: 810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ExecStartPost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=/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usr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/bin/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systemd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-start post (code=exited, status=0/SUCCESS)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Process: 758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ExecStartPre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=/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usr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/bin/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systemd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-start pre (code=exited, status=0/SUCCESS)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Main PID: 809 (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mysqld_safe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CGroup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: 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system.slice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mysqld.service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 ├─ 809 /bin/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sh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usr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/bin/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mysqld_safe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--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basedir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=/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usr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 └─1017 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usr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sbin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--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basedir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=/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usr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--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datadir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=/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var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/lib/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--...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7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03 11:05:58 namenode.hadoop.kr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systemd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[1]: Starting MySQL Community Se....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7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03 11:05:59 namenode.hadoop.kr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mysqld_safe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[809]: 170703 11:05:59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7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03 11:05:59 namenode.hadoop.kr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mysqld_safe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[809]: 170703 11:05:59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7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03 11:06:01 namenode.hadoop.kr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systemd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[1]: Started MySQL Community Server.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Hint: Some lines were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ellipsized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, use -l to show in full.</a:t>
            </a: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5591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[root]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네임노드에서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 err="1">
                <a:solidFill>
                  <a:prstClr val="white"/>
                </a:solidFill>
              </a:rPr>
              <a:t>Mysql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 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1581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ko-KR" altLang="en-US" b="1" dirty="0" smtClean="0">
                <a:solidFill>
                  <a:prstClr val="black"/>
                </a:solidFill>
              </a:rPr>
              <a:t>를 위한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r>
              <a:rPr lang="ko-KR" altLang="en-US" b="1" dirty="0" smtClean="0">
                <a:solidFill>
                  <a:prstClr val="black"/>
                </a:solidFill>
              </a:rPr>
              <a:t>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9593" y="1509464"/>
            <a:ext cx="8820980" cy="290663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root@namenode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mysqladmin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create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hivedb</a:t>
            </a:r>
            <a:endParaRPr lang="en-US" altLang="ko-KR" sz="16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root@namenode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mysqlshow</a:t>
            </a:r>
            <a:endParaRPr lang="en-US" altLang="ko-KR" sz="16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    Databases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information_schema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en-US" altLang="ko-KR" sz="16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performance_schema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+--------------------+</a:t>
            </a: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8211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[root]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네임노드에서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 err="1">
                <a:solidFill>
                  <a:prstClr val="white"/>
                </a:solidFill>
              </a:rPr>
              <a:t>Mysql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 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1581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ko-KR" altLang="en-US" b="1" dirty="0" smtClean="0">
                <a:solidFill>
                  <a:prstClr val="black"/>
                </a:solidFill>
              </a:rPr>
              <a:t>를 위한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r>
              <a:rPr lang="ko-KR" altLang="en-US" b="1" dirty="0" smtClean="0">
                <a:solidFill>
                  <a:prstClr val="black"/>
                </a:solidFill>
              </a:rPr>
              <a:t>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Hive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위한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DB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접근 권한 설정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grant all privileges on hivedb.* to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hiveuser@localhost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identified by '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hivepw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grant all privileges on hivedb.* to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hiveuser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@'client.hadoop.kr' identified by '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hivepw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flush privileges;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quit;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6]$ exit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제대로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DB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접근 권한을 설정했는지 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mysqlshow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uhiveuser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phivepw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--host=namenode.hadoop.kr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putty.exe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종료하기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8]$ exit </a:t>
            </a: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  <p:sp>
        <p:nvSpPr>
          <p:cNvPr id="7" name="빗면 6"/>
          <p:cNvSpPr/>
          <p:nvPr/>
        </p:nvSpPr>
        <p:spPr>
          <a:xfrm>
            <a:off x="6753200" y="4041068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260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[root]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네임노드에서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 err="1">
                <a:solidFill>
                  <a:prstClr val="white"/>
                </a:solidFill>
              </a:rPr>
              <a:t>Mysql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 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1581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ko-KR" altLang="en-US" b="1" dirty="0" smtClean="0">
                <a:solidFill>
                  <a:prstClr val="black"/>
                </a:solidFill>
              </a:rPr>
              <a:t>를 위한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r>
              <a:rPr lang="ko-KR" altLang="en-US" b="1" dirty="0" smtClean="0">
                <a:solidFill>
                  <a:prstClr val="black"/>
                </a:solidFill>
              </a:rPr>
              <a:t>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9593" y="1509464"/>
            <a:ext cx="8820980" cy="471635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root@namenode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~]#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mysql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Reading table information for completion of table and column names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You can turn off this feature to get a quicker startup with -A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700" dirty="0" smtClean="0">
                <a:latin typeface="맑은 고딕" pitchFamily="50" charset="-127"/>
                <a:ea typeface="맑은 고딕" pitchFamily="50" charset="-127"/>
              </a:rPr>
              <a:t>Welcome </a:t>
            </a:r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to the MySQL monitor.  Commands end with ; or \g.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Your MySQL connection id is 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Server version: 5.6.36 MySQL Community Server (GPL)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700" dirty="0" smtClean="0">
                <a:latin typeface="맑은 고딕" pitchFamily="50" charset="-127"/>
                <a:ea typeface="맑은 고딕" pitchFamily="50" charset="-127"/>
              </a:rPr>
              <a:t>Copyright </a:t>
            </a:r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(c) 2000, 2017, Oracle and/or its affiliates. All rights reserved.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700" dirty="0" smtClean="0">
                <a:latin typeface="맑은 고딕" pitchFamily="50" charset="-127"/>
                <a:ea typeface="맑은 고딕" pitchFamily="50" charset="-127"/>
              </a:rPr>
              <a:t>Oracle </a:t>
            </a:r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is a registered trademark of Oracle Corporation and/or its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affiliates. Other names may be trademarks of their respective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owners.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Type 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'help;' or '\h' for help. Type '\c' to clear the current input statement.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grant all privileges on hivedb.* to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hiveuser@localhost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identified by '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hivepw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';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Query OK, 0 rows affected (0.01 sec)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grant all privileges on hivedb.* to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hiveuser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@'client.hadoop.kr' identified by '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hivepw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';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Query OK, 0 rows affected (0.00 sec)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flush privileges;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Query OK, 0 rows affected (0.00 sec)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quit;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Bye</a:t>
            </a: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9941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2. [root]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네임노드에서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 err="1">
                <a:solidFill>
                  <a:prstClr val="white"/>
                </a:solidFill>
              </a:rPr>
              <a:t>Mysql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 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1581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ko-KR" altLang="en-US" b="1" dirty="0" smtClean="0">
                <a:solidFill>
                  <a:prstClr val="black"/>
                </a:solidFill>
              </a:rPr>
              <a:t>를 위한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r>
              <a:rPr lang="ko-KR" altLang="en-US" b="1" dirty="0" smtClean="0">
                <a:solidFill>
                  <a:prstClr val="black"/>
                </a:solidFill>
              </a:rPr>
              <a:t>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9593" y="1509464"/>
            <a:ext cx="8820980" cy="3226720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root@namenode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~]# 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mysqlshow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uhiveuser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phivepw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--host=namenode.hadoop.kr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Warning: Using a password on the command line interface can be insecure.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Database: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hivedb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+--------+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| Tables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+--------+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+--------+</a:t>
            </a:r>
          </a:p>
        </p:txBody>
      </p:sp>
      <p:sp>
        <p:nvSpPr>
          <p:cNvPr id="6" name="빗면 5"/>
          <p:cNvSpPr/>
          <p:nvPr/>
        </p:nvSpPr>
        <p:spPr>
          <a:xfrm>
            <a:off x="6897216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0415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그룹 82"/>
          <p:cNvGrpSpPr/>
          <p:nvPr/>
        </p:nvGrpSpPr>
        <p:grpSpPr>
          <a:xfrm>
            <a:off x="576515" y="4235395"/>
            <a:ext cx="2205998" cy="2250643"/>
            <a:chOff x="606084" y="1669625"/>
            <a:chExt cx="2205998" cy="2250643"/>
          </a:xfrm>
        </p:grpSpPr>
        <p:grpSp>
          <p:nvGrpSpPr>
            <p:cNvPr id="84" name="그룹 83"/>
            <p:cNvGrpSpPr/>
            <p:nvPr/>
          </p:nvGrpSpPr>
          <p:grpSpPr>
            <a:xfrm>
              <a:off x="606084" y="1669625"/>
              <a:ext cx="2205998" cy="2250643"/>
              <a:chOff x="606084" y="1669625"/>
              <a:chExt cx="2205998" cy="2250643"/>
            </a:xfrm>
          </p:grpSpPr>
          <p:grpSp>
            <p:nvGrpSpPr>
              <p:cNvPr id="87" name="그룹 86"/>
              <p:cNvGrpSpPr/>
              <p:nvPr/>
            </p:nvGrpSpPr>
            <p:grpSpPr>
              <a:xfrm>
                <a:off x="606084" y="1669625"/>
                <a:ext cx="2205998" cy="2250643"/>
                <a:chOff x="1678319" y="1787019"/>
                <a:chExt cx="3310685" cy="1681845"/>
              </a:xfrm>
            </p:grpSpPr>
            <p:sp>
              <p:nvSpPr>
                <p:cNvPr id="90" name="빗면 89"/>
                <p:cNvSpPr/>
                <p:nvPr/>
              </p:nvSpPr>
              <p:spPr>
                <a:xfrm>
                  <a:off x="1678319" y="2017012"/>
                  <a:ext cx="3310685" cy="1451852"/>
                </a:xfrm>
                <a:prstGeom prst="bevel">
                  <a:avLst>
                    <a:gd name="adj" fmla="val 3505"/>
                  </a:avLst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>
                  <a:off x="2401839" y="1787019"/>
                  <a:ext cx="1867329" cy="2299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/>
                    <a:t>[ client - N ]</a:t>
                  </a:r>
                </a:p>
              </p:txBody>
            </p:sp>
          </p:grpSp>
          <p:sp>
            <p:nvSpPr>
              <p:cNvPr id="89" name="원통 88"/>
              <p:cNvSpPr/>
              <p:nvPr/>
            </p:nvSpPr>
            <p:spPr>
              <a:xfrm>
                <a:off x="917217" y="3060293"/>
                <a:ext cx="1587511" cy="728747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/>
                  <a:t>Hive</a:t>
                </a:r>
              </a:p>
              <a:p>
                <a:pPr algn="ctr"/>
                <a:r>
                  <a:rPr lang="en-US" altLang="ko-KR" sz="1400" dirty="0" err="1" smtClean="0"/>
                  <a:t>MetaStore</a:t>
                </a:r>
                <a:endParaRPr lang="ko-KR" altLang="en-US" sz="1400" dirty="0"/>
              </a:p>
            </p:txBody>
          </p:sp>
        </p:grpSp>
        <p:cxnSp>
          <p:nvCxnSpPr>
            <p:cNvPr id="85" name="직선 화살표 연결선 84"/>
            <p:cNvCxnSpPr>
              <a:stCxn id="89" idx="0"/>
              <a:endCxn id="86" idx="2"/>
            </p:cNvCxnSpPr>
            <p:nvPr/>
          </p:nvCxnSpPr>
          <p:spPr>
            <a:xfrm flipH="1" flipV="1">
              <a:off x="1703960" y="2643714"/>
              <a:ext cx="7013" cy="598766"/>
            </a:xfrm>
            <a:prstGeom prst="straightConnector1">
              <a:avLst/>
            </a:prstGeom>
            <a:ln w="69850" cmpd="dbl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순서도: 종속 처리 85"/>
            <p:cNvSpPr/>
            <p:nvPr/>
          </p:nvSpPr>
          <p:spPr>
            <a:xfrm>
              <a:off x="857980" y="2182269"/>
              <a:ext cx="1691960" cy="461445"/>
            </a:xfrm>
            <a:prstGeom prst="flowChartPredefined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Hive</a:t>
              </a:r>
            </a:p>
            <a:p>
              <a:pPr algn="ctr"/>
              <a:r>
                <a:rPr lang="en-US" altLang="ko-KR" sz="1400" dirty="0" smtClean="0"/>
                <a:t>Driver</a:t>
              </a:r>
              <a:endParaRPr lang="ko-KR" altLang="en-US" sz="1400" dirty="0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606084" y="1484784"/>
            <a:ext cx="2205998" cy="2250643"/>
            <a:chOff x="606084" y="1669625"/>
            <a:chExt cx="2205998" cy="2250643"/>
          </a:xfrm>
        </p:grpSpPr>
        <p:grpSp>
          <p:nvGrpSpPr>
            <p:cNvPr id="27" name="그룹 26"/>
            <p:cNvGrpSpPr/>
            <p:nvPr/>
          </p:nvGrpSpPr>
          <p:grpSpPr>
            <a:xfrm>
              <a:off x="606084" y="1669625"/>
              <a:ext cx="2205998" cy="2250643"/>
              <a:chOff x="606084" y="1669625"/>
              <a:chExt cx="2205998" cy="2250643"/>
            </a:xfrm>
          </p:grpSpPr>
          <p:grpSp>
            <p:nvGrpSpPr>
              <p:cNvPr id="26" name="그룹 25"/>
              <p:cNvGrpSpPr/>
              <p:nvPr/>
            </p:nvGrpSpPr>
            <p:grpSpPr>
              <a:xfrm>
                <a:off x="606084" y="1669625"/>
                <a:ext cx="2205998" cy="2250643"/>
                <a:chOff x="1678319" y="1787019"/>
                <a:chExt cx="3310685" cy="1681845"/>
              </a:xfrm>
            </p:grpSpPr>
            <p:sp>
              <p:nvSpPr>
                <p:cNvPr id="28" name="빗면 27"/>
                <p:cNvSpPr/>
                <p:nvPr/>
              </p:nvSpPr>
              <p:spPr>
                <a:xfrm>
                  <a:off x="1678319" y="2017012"/>
                  <a:ext cx="3310685" cy="1451852"/>
                </a:xfrm>
                <a:prstGeom prst="bevel">
                  <a:avLst>
                    <a:gd name="adj" fmla="val 3505"/>
                  </a:avLst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2430708" y="1787019"/>
                  <a:ext cx="1809590" cy="2299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400" b="1" dirty="0" smtClean="0"/>
                    <a:t>[ client - 1 ]</a:t>
                  </a:r>
                </a:p>
              </p:txBody>
            </p:sp>
          </p:grpSp>
          <p:sp>
            <p:nvSpPr>
              <p:cNvPr id="55" name="원통 54"/>
              <p:cNvSpPr/>
              <p:nvPr/>
            </p:nvSpPr>
            <p:spPr>
              <a:xfrm>
                <a:off x="917217" y="3060293"/>
                <a:ext cx="1587511" cy="728747"/>
              </a:xfrm>
              <a:prstGeom prst="can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/>
                  <a:t>Hive</a:t>
                </a:r>
              </a:p>
              <a:p>
                <a:pPr algn="ctr"/>
                <a:r>
                  <a:rPr lang="en-US" altLang="ko-KR" sz="1400" dirty="0" err="1" smtClean="0"/>
                  <a:t>MetaStore</a:t>
                </a:r>
                <a:endParaRPr lang="ko-KR" altLang="en-US" sz="1400" dirty="0"/>
              </a:p>
            </p:txBody>
          </p:sp>
        </p:grpSp>
        <p:cxnSp>
          <p:nvCxnSpPr>
            <p:cNvPr id="56" name="직선 화살표 연결선 55"/>
            <p:cNvCxnSpPr>
              <a:stCxn id="55" idx="0"/>
              <a:endCxn id="79" idx="2"/>
            </p:cNvCxnSpPr>
            <p:nvPr/>
          </p:nvCxnSpPr>
          <p:spPr>
            <a:xfrm flipH="1" flipV="1">
              <a:off x="1703960" y="2643714"/>
              <a:ext cx="7013" cy="598766"/>
            </a:xfrm>
            <a:prstGeom prst="straightConnector1">
              <a:avLst/>
            </a:prstGeom>
            <a:ln w="69850" cmpd="dbl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순서도: 종속 처리 78"/>
            <p:cNvSpPr/>
            <p:nvPr/>
          </p:nvSpPr>
          <p:spPr>
            <a:xfrm>
              <a:off x="857980" y="2182269"/>
              <a:ext cx="1691960" cy="461445"/>
            </a:xfrm>
            <a:prstGeom prst="flowChartPredefinedProcess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Hive</a:t>
              </a:r>
            </a:p>
            <a:p>
              <a:pPr algn="ctr"/>
              <a:r>
                <a:rPr lang="en-US" altLang="ko-KR" sz="1400" dirty="0" smtClean="0"/>
                <a:t>Driver</a:t>
              </a:r>
              <a:endParaRPr lang="ko-KR" altLang="en-US" sz="1400" dirty="0"/>
            </a:p>
          </p:txBody>
        </p:sp>
      </p:grp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82522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ko-KR" altLang="en-US" b="1" dirty="0" smtClean="0">
                <a:solidFill>
                  <a:prstClr val="black"/>
                </a:solidFill>
              </a:rPr>
              <a:t>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069124" y="3973785"/>
            <a:ext cx="3132348" cy="2780901"/>
            <a:chOff x="5241032" y="1388089"/>
            <a:chExt cx="3132348" cy="2780901"/>
          </a:xfrm>
        </p:grpSpPr>
        <p:sp>
          <p:nvSpPr>
            <p:cNvPr id="31" name="빗면 30"/>
            <p:cNvSpPr/>
            <p:nvPr/>
          </p:nvSpPr>
          <p:spPr>
            <a:xfrm>
              <a:off x="5241032" y="1916832"/>
              <a:ext cx="3132348" cy="1117287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3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빗면 31"/>
            <p:cNvSpPr/>
            <p:nvPr/>
          </p:nvSpPr>
          <p:spPr>
            <a:xfrm>
              <a:off x="5241032" y="3034120"/>
              <a:ext cx="3132348" cy="1134870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1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6076" y="1388089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[ 3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secondnode ]</a:t>
              </a:r>
            </a:p>
            <a:p>
              <a:pPr algn="ctr"/>
              <a:r>
                <a:rPr lang="en-US" altLang="ko-KR" sz="1400" b="1"/>
                <a:t>enp0s8 </a:t>
              </a:r>
              <a:r>
                <a:rPr lang="en-US" altLang="ko-KR" sz="1400" b="1" smtClean="0"/>
                <a:t>192.168.56.41</a:t>
              </a:r>
              <a:endParaRPr lang="ko-KR" altLang="en-US" sz="1400" b="1"/>
            </a:p>
          </p:txBody>
        </p:sp>
        <p:sp>
          <p:nvSpPr>
            <p:cNvPr id="34" name="원통 33"/>
            <p:cNvSpPr/>
            <p:nvPr/>
          </p:nvSpPr>
          <p:spPr>
            <a:xfrm>
              <a:off x="5518357" y="2050882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Secondary</a:t>
              </a:r>
            </a:p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6" name="원통 35"/>
            <p:cNvSpPr/>
            <p:nvPr/>
          </p:nvSpPr>
          <p:spPr>
            <a:xfrm>
              <a:off x="5518357" y="3160878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45928" y="2720346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secondnode.hadoop.kr</a:t>
              </a:r>
              <a:endParaRPr lang="ko-KR" altLang="en-US" sz="140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49404" y="3844954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datanode2.hadoop.kr</a:t>
              </a:r>
              <a:endParaRPr lang="ko-KR" altLang="en-US" sz="1400"/>
            </a:p>
          </p:txBody>
        </p:sp>
        <p:sp>
          <p:nvSpPr>
            <p:cNvPr id="8" name="오각형 7"/>
            <p:cNvSpPr/>
            <p:nvPr/>
          </p:nvSpPr>
          <p:spPr>
            <a:xfrm>
              <a:off x="6944063" y="2067534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Resource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41" name="오각형 40"/>
            <p:cNvSpPr/>
            <p:nvPr/>
          </p:nvSpPr>
          <p:spPr>
            <a:xfrm>
              <a:off x="6944063" y="3160878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065503" y="1051572"/>
            <a:ext cx="3135969" cy="2828223"/>
            <a:chOff x="1678319" y="1340768"/>
            <a:chExt cx="3310685" cy="2828223"/>
          </a:xfrm>
        </p:grpSpPr>
        <p:sp>
          <p:nvSpPr>
            <p:cNvPr id="25" name="빗면 24"/>
            <p:cNvSpPr/>
            <p:nvPr/>
          </p:nvSpPr>
          <p:spPr>
            <a:xfrm>
              <a:off x="1678319" y="1916832"/>
              <a:ext cx="3310685" cy="1117287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>
                  <a:shade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빗면 29"/>
            <p:cNvSpPr/>
            <p:nvPr/>
          </p:nvSpPr>
          <p:spPr>
            <a:xfrm>
              <a:off x="1678319" y="3032957"/>
              <a:ext cx="3310685" cy="1136034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1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26866" y="1340768"/>
              <a:ext cx="2217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[ 2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namenode ]</a:t>
              </a:r>
            </a:p>
            <a:p>
              <a:pPr algn="ctr"/>
              <a:r>
                <a:rPr lang="en-US" altLang="ko-KR" sz="1400" b="1" smtClean="0"/>
                <a:t>enp0s8 192.168.56.31</a:t>
              </a:r>
              <a:endParaRPr lang="ko-KR" altLang="en-US" sz="1400" b="1"/>
            </a:p>
          </p:txBody>
        </p:sp>
        <p:sp>
          <p:nvSpPr>
            <p:cNvPr id="4" name="원통 3"/>
            <p:cNvSpPr/>
            <p:nvPr/>
          </p:nvSpPr>
          <p:spPr>
            <a:xfrm>
              <a:off x="1882129" y="2024844"/>
              <a:ext cx="1172455" cy="58342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5" name="원통 34"/>
            <p:cNvSpPr/>
            <p:nvPr/>
          </p:nvSpPr>
          <p:spPr>
            <a:xfrm>
              <a:off x="1882130" y="3128109"/>
              <a:ext cx="1172454" cy="588618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249140" y="2708920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namenode.hadoop.kr</a:t>
              </a:r>
              <a:endParaRPr lang="ko-KR" altLang="en-US" sz="140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226867" y="3813068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datanode1.hadoop.kr</a:t>
              </a:r>
              <a:endParaRPr lang="ko-KR" altLang="en-US" sz="1400"/>
            </a:p>
          </p:txBody>
        </p:sp>
        <p:sp>
          <p:nvSpPr>
            <p:cNvPr id="40" name="오각형 39"/>
            <p:cNvSpPr/>
            <p:nvPr/>
          </p:nvSpPr>
          <p:spPr>
            <a:xfrm>
              <a:off x="3435566" y="3150452"/>
              <a:ext cx="1172455" cy="577682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5853100" y="1051572"/>
            <a:ext cx="3539222" cy="285868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5853100" y="4008629"/>
            <a:ext cx="3539222" cy="274605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422253" y="1428720"/>
            <a:ext cx="2514523" cy="510620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/>
          <p:cNvCxnSpPr>
            <a:stCxn id="79" idx="3"/>
            <a:endCxn id="8" idx="1"/>
          </p:cNvCxnSpPr>
          <p:nvPr/>
        </p:nvCxnSpPr>
        <p:spPr>
          <a:xfrm>
            <a:off x="2549940" y="2228151"/>
            <a:ext cx="5222215" cy="2689283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원통 66"/>
          <p:cNvSpPr/>
          <p:nvPr/>
        </p:nvSpPr>
        <p:spPr>
          <a:xfrm>
            <a:off x="7732319" y="1735648"/>
            <a:ext cx="1110581" cy="583420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Mysql</a:t>
            </a:r>
            <a:r>
              <a:rPr lang="en-US" altLang="ko-KR" sz="1400" dirty="0" smtClean="0"/>
              <a:t> DB</a:t>
            </a:r>
            <a:endParaRPr lang="ko-KR" altLang="en-US" sz="1400" dirty="0"/>
          </a:p>
        </p:txBody>
      </p:sp>
      <p:cxnSp>
        <p:nvCxnSpPr>
          <p:cNvPr id="72" name="직선 화살표 연결선 71"/>
          <p:cNvCxnSpPr>
            <a:stCxn id="55" idx="4"/>
            <a:endCxn id="67" idx="2"/>
          </p:cNvCxnSpPr>
          <p:nvPr/>
        </p:nvCxnSpPr>
        <p:spPr>
          <a:xfrm flipV="1">
            <a:off x="2504728" y="2027358"/>
            <a:ext cx="5227591" cy="1212468"/>
          </a:xfrm>
          <a:prstGeom prst="straightConnector1">
            <a:avLst/>
          </a:prstGeom>
          <a:ln w="69850" cmpd="dbl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89" idx="4"/>
            <a:endCxn id="67" idx="2"/>
          </p:cNvCxnSpPr>
          <p:nvPr/>
        </p:nvCxnSpPr>
        <p:spPr>
          <a:xfrm flipV="1">
            <a:off x="2475159" y="2027358"/>
            <a:ext cx="5257160" cy="3963079"/>
          </a:xfrm>
          <a:prstGeom prst="straightConnector1">
            <a:avLst/>
          </a:prstGeom>
          <a:ln w="69850" cmpd="dbl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stCxn id="86" idx="3"/>
            <a:endCxn id="8" idx="1"/>
          </p:cNvCxnSpPr>
          <p:nvPr/>
        </p:nvCxnSpPr>
        <p:spPr>
          <a:xfrm flipV="1">
            <a:off x="2520371" y="4917434"/>
            <a:ext cx="5251784" cy="61328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stCxn id="79" idx="3"/>
            <a:endCxn id="4" idx="2"/>
          </p:cNvCxnSpPr>
          <p:nvPr/>
        </p:nvCxnSpPr>
        <p:spPr>
          <a:xfrm flipV="1">
            <a:off x="2549940" y="2027358"/>
            <a:ext cx="3708617" cy="200793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86" idx="3"/>
            <a:endCxn id="4" idx="2"/>
          </p:cNvCxnSpPr>
          <p:nvPr/>
        </p:nvCxnSpPr>
        <p:spPr>
          <a:xfrm flipV="1">
            <a:off x="2520371" y="2027358"/>
            <a:ext cx="3738186" cy="2951404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구름 모양 설명선 99"/>
          <p:cNvSpPr/>
          <p:nvPr/>
        </p:nvSpPr>
        <p:spPr>
          <a:xfrm>
            <a:off x="2936775" y="224644"/>
            <a:ext cx="3321783" cy="1567916"/>
          </a:xfrm>
          <a:prstGeom prst="cloudCallout">
            <a:avLst>
              <a:gd name="adj1" fmla="val -49818"/>
              <a:gd name="adj2" fmla="val 6786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파일 및 설정은</a:t>
            </a:r>
            <a:endParaRPr lang="en-US" altLang="ko-KR" sz="1600" b="1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클라이언트에서만</a:t>
            </a: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396030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3. Hive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825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</a:t>
            </a:r>
            <a:r>
              <a:rPr lang="ko-KR" altLang="en-US" b="1" dirty="0" smtClean="0">
                <a:solidFill>
                  <a:prstClr val="black"/>
                </a:solidFill>
              </a:rPr>
              <a:t>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15925" y="3392996"/>
            <a:ext cx="9027278" cy="24311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관련 파일 확인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이미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타르볼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파일을 풀고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심벌릭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링크 생성함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apache-hive-1.2.1-bin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mysql-connector-java-5.1.23-bin.jar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디렉터리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home/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/hive/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파일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 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hive-site.xml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15925" y="1336691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Putty.exe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(hd1-client)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: 192.168.56.21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로그인 아이디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700935" y="4193978"/>
            <a:ext cx="3428778" cy="204333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</a:t>
            </a:r>
            <a:r>
              <a:rPr lang="ko-KR" altLang="en-US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897216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2859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3. Hive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71843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ko-KR" altLang="en-US" b="1" dirty="0" smtClean="0">
                <a:solidFill>
                  <a:prstClr val="black"/>
                </a:solidFill>
              </a:rPr>
              <a:t>클라이언트 </a:t>
            </a:r>
            <a:r>
              <a:rPr lang="ko-KR" altLang="en-US" b="1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45516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Hive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관련 파일 확인 및 설정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다운로드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www.db21.co.kr/big/hive-1.2.1-cluster.xml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설정파일을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디렉토리로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복사하기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hive-1.2.1-cluster.xml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hive/</a:t>
            </a:r>
            <a:r>
              <a:rPr lang="en-US" altLang="ko-KR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/hive-site.xml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FF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grep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'3306'     hive/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/hive-site.xml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grep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'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hiveuser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hive/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/hive-site.xml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grep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'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hivepw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hive/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/hive-site.xml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Hive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위한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Jdbc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Connector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mysql*.jar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hive/lib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빗면 4"/>
          <p:cNvSpPr/>
          <p:nvPr/>
        </p:nvSpPr>
        <p:spPr>
          <a:xfrm>
            <a:off x="6897216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674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3. Hive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71843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ko-KR" altLang="en-US" b="1" dirty="0" smtClean="0">
                <a:solidFill>
                  <a:prstClr val="black"/>
                </a:solidFill>
              </a:rPr>
              <a:t>클라이언트 </a:t>
            </a:r>
            <a:r>
              <a:rPr lang="ko-KR" altLang="en-US" b="1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9593" y="1509464"/>
            <a:ext cx="8820980" cy="513647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ll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합계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1176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drwxrwxr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-x.  8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159  5</a:t>
            </a:r>
            <a:r>
              <a:rPr lang="ko-KR" altLang="en-US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31 16:34 apache-hive-1.2.1-bin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lrwxrwxrwx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.  1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21  5</a:t>
            </a:r>
            <a:r>
              <a:rPr lang="ko-KR" altLang="en-US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31 16:34 hive -&gt; apache-hive-1.2.1-bin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-r--.  1 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168418  7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3 11:39 hive-1.2.1-site.xml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1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-r--.  1 </a:t>
            </a:r>
            <a:r>
              <a:rPr lang="en-US" altLang="ko-KR" sz="11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843090  3</a:t>
            </a:r>
            <a:r>
              <a:rPr lang="ko-KR" alt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24  2013 mysql-connector-java-5.1.23-bin.jar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....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www.db21.co.kr/big/hive-1.2.1-cluster.xml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....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....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   hive-1.2.1-cluster.xml    hive/</a:t>
            </a:r>
            <a:r>
              <a:rPr lang="en-US" altLang="ko-KR" sz="1400" b="1" dirty="0" err="1" smtClean="0"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/hive-site.xml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grep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'3306'     hive/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/hive-site.xml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   &lt;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value&gt;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jdbc:mysql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://namenode.hadoop.kr:3306/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?createDatabaseIfNotExist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=true&lt;/value&gt;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grep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'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hiveuser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' hive/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/hive-site.xml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   &lt;value&gt;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hiveuser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grep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'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hivepw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'   hive/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/hive-site.xml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   &lt;value&gt;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hivepw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&lt;/value&gt;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 mysql*.jar  hive/lib/</a:t>
            </a:r>
          </a:p>
        </p:txBody>
      </p:sp>
      <p:sp>
        <p:nvSpPr>
          <p:cNvPr id="5" name="빗면 4"/>
          <p:cNvSpPr/>
          <p:nvPr/>
        </p:nvSpPr>
        <p:spPr>
          <a:xfrm>
            <a:off x="6897216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0539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200" b="1" dirty="0">
                <a:solidFill>
                  <a:prstClr val="white"/>
                </a:solidFill>
              </a:rPr>
              <a:t>3. Hive </a:t>
            </a:r>
            <a:r>
              <a:rPr kumimoji="0" lang="ko-KR" altLang="en-US" sz="3200" b="1" dirty="0">
                <a:solidFill>
                  <a:prstClr val="white"/>
                </a:solidFill>
              </a:rPr>
              <a:t>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332433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dirty="0" smtClean="0">
                <a:solidFill>
                  <a:prstClr val="black"/>
                </a:solidFill>
              </a:rPr>
              <a:t>주요 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Hive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 설정 속성</a:t>
            </a:r>
            <a:endParaRPr lang="ko-KR" altLang="en-US" sz="1600" b="1" dirty="0">
              <a:solidFill>
                <a:prstClr val="black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94449"/>
              </p:ext>
            </p:extLst>
          </p:nvPr>
        </p:nvGraphicFramePr>
        <p:xfrm>
          <a:off x="560761" y="1732195"/>
          <a:ext cx="8568952" cy="2632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39"/>
                <a:gridCol w="2880320"/>
                <a:gridCol w="3096593"/>
              </a:tblGrid>
              <a:tr h="496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맑은 고딕" pitchFamily="50" charset="-127"/>
                          <a:ea typeface="맑은 고딕" pitchFamily="50" charset="-127"/>
                        </a:rPr>
                        <a:t>파일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맑은 고딕" pitchFamily="50" charset="-127"/>
                          <a:ea typeface="맑은 고딕" pitchFamily="50" charset="-127"/>
                        </a:rPr>
                        <a:t>속성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맑은 고딕" pitchFamily="50" charset="-127"/>
                          <a:ea typeface="맑은 고딕" pitchFamily="50" charset="-127"/>
                        </a:rPr>
                        <a:t>값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49604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/home/</a:t>
                      </a:r>
                      <a:r>
                        <a:rPr lang="en-US" altLang="ko-KR" sz="1600" b="1" dirty="0" err="1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hadoop</a:t>
                      </a:r>
                      <a:r>
                        <a:rPr lang="en-US" altLang="ko-KR" sz="1600" b="1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/hive/</a:t>
                      </a:r>
                    </a:p>
                    <a:p>
                      <a:pPr algn="ctr" latinLnBrk="1"/>
                      <a:r>
                        <a:rPr lang="en-US" altLang="ko-KR" sz="1600" b="1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</a:t>
                      </a:r>
                      <a:r>
                        <a:rPr lang="en-US" altLang="ko-KR" sz="1600" b="1" dirty="0" smtClean="0">
                          <a:solidFill>
                            <a:srgbClr val="7030A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/hive-site.xml</a:t>
                      </a:r>
                      <a:endParaRPr lang="ko-KR" altLang="en-US" sz="1600" b="1" dirty="0">
                        <a:solidFill>
                          <a:srgbClr val="7030A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Mysql</a:t>
                      </a:r>
                      <a:r>
                        <a:rPr lang="en-US" altLang="ko-KR" sz="16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 Hostname</a:t>
                      </a:r>
                      <a:r>
                        <a:rPr lang="en-US" altLang="ko-KR" sz="16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Port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namenode.hadoop.kr:3306</a:t>
                      </a:r>
                    </a:p>
                  </a:txBody>
                  <a:tcPr anchor="ctr"/>
                </a:tc>
              </a:tr>
              <a:tr h="4960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Mysql</a:t>
                      </a:r>
                      <a:r>
                        <a:rPr lang="en-US" altLang="ko-KR" sz="16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 Database</a:t>
                      </a:r>
                      <a:r>
                        <a:rPr lang="en-US" altLang="ko-KR" sz="16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Name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hivedb</a:t>
                      </a:r>
                      <a:endParaRPr lang="en-US" altLang="ko-KR" sz="16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4960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Mysql</a:t>
                      </a:r>
                      <a:r>
                        <a:rPr lang="en-US" altLang="ko-KR" sz="16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</a:t>
                      </a:r>
                      <a:r>
                        <a:rPr lang="en-US" altLang="ko-KR" sz="16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User Name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hiveuser</a:t>
                      </a:r>
                      <a:endParaRPr lang="en-US" altLang="ko-KR" sz="16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487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Mysql</a:t>
                      </a:r>
                      <a:r>
                        <a:rPr lang="en-US" altLang="ko-KR" sz="16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 User Password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aseline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hivepw</a:t>
                      </a:r>
                      <a:endParaRPr lang="en-US" altLang="ko-KR" sz="16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가로로 말린 두루마리 모양 5"/>
          <p:cNvSpPr/>
          <p:nvPr/>
        </p:nvSpPr>
        <p:spPr>
          <a:xfrm>
            <a:off x="1892374" y="4581128"/>
            <a:ext cx="5760889" cy="204333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en-US" altLang="ko-KR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MetaStore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JDBC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드라이버가 반드시 필요함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algn="ctr" latinLnBrk="0">
              <a:spcBef>
                <a:spcPct val="30000"/>
              </a:spcBef>
              <a:buFont typeface="Symbol"/>
              <a:buChar char="Þ"/>
            </a:pP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7030A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/home/</a:t>
            </a:r>
            <a:r>
              <a:rPr lang="en-US" altLang="ko-KR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7030A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7030A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/hive/lib/ </a:t>
            </a:r>
            <a:r>
              <a:rPr lang="ko-KR" altLang="en-US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디렉토리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밑에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mysql-connector-java-5.1.23-bin.jar</a:t>
            </a:r>
            <a:endParaRPr lang="ko-KR" altLang="en-US" sz="20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585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# Hive </a:t>
            </a:r>
            <a:r>
              <a:rPr kumimoji="0" lang="ko-KR" altLang="en-US" sz="3000" b="1" dirty="0" smtClean="0">
                <a:solidFill>
                  <a:prstClr val="white"/>
                </a:solidFill>
              </a:rPr>
              <a:t>실행 아키텍처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8464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YARN </a:t>
            </a:r>
            <a:r>
              <a:rPr lang="ko-KR" altLang="en-US" b="1" smtClean="0">
                <a:solidFill>
                  <a:prstClr val="black"/>
                </a:solidFill>
              </a:rPr>
              <a:t>클러스터 매니저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069124" y="3973785"/>
            <a:ext cx="3132348" cy="2780901"/>
            <a:chOff x="5241032" y="1388089"/>
            <a:chExt cx="3132348" cy="2780901"/>
          </a:xfrm>
        </p:grpSpPr>
        <p:sp>
          <p:nvSpPr>
            <p:cNvPr id="31" name="빗면 30"/>
            <p:cNvSpPr/>
            <p:nvPr/>
          </p:nvSpPr>
          <p:spPr>
            <a:xfrm>
              <a:off x="5241032" y="1916832"/>
              <a:ext cx="3132348" cy="1117287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3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빗면 31"/>
            <p:cNvSpPr/>
            <p:nvPr/>
          </p:nvSpPr>
          <p:spPr>
            <a:xfrm>
              <a:off x="5241032" y="3034120"/>
              <a:ext cx="3132348" cy="1134870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1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6076" y="1388089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[ 3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secondnode ]</a:t>
              </a:r>
            </a:p>
            <a:p>
              <a:pPr algn="ctr"/>
              <a:r>
                <a:rPr lang="en-US" altLang="ko-KR" sz="1400" b="1"/>
                <a:t>enp0s8 </a:t>
              </a:r>
              <a:r>
                <a:rPr lang="en-US" altLang="ko-KR" sz="1400" b="1" smtClean="0"/>
                <a:t>192.168.56.41</a:t>
              </a:r>
              <a:endParaRPr lang="ko-KR" altLang="en-US" sz="1400" b="1"/>
            </a:p>
          </p:txBody>
        </p:sp>
        <p:sp>
          <p:nvSpPr>
            <p:cNvPr id="34" name="원통 33"/>
            <p:cNvSpPr/>
            <p:nvPr/>
          </p:nvSpPr>
          <p:spPr>
            <a:xfrm>
              <a:off x="5518357" y="2050882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Secondary</a:t>
              </a:r>
            </a:p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6" name="원통 35"/>
            <p:cNvSpPr/>
            <p:nvPr/>
          </p:nvSpPr>
          <p:spPr>
            <a:xfrm>
              <a:off x="5518357" y="3160878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45928" y="2720346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secondnode.hadoop.kr</a:t>
              </a:r>
              <a:endParaRPr lang="ko-KR" altLang="en-US" sz="140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49404" y="3844954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datanode2.hadoop.kr</a:t>
              </a:r>
              <a:endParaRPr lang="ko-KR" altLang="en-US" sz="1400"/>
            </a:p>
          </p:txBody>
        </p:sp>
        <p:sp>
          <p:nvSpPr>
            <p:cNvPr id="8" name="오각형 7"/>
            <p:cNvSpPr/>
            <p:nvPr/>
          </p:nvSpPr>
          <p:spPr>
            <a:xfrm>
              <a:off x="6944063" y="2067534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Resource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41" name="오각형 40"/>
            <p:cNvSpPr/>
            <p:nvPr/>
          </p:nvSpPr>
          <p:spPr>
            <a:xfrm>
              <a:off x="6944063" y="3160878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065503" y="1051572"/>
            <a:ext cx="3135969" cy="2828223"/>
            <a:chOff x="1678319" y="1340768"/>
            <a:chExt cx="3310685" cy="2828223"/>
          </a:xfrm>
        </p:grpSpPr>
        <p:sp>
          <p:nvSpPr>
            <p:cNvPr id="25" name="빗면 24"/>
            <p:cNvSpPr/>
            <p:nvPr/>
          </p:nvSpPr>
          <p:spPr>
            <a:xfrm>
              <a:off x="1678319" y="1916832"/>
              <a:ext cx="3310685" cy="1117287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>
                  <a:shade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빗면 29"/>
            <p:cNvSpPr/>
            <p:nvPr/>
          </p:nvSpPr>
          <p:spPr>
            <a:xfrm>
              <a:off x="1678319" y="3032957"/>
              <a:ext cx="3310685" cy="1136034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1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26866" y="1340768"/>
              <a:ext cx="2217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[ 2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namenode ]</a:t>
              </a:r>
            </a:p>
            <a:p>
              <a:pPr algn="ctr"/>
              <a:r>
                <a:rPr lang="en-US" altLang="ko-KR" sz="1400" b="1" smtClean="0"/>
                <a:t>enp0s8 192.168.56.31</a:t>
              </a:r>
              <a:endParaRPr lang="ko-KR" altLang="en-US" sz="1400" b="1"/>
            </a:p>
          </p:txBody>
        </p:sp>
        <p:sp>
          <p:nvSpPr>
            <p:cNvPr id="4" name="원통 3"/>
            <p:cNvSpPr/>
            <p:nvPr/>
          </p:nvSpPr>
          <p:spPr>
            <a:xfrm>
              <a:off x="1882129" y="2024844"/>
              <a:ext cx="1172455" cy="58342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5" name="원통 34"/>
            <p:cNvSpPr/>
            <p:nvPr/>
          </p:nvSpPr>
          <p:spPr>
            <a:xfrm>
              <a:off x="1882130" y="3128109"/>
              <a:ext cx="1172454" cy="588618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249140" y="2708920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namenode.hadoop.kr</a:t>
              </a:r>
              <a:endParaRPr lang="ko-KR" altLang="en-US" sz="140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226867" y="3813068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datanode1.hadoop.kr</a:t>
              </a:r>
              <a:endParaRPr lang="ko-KR" altLang="en-US" sz="1400"/>
            </a:p>
          </p:txBody>
        </p:sp>
        <p:sp>
          <p:nvSpPr>
            <p:cNvPr id="40" name="오각형 39"/>
            <p:cNvSpPr/>
            <p:nvPr/>
          </p:nvSpPr>
          <p:spPr>
            <a:xfrm>
              <a:off x="3435566" y="3150452"/>
              <a:ext cx="1172455" cy="577682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96516" y="1592796"/>
            <a:ext cx="2205998" cy="2377428"/>
            <a:chOff x="1678319" y="1692276"/>
            <a:chExt cx="3310685" cy="1776588"/>
          </a:xfrm>
        </p:grpSpPr>
        <p:sp>
          <p:nvSpPr>
            <p:cNvPr id="28" name="빗면 27"/>
            <p:cNvSpPr/>
            <p:nvPr/>
          </p:nvSpPr>
          <p:spPr>
            <a:xfrm>
              <a:off x="1678319" y="2288681"/>
              <a:ext cx="3310685" cy="1180183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15032" y="1692276"/>
              <a:ext cx="2040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[ 1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client ]</a:t>
              </a:r>
            </a:p>
            <a:p>
              <a:pPr algn="ctr"/>
              <a:r>
                <a:rPr lang="en-US" altLang="ko-KR" sz="1400" b="1" smtClean="0"/>
                <a:t>enp0s8 192.168.56.21</a:t>
              </a:r>
              <a:endParaRPr lang="ko-KR" altLang="en-US" sz="1400" b="1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287168" y="3140403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client.hadoop.kr</a:t>
              </a:r>
              <a:endParaRPr lang="ko-KR" altLang="en-US" sz="1400"/>
            </a:p>
          </p:txBody>
        </p:sp>
      </p:grpSp>
      <p:sp>
        <p:nvSpPr>
          <p:cNvPr id="49" name="줄무늬가 있는 오른쪽 화살표 48"/>
          <p:cNvSpPr/>
          <p:nvPr/>
        </p:nvSpPr>
        <p:spPr>
          <a:xfrm>
            <a:off x="770697" y="2492109"/>
            <a:ext cx="1857636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Hive CLI</a:t>
            </a:r>
          </a:p>
          <a:p>
            <a:pPr algn="ctr"/>
            <a:r>
              <a:rPr lang="en-US" altLang="ko-KR" sz="1400" dirty="0" smtClean="0"/>
              <a:t>$ hive</a:t>
            </a:r>
            <a:endParaRPr lang="ko-KR" altLang="en-US" sz="1400" dirty="0"/>
          </a:p>
        </p:txBody>
      </p:sp>
      <p:sp>
        <p:nvSpPr>
          <p:cNvPr id="2" name="순서도: 종속 처리 1"/>
          <p:cNvSpPr/>
          <p:nvPr/>
        </p:nvSpPr>
        <p:spPr>
          <a:xfrm>
            <a:off x="800649" y="4224929"/>
            <a:ext cx="1800306" cy="836242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Hive</a:t>
            </a:r>
          </a:p>
          <a:p>
            <a:pPr algn="ctr"/>
            <a:r>
              <a:rPr lang="en-US" altLang="ko-KR" dirty="0" smtClean="0"/>
              <a:t>Driver</a:t>
            </a:r>
            <a:endParaRPr lang="ko-KR" altLang="en-US" dirty="0"/>
          </a:p>
        </p:txBody>
      </p:sp>
      <p:sp>
        <p:nvSpPr>
          <p:cNvPr id="42" name="순서도: 종속 처리 41"/>
          <p:cNvSpPr/>
          <p:nvPr/>
        </p:nvSpPr>
        <p:spPr>
          <a:xfrm>
            <a:off x="3728811" y="3133222"/>
            <a:ext cx="1800306" cy="618650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Hive</a:t>
            </a:r>
          </a:p>
          <a:p>
            <a:pPr algn="ctr"/>
            <a:r>
              <a:rPr lang="en-US" altLang="ko-KR" dirty="0" smtClean="0"/>
              <a:t>Child</a:t>
            </a:r>
            <a:endParaRPr lang="ko-KR" altLang="en-US" dirty="0"/>
          </a:p>
        </p:txBody>
      </p:sp>
      <p:sp>
        <p:nvSpPr>
          <p:cNvPr id="43" name="순서도: 종속 처리 42"/>
          <p:cNvSpPr/>
          <p:nvPr/>
        </p:nvSpPr>
        <p:spPr>
          <a:xfrm>
            <a:off x="3700572" y="5410318"/>
            <a:ext cx="1800306" cy="621851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Hive</a:t>
            </a:r>
          </a:p>
          <a:p>
            <a:pPr algn="ctr"/>
            <a:r>
              <a:rPr lang="en-US" altLang="ko-KR" dirty="0" smtClean="0"/>
              <a:t>Child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481705" y="1051572"/>
            <a:ext cx="5910617" cy="285868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454327" y="4008629"/>
            <a:ext cx="5937995" cy="274605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422253" y="1428720"/>
            <a:ext cx="2514523" cy="510620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화살표 연결선 50"/>
          <p:cNvCxnSpPr>
            <a:endCxn id="2" idx="0"/>
          </p:cNvCxnSpPr>
          <p:nvPr/>
        </p:nvCxnSpPr>
        <p:spPr>
          <a:xfrm>
            <a:off x="1654021" y="3140968"/>
            <a:ext cx="46781" cy="1083961"/>
          </a:xfrm>
          <a:prstGeom prst="straightConnector1">
            <a:avLst/>
          </a:prstGeom>
          <a:ln w="69850" cmpd="dbl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40" idx="1"/>
            <a:endCxn id="42" idx="3"/>
          </p:cNvCxnSpPr>
          <p:nvPr/>
        </p:nvCxnSpPr>
        <p:spPr>
          <a:xfrm flipH="1">
            <a:off x="5529117" y="3150097"/>
            <a:ext cx="2200897" cy="292450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41" idx="1"/>
            <a:endCxn id="43" idx="3"/>
          </p:cNvCxnSpPr>
          <p:nvPr/>
        </p:nvCxnSpPr>
        <p:spPr>
          <a:xfrm flipH="1" flipV="1">
            <a:off x="5500878" y="5721244"/>
            <a:ext cx="2271277" cy="289534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순서도: 종속 처리 87"/>
          <p:cNvSpPr/>
          <p:nvPr/>
        </p:nvSpPr>
        <p:spPr>
          <a:xfrm>
            <a:off x="3785900" y="1460400"/>
            <a:ext cx="1800306" cy="858668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Hive</a:t>
            </a:r>
          </a:p>
          <a:p>
            <a:pPr algn="ctr"/>
            <a:r>
              <a:rPr lang="en-US" altLang="ko-KR" dirty="0" err="1" smtClean="0"/>
              <a:t>MRApp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Master</a:t>
            </a:r>
            <a:endParaRPr lang="ko-KR" altLang="en-US" dirty="0"/>
          </a:p>
        </p:txBody>
      </p:sp>
      <p:cxnSp>
        <p:nvCxnSpPr>
          <p:cNvPr id="92" name="직선 화살표 연결선 91"/>
          <p:cNvCxnSpPr>
            <a:stCxn id="8" idx="1"/>
            <a:endCxn id="88" idx="3"/>
          </p:cNvCxnSpPr>
          <p:nvPr/>
        </p:nvCxnSpPr>
        <p:spPr>
          <a:xfrm flipH="1" flipV="1">
            <a:off x="5586206" y="1889734"/>
            <a:ext cx="2185949" cy="3027700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2" idx="3"/>
            <a:endCxn id="88" idx="1"/>
          </p:cNvCxnSpPr>
          <p:nvPr/>
        </p:nvCxnSpPr>
        <p:spPr>
          <a:xfrm flipV="1">
            <a:off x="2600955" y="1889734"/>
            <a:ext cx="1184945" cy="2753316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2" idx="3"/>
            <a:endCxn id="8" idx="1"/>
          </p:cNvCxnSpPr>
          <p:nvPr/>
        </p:nvCxnSpPr>
        <p:spPr>
          <a:xfrm>
            <a:off x="2600955" y="4643050"/>
            <a:ext cx="5171200" cy="274384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원통 54"/>
          <p:cNvSpPr/>
          <p:nvPr/>
        </p:nvSpPr>
        <p:spPr>
          <a:xfrm>
            <a:off x="776536" y="5454357"/>
            <a:ext cx="1813076" cy="947063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Hive</a:t>
            </a:r>
          </a:p>
          <a:p>
            <a:pPr algn="ctr"/>
            <a:r>
              <a:rPr lang="en-US" altLang="ko-KR" dirty="0" err="1" smtClean="0"/>
              <a:t>MetaStore</a:t>
            </a:r>
            <a:endParaRPr lang="ko-KR" altLang="en-US" dirty="0"/>
          </a:p>
        </p:txBody>
      </p:sp>
      <p:cxnSp>
        <p:nvCxnSpPr>
          <p:cNvPr id="56" name="직선 화살표 연결선 55"/>
          <p:cNvCxnSpPr>
            <a:stCxn id="55" idx="0"/>
            <a:endCxn id="2" idx="2"/>
          </p:cNvCxnSpPr>
          <p:nvPr/>
        </p:nvCxnSpPr>
        <p:spPr>
          <a:xfrm flipV="1">
            <a:off x="1683074" y="5061171"/>
            <a:ext cx="17728" cy="629952"/>
          </a:xfrm>
          <a:prstGeom prst="straightConnector1">
            <a:avLst/>
          </a:prstGeom>
          <a:ln w="69850" cmpd="dbl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원통 66"/>
          <p:cNvSpPr/>
          <p:nvPr/>
        </p:nvSpPr>
        <p:spPr>
          <a:xfrm>
            <a:off x="7732319" y="1735648"/>
            <a:ext cx="1110581" cy="583420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Mysql</a:t>
            </a:r>
            <a:r>
              <a:rPr lang="en-US" altLang="ko-KR" sz="1400" dirty="0" smtClean="0"/>
              <a:t> DB</a:t>
            </a:r>
            <a:endParaRPr lang="ko-KR" altLang="en-US" sz="1400" dirty="0"/>
          </a:p>
        </p:txBody>
      </p:sp>
      <p:cxnSp>
        <p:nvCxnSpPr>
          <p:cNvPr id="68" name="직선 화살표 연결선 67"/>
          <p:cNvCxnSpPr>
            <a:stCxn id="55" idx="4"/>
            <a:endCxn id="67" idx="2"/>
          </p:cNvCxnSpPr>
          <p:nvPr/>
        </p:nvCxnSpPr>
        <p:spPr>
          <a:xfrm flipV="1">
            <a:off x="2589612" y="2027358"/>
            <a:ext cx="5142707" cy="3900531"/>
          </a:xfrm>
          <a:prstGeom prst="straightConnector1">
            <a:avLst/>
          </a:prstGeom>
          <a:ln w="69850" cmpd="dbl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/>
          <p:nvPr/>
        </p:nvCxnSpPr>
        <p:spPr>
          <a:xfrm flipV="1">
            <a:off x="3980892" y="2319068"/>
            <a:ext cx="108012" cy="1204804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flipH="1" flipV="1">
            <a:off x="4953000" y="2319068"/>
            <a:ext cx="233555" cy="3402176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3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HDFS, YARN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서비스 시작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40030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YARN </a:t>
            </a:r>
            <a:r>
              <a:rPr lang="ko-KR" altLang="en-US" b="1" dirty="0" smtClean="0">
                <a:solidFill>
                  <a:prstClr val="black"/>
                </a:solidFill>
              </a:rPr>
              <a:t>클러스터 모드 실행 절차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031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네임노드가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있는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(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namenode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)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hadoop/sbin/start-dfs.sh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잡히스토리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서버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hadoop/sbin/mr-jobhistory-daemon.sh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start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historyserver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리소스매니저가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있는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(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secondnode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)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hadoop/sbin/start-yarn.sh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클라이언트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(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현재 머신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)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CLI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인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hive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2023412" y="4203106"/>
            <a:ext cx="5760889" cy="204333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애플리케이션은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MapReduce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JobHistory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Server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없어도 오류가 나지는 않음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HDFS, YARN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서비스 시작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2592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HDFS, YARN </a:t>
            </a:r>
            <a:r>
              <a:rPr lang="ko-KR" altLang="en-US" b="1" dirty="0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519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서비스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[2]$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hadoop/sbin/start-dfs.sh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잡히스토리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서버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[3]$ hadoop/sbin/mr-jobhistory-daemon.sh start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historyserver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YARN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서비스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[5]$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hadoop/sbin/start-yarn.sh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HDFS, YARN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[6]$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jps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다시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[7]$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exit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HDFS, YARN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[8]$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jps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다시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머신으로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[9]$ exit      [10]$ 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hostname</a:t>
            </a:r>
            <a:endParaRPr lang="en-US" altLang="ko-KR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빗면 8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HD2-Namenode</a:t>
            </a:r>
            <a:endParaRPr lang="ko-KR" altLang="en-US" sz="2400" dirty="0"/>
          </a:p>
        </p:txBody>
      </p:sp>
      <p:sp>
        <p:nvSpPr>
          <p:cNvPr id="7" name="빗면 6"/>
          <p:cNvSpPr/>
          <p:nvPr/>
        </p:nvSpPr>
        <p:spPr>
          <a:xfrm>
            <a:off x="6182674" y="3176972"/>
            <a:ext cx="3197694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  <p:sp>
        <p:nvSpPr>
          <p:cNvPr id="10" name="빗면 9"/>
          <p:cNvSpPr/>
          <p:nvPr/>
        </p:nvSpPr>
        <p:spPr>
          <a:xfrm>
            <a:off x="6212270" y="5841268"/>
            <a:ext cx="3205226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411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en-US" altLang="ko-KR" sz="3000" b="1" dirty="0" smtClean="0">
                <a:solidFill>
                  <a:prstClr val="white"/>
                </a:solidFill>
              </a:rPr>
              <a:t>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YARN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2592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HDFS, YARN </a:t>
            </a:r>
            <a:r>
              <a:rPr lang="ko-KR" altLang="en-US" b="1" dirty="0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8636346" cy="2927407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Last login: Wed Jun  7 14:33:51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hadoop/sbin/start-dfs.sh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namenodes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on [namenode.hadoop.kr]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namenode.hadoop.kr: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hadoop-hadoop-namenode-namenode.hadoop.kr.out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datanode2.hadoop.kr: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datanode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hadoop-hadoop-datanode-secondnode.hadoop.kr.out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datanode1.hadoop.kr: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datanode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hadoop-hadoop-datanode-namenode.hadoop.kr.out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Starting secondary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namenodes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[secondnode.hadoop.kr]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secondnode.hadoop.kr: 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secondarynamenode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home/</a:t>
            </a:r>
            <a:r>
              <a:rPr lang="en-US" altLang="ko-KR" sz="1050" dirty="0" err="1" smtClean="0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 smtClean="0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 smtClean="0">
                <a:latin typeface="맑은 고딕" pitchFamily="50" charset="-127"/>
                <a:ea typeface="맑은 고딕" pitchFamily="50" charset="-127"/>
              </a:rPr>
              <a:t>hadoop-hadoop-secondarynamenode-secondnode.hadoop.kr.out</a:t>
            </a:r>
            <a:endParaRPr lang="en-US" altLang="ko-KR" sz="1050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hadoop/sbin/mr-jobhistory-daemon.sh start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historyserver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starting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historyserver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/logs/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mapred-hadoop-historyserver-namenode.hadoop.kr.out</a:t>
            </a: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56556" y="4581128"/>
            <a:ext cx="8568952" cy="159550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Last login: Sun Jul  2 00:48:29 2017 from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hadoop/sbin/start-yarn.sh</a:t>
            </a:r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starting yarn daemons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starting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resourcemanager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/logs/yarn-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resourcemanager-secondnode.hadoop.kr.out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datanode1.hadoop.kr: starting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nodemanager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/logs/yarn-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nodemanager-namenode.hadoop.kr.out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datanode2.hadoop.kr: starting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nodemanager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logging to /home/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/logs/yarn-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nodemanager-secondnode.hadoop.kr.out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55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en-US" altLang="ko-KR" sz="3000" b="1" dirty="0" smtClean="0">
                <a:solidFill>
                  <a:prstClr val="white"/>
                </a:solidFill>
              </a:rPr>
              <a:t>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YARN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2592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HDFS, YARN </a:t>
            </a:r>
            <a:r>
              <a:rPr lang="ko-KR" altLang="en-US" b="1" dirty="0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4027585" cy="241572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1220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ResourceManager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1116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SecondaryNameNode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1352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1319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NodeManager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1015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DataNode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849680" y="2585090"/>
            <a:ext cx="4464496" cy="2955877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1237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1578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JobHistoryServer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1678 </a:t>
            </a:r>
            <a:r>
              <a:rPr lang="en-US" altLang="ko-KR" sz="14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NodeManager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1808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1334 </a:t>
            </a:r>
            <a:r>
              <a:rPr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DataNode</a:t>
            </a:r>
            <a:endParaRPr lang="en-US" altLang="ko-KR" sz="1400" b="1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 smtClean="0"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hostname</a:t>
            </a:r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client.hadoop.kr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빗면 5"/>
          <p:cNvSpPr/>
          <p:nvPr/>
        </p:nvSpPr>
        <p:spPr>
          <a:xfrm>
            <a:off x="4849680" y="5546012"/>
            <a:ext cx="4464496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HD2-Namenode</a:t>
            </a:r>
            <a:endParaRPr lang="ko-KR" altLang="en-US" sz="2400" dirty="0"/>
          </a:p>
        </p:txBody>
      </p:sp>
      <p:sp>
        <p:nvSpPr>
          <p:cNvPr id="9" name="빗면 8"/>
          <p:cNvSpPr/>
          <p:nvPr/>
        </p:nvSpPr>
        <p:spPr>
          <a:xfrm>
            <a:off x="493366" y="3792501"/>
            <a:ext cx="402758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HD3-Secondnode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0502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75019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ko-KR" altLang="en-US" b="1" dirty="0" smtClean="0">
                <a:solidFill>
                  <a:prstClr val="black"/>
                </a:solidFill>
              </a:rPr>
              <a:t>테스트하기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hive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위한 데이터 생성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'aaa,100' &gt; hive.txt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'bbb,200' &gt;&gt; hive.txt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'ccc,300' &gt;&gt; hive.txt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'aaa,400' &gt;&gt; hive.txt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쉘에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접속하기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hive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후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DB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와 연동되는지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반드시 확인해야 함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[1]hive&gt;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show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tables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;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2]hive&gt;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create table hive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  (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string, price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int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)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  ROW FORMAT DELIMITED FIELDS TERMINATED BY ',';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3]hive&gt;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show tables;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4]hive&gt;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load data local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inpath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'hive.txt' into table hive;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5]hive&gt;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select * from hive;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6]hive&gt;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select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str,sum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(price) from hive group by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;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7]hive&gt;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quit;</a:t>
            </a: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844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75019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ko-KR" altLang="en-US" b="1" dirty="0" smtClean="0">
                <a:solidFill>
                  <a:prstClr val="black"/>
                </a:solidFill>
              </a:rPr>
              <a:t>테스트하기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2500" y="1448780"/>
            <a:ext cx="8820980" cy="499643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hive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show tables;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Time taken: 1.982 seconds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hive&gt;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create table hive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   &gt;          (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string, price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int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   &gt;          ROW FORMAT DELIMITED FIELDS TERMINATED BY ',';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Time taken: 0.604 seconds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hive&gt;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show tables;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Time taken: 0.126 seconds, Fetched: 1 row(s)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hive&gt;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load data local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inpath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'hive.txt' into table hive;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Loading data to table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default.hive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Table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default.hive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stats: 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numFiles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=1,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totalSize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=32]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Time taken: 2.394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seconds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4293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75019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ko-KR" altLang="en-US" b="1" dirty="0" smtClean="0">
                <a:solidFill>
                  <a:prstClr val="black"/>
                </a:solidFill>
              </a:rPr>
              <a:t>테스트하기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2500" y="1420167"/>
            <a:ext cx="8820980" cy="515647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hive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select * from hive;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aaa</a:t>
            </a:r>
            <a:r>
              <a:rPr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100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bbb</a:t>
            </a:r>
            <a:r>
              <a:rPr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200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ccc     300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aaa</a:t>
            </a:r>
            <a:r>
              <a:rPr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400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hive&gt;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select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str,sum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(price) from hive group by </a:t>
            </a:r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MapReduce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Total cumulative CPU time: 5 seconds 870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msec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Ended Job = job_1499050429631_0001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MapReduce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Jobs Launched: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Stage-Stage-1: Map: 1  Reduce: 1   Cumulative CPU: 5.87 sec   HDFS Read: 6963 HDFS Write: 24 SUCCESS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Total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MapReduce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CPU Time Spent: 5 seconds 870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msec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aaa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500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bbb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200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ccc     300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Time taken: 73.076 seconds, Fetched: 3 row(s)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hive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quit;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1336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732880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YARN </a:t>
            </a:r>
            <a:r>
              <a:rPr lang="ko-KR" altLang="en-US" b="1" dirty="0" smtClean="0">
                <a:solidFill>
                  <a:prstClr val="black"/>
                </a:solidFill>
              </a:rPr>
              <a:t>리소스매니저 웹</a:t>
            </a:r>
            <a:r>
              <a:rPr lang="en-US" altLang="ko-KR" b="1" dirty="0">
                <a:solidFill>
                  <a:prstClr val="black"/>
                </a:solidFill>
              </a:rPr>
              <a:t>UI  : http://secondnode.hadoop.kr:8088/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98" y="3083737"/>
            <a:ext cx="7736041" cy="3053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구름 모양 설명선 6"/>
          <p:cNvSpPr/>
          <p:nvPr/>
        </p:nvSpPr>
        <p:spPr>
          <a:xfrm>
            <a:off x="5025008" y="1664804"/>
            <a:ext cx="3321783" cy="1567916"/>
          </a:xfrm>
          <a:prstGeom prst="cloudCallout">
            <a:avLst>
              <a:gd name="adj1" fmla="val 43631"/>
              <a:gd name="adj2" fmla="val 10623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Active</a:t>
            </a:r>
          </a:p>
          <a:p>
            <a:pPr algn="ctr"/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Nodes</a:t>
            </a:r>
          </a:p>
          <a:p>
            <a:pPr algn="ctr"/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</a:rPr>
              <a:t>=&gt; 2</a:t>
            </a: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44433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7328801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YARN </a:t>
            </a:r>
            <a:r>
              <a:rPr lang="ko-KR" altLang="en-US" b="1" dirty="0">
                <a:solidFill>
                  <a:prstClr val="black"/>
                </a:solidFill>
              </a:rPr>
              <a:t>리소스매니저 웹</a:t>
            </a:r>
            <a:r>
              <a:rPr lang="en-US" altLang="ko-KR" b="1" dirty="0">
                <a:solidFill>
                  <a:prstClr val="black"/>
                </a:solidFill>
              </a:rPr>
              <a:t>UI  : http://secondnode.hadoop.kr:8088/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18" y="2996952"/>
            <a:ext cx="95059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구름 모양 설명선 6"/>
          <p:cNvSpPr/>
          <p:nvPr/>
        </p:nvSpPr>
        <p:spPr>
          <a:xfrm>
            <a:off x="4052900" y="1628800"/>
            <a:ext cx="4356484" cy="1567916"/>
          </a:xfrm>
          <a:prstGeom prst="cloudCallout">
            <a:avLst>
              <a:gd name="adj1" fmla="val -52158"/>
              <a:gd name="adj2" fmla="val 14537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en-US" altLang="ko-KR" b="1" dirty="0" err="1" smtClean="0">
                <a:latin typeface="맑은 고딕" pitchFamily="50" charset="-127"/>
                <a:ea typeface="맑은 고딕" pitchFamily="50" charset="-127"/>
              </a:rPr>
              <a:t>MapReduce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 Job</a:t>
            </a:r>
          </a:p>
          <a:p>
            <a:pPr algn="ctr"/>
            <a:endParaRPr lang="en-US" altLang="ko-KR" b="1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b="1" dirty="0" err="1" smtClean="0">
                <a:latin typeface="맑은 고딕" pitchFamily="50" charset="-127"/>
                <a:ea typeface="맑은 고딕" pitchFamily="50" charset="-127"/>
              </a:rPr>
              <a:t>실행중</a:t>
            </a:r>
            <a:endParaRPr lang="en-US" altLang="ko-KR" b="1" dirty="0" smtClean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01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2996952"/>
            <a:ext cx="8866364" cy="3176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Hive </a:t>
            </a:r>
            <a:r>
              <a:rPr kumimoji="0" lang="en-US" altLang="ko-KR" sz="3000" b="1" dirty="0">
                <a:solidFill>
                  <a:prstClr val="white"/>
                </a:solidFill>
              </a:rPr>
              <a:t>CLI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93234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err="1">
                <a:solidFill>
                  <a:prstClr val="black"/>
                </a:solidFill>
              </a:rPr>
              <a:t>잡히스토리서버</a:t>
            </a:r>
            <a:r>
              <a:rPr lang="ko-KR" altLang="en-US" b="1" dirty="0">
                <a:solidFill>
                  <a:prstClr val="black"/>
                </a:solidFill>
              </a:rPr>
              <a:t> 웹</a:t>
            </a:r>
            <a:r>
              <a:rPr lang="en-US" altLang="ko-KR" b="1" dirty="0" smtClean="0">
                <a:solidFill>
                  <a:prstClr val="black"/>
                </a:solidFill>
              </a:rPr>
              <a:t>UI  </a:t>
            </a:r>
            <a:r>
              <a:rPr lang="en-US" altLang="ko-KR" b="1" dirty="0">
                <a:solidFill>
                  <a:prstClr val="black"/>
                </a:solidFill>
              </a:rPr>
              <a:t>: http://namenode.hadoop.kr:19888/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구름 모양 설명선 6"/>
          <p:cNvSpPr/>
          <p:nvPr/>
        </p:nvSpPr>
        <p:spPr>
          <a:xfrm>
            <a:off x="4989004" y="1385117"/>
            <a:ext cx="4005859" cy="1567916"/>
          </a:xfrm>
          <a:prstGeom prst="cloudCallout">
            <a:avLst>
              <a:gd name="adj1" fmla="val -45109"/>
              <a:gd name="adj2" fmla="val 5712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en-US" altLang="ko-KR" b="1" dirty="0" err="1" smtClean="0">
                <a:latin typeface="맑은 고딕" pitchFamily="50" charset="-127"/>
                <a:ea typeface="맑은 고딕" pitchFamily="50" charset="-127"/>
              </a:rPr>
              <a:t>MapReduce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 Job</a:t>
            </a:r>
          </a:p>
          <a:p>
            <a:pPr algn="ctr"/>
            <a:endParaRPr lang="en-US" altLang="ko-KR" b="1" dirty="0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실행 이력</a:t>
            </a: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373762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6. Hive </a:t>
            </a:r>
            <a:r>
              <a:rPr kumimoji="0" lang="ko-KR" altLang="en-US" sz="3000" b="1" dirty="0" smtClean="0">
                <a:solidFill>
                  <a:prstClr val="white"/>
                </a:solidFill>
              </a:rPr>
              <a:t>아키텍처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932422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en-US" altLang="ko-KR" b="1" dirty="0" smtClean="0">
                <a:solidFill>
                  <a:prstClr val="black"/>
                </a:solidFill>
              </a:rPr>
              <a:t> =&gt; </a:t>
            </a:r>
            <a:r>
              <a:rPr lang="en-US" altLang="ko-KR" b="1" dirty="0" err="1">
                <a:solidFill>
                  <a:prstClr val="black"/>
                </a:solidFill>
              </a:rPr>
              <a:t>Mysql</a:t>
            </a:r>
            <a:r>
              <a:rPr lang="en-US" altLang="ko-KR" b="1" dirty="0">
                <a:solidFill>
                  <a:prstClr val="black"/>
                </a:solidFill>
              </a:rPr>
              <a:t> </a:t>
            </a:r>
            <a:r>
              <a:rPr lang="en-US" altLang="ko-KR" b="1" dirty="0" smtClean="0">
                <a:solidFill>
                  <a:prstClr val="black"/>
                </a:solidFill>
              </a:rPr>
              <a:t>DB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4831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메타 데이터 관리하는 방법 확인하기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DB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관리됨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mysqlshow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uhiveuser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phivepw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--host=namenode.hadoop.kr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uhiveuser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phivepw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--host=namenode.hadoop.kr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</a:t>
            </a:r>
            <a:r>
              <a:rPr lang="en-US" altLang="ko-KR" sz="1500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select * from TBLS;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</a:t>
            </a:r>
            <a:r>
              <a:rPr lang="en-US" altLang="ko-KR" sz="1500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select * from COLUMNS_V2;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</a:t>
            </a:r>
            <a:r>
              <a:rPr lang="en-US" altLang="ko-KR" sz="1500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select * from SDS;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</a:t>
            </a:r>
            <a:r>
              <a:rPr lang="en-US" altLang="ko-KR" sz="1500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quit;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Hive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테이블의 물리적인 구조 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fs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lsr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/user/hive/</a:t>
            </a:r>
          </a:p>
        </p:txBody>
      </p:sp>
    </p:spTree>
    <p:extLst>
      <p:ext uri="{BB962C8B-B14F-4D97-AF65-F5344CB8AC3E}">
        <p14:creationId xmlns:p14="http://schemas.microsoft.com/office/powerpoint/2010/main" val="99682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6. Hive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아키텍처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71332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en-US" altLang="ko-KR" b="1" dirty="0" smtClean="0">
                <a:solidFill>
                  <a:prstClr val="black"/>
                </a:solidFill>
              </a:rPr>
              <a:t> =&gt;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2500" y="1420167"/>
            <a:ext cx="8820980" cy="4907180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mysqlshow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uhiveuser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phivepw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--host=namenode.hadoop.kr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Warning: Using a password on the command line interface can be insecure.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Database: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hivedb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         Tables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BUCKETING_COLS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CDS   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COLUMNS_V2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DATABASE_PARAMS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DBS   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FUNCS 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FUNC_RU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GLOBAL_PRIVS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PARTITIONS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PARTITION_KEYS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PARTITION_KEY_VALS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PARTITION_PARAMS         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PART_COL_STATS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ROLES                    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|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340932" y="2204864"/>
            <a:ext cx="3528392" cy="388536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SDS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SD_PARAMS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SEQUENCE_TABLE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SERDES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SERDE_PARAMS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SKEWED_COL_NAMES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SKEWED_COL_VALUE_LOC_MAP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SKEWED_STRING_LIST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SKEWED_STRING_LIST_VALUES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SKEWED_VALUES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SORT_COLS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TABLE_PARAMS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TAB_COL_STATS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TBLS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VERSION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330404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6. Hive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아키텍처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71332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en-US" altLang="ko-KR" b="1" dirty="0" smtClean="0">
                <a:solidFill>
                  <a:prstClr val="black"/>
                </a:solidFill>
              </a:rPr>
              <a:t> =&gt;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2500" y="1420167"/>
            <a:ext cx="8820980" cy="5350378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hivedb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uhiveuser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phivepw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--host=namenode.hadoop.kr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select * from TBLS;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+--------+-------------+-------+------------------+--------+-----------+-------+----------+---------------+--------------------+--------------------+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TBL_ID | CREATE_TIME | DB_ID | LAST_ACCESS_TIME | OWNER  | RETENTION | SD_ID | TBL_NAME | TBL_TYPE      | VIEW_EXPANDED_TEXT | VIEW_ORIGINAL_TEXT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+--------+-------------+-------+------------------+--------+-----------+-------+----------+---------------+--------------------+--------------------+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     1 |  1499050596 |     1 |                0 |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         0 |     1 | </a:t>
            </a:r>
            <a:r>
              <a:rPr lang="en-US" altLang="ko-KR" sz="16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hive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| MANAGED_TABLE | NULL               | NULL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+--------+-------------+-------+------------------+--------+-----------+-------+----------+---------------+--------------------+--------------------+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1 row in set (0.00 sec)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select * from COLUMNS_V2;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+-------+---------+-------------+-----------+-------------+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CD_ID | COMMENT | COLUMN_NAME | TYPE_NAME | INTEGER_IDX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+-------+---------+-------------+-----------+-------------+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    1 | NULL    | </a:t>
            </a:r>
            <a:r>
              <a:rPr lang="en-US" altLang="ko-KR" sz="14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price       | </a:t>
            </a:r>
            <a:r>
              <a:rPr lang="en-US" altLang="ko-KR" sz="14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int</a:t>
            </a:r>
            <a:r>
              <a:rPr lang="en-US" altLang="ko-KR" sz="14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    |           1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    1 | NULL    | </a:t>
            </a:r>
            <a:r>
              <a:rPr lang="en-US" altLang="ko-KR" sz="14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str</a:t>
            </a:r>
            <a:r>
              <a:rPr lang="en-US" altLang="ko-KR" sz="14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      | string    |           0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+-------+---------+-------------+-----------+-------------+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2 rows in set (0.02 sec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190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6. Hive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아키텍처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71332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MetaStore</a:t>
            </a:r>
            <a:r>
              <a:rPr lang="en-US" altLang="ko-KR" b="1" dirty="0" smtClean="0">
                <a:solidFill>
                  <a:prstClr val="black"/>
                </a:solidFill>
              </a:rPr>
              <a:t> =&gt; </a:t>
            </a:r>
            <a:r>
              <a:rPr lang="en-US" altLang="ko-KR" b="1" dirty="0" err="1" smtClean="0">
                <a:solidFill>
                  <a:prstClr val="black"/>
                </a:solidFill>
              </a:rPr>
              <a:t>Mysql</a:t>
            </a:r>
            <a:r>
              <a:rPr lang="en-US" altLang="ko-KR" b="1" dirty="0" smtClean="0">
                <a:solidFill>
                  <a:prstClr val="black"/>
                </a:solidFill>
              </a:rPr>
              <a:t> DB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2500" y="1420167"/>
            <a:ext cx="8820980" cy="393460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select * from SDS;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+-------+-------+------------------------------------------+---------------+---------------------------+---------------------------------------------------------+-------------+------------------------------------------------------------+----------+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SD_ID | CD_ID | INPUT_FORMAT                             | IS_COMPRESSED | IS_STOREDASSUBDIRECTORIES | LOCATION                                                | NUM_BUCKETS | OUTPUT_FORMAT                                              | SERDE_ID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+-------+-------+------------------------------------------+---------------+---------------------------+---------------------------------------------------------+-------------+------------------------------------------------------------+----------+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|     1 |     1 |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org.apache.hadoop.mapred.TextInputFormat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               |                           | </a:t>
            </a:r>
            <a:r>
              <a:rPr lang="en-US" altLang="ko-KR" sz="18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hdfs://namenode.hadoop.kr:8020/user/hive/warehouse/hive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          -1 |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org.apache.hadoop.hive.ql.io.HiveIgnoreKeyTextOutputFormat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|        1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+-------+-------+------------------------------------------+---------------+---------------------------+---------------------------------------------------------+-------------+------------------------------------------------------------+----------+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1 row in set (0.01 sec)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mysql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quit;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Bye</a:t>
            </a:r>
          </a:p>
        </p:txBody>
      </p:sp>
    </p:spTree>
    <p:extLst>
      <p:ext uri="{BB962C8B-B14F-4D97-AF65-F5344CB8AC3E}">
        <p14:creationId xmlns:p14="http://schemas.microsoft.com/office/powerpoint/2010/main" val="75238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6. Hive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아키텍처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880345" cy="125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Hive Data File =&gt; HDFS </a:t>
            </a:r>
          </a:p>
          <a:p>
            <a:pPr marL="0" indent="0" eaLnBrk="1" hangingPunct="1">
              <a:lnSpc>
                <a:spcPct val="120000"/>
              </a:lnSpc>
              <a:spcBef>
                <a:spcPct val="30000"/>
              </a:spcBef>
            </a:pPr>
            <a:endParaRPr lang="en-US" altLang="ko-KR" b="1" dirty="0" smtClean="0">
              <a:solidFill>
                <a:prstClr val="black"/>
              </a:solidFill>
            </a:endParaRPr>
          </a:p>
          <a:p>
            <a:pPr marL="0" indent="0" eaLnBrk="1" hangingPunct="1">
              <a:lnSpc>
                <a:spcPct val="120000"/>
              </a:lnSpc>
              <a:spcBef>
                <a:spcPct val="30000"/>
              </a:spcBef>
            </a:pPr>
            <a:r>
              <a:rPr lang="en-US" altLang="ko-KR" b="1" dirty="0" smtClean="0">
                <a:solidFill>
                  <a:prstClr val="black"/>
                </a:solidFill>
              </a:rPr>
              <a:t>HDFS </a:t>
            </a:r>
            <a:r>
              <a:rPr lang="ko-KR" altLang="en-US" b="1" dirty="0" smtClean="0">
                <a:solidFill>
                  <a:prstClr val="black"/>
                </a:solidFill>
              </a:rPr>
              <a:t>위치 </a:t>
            </a:r>
            <a:r>
              <a:rPr lang="en-US" altLang="ko-KR" b="1" dirty="0" smtClean="0">
                <a:solidFill>
                  <a:prstClr val="black"/>
                </a:solidFill>
              </a:rPr>
              <a:t>: /user/hive/warehouse/ </a:t>
            </a:r>
            <a:r>
              <a:rPr lang="en-US" altLang="ko-KR" b="1" dirty="0" smtClean="0">
                <a:solidFill>
                  <a:srgbClr val="C00000"/>
                </a:solidFill>
              </a:rPr>
              <a:t>[</a:t>
            </a:r>
            <a:r>
              <a:rPr lang="ko-KR" altLang="en-US" b="1" dirty="0" err="1" smtClean="0">
                <a:solidFill>
                  <a:srgbClr val="C00000"/>
                </a:solidFill>
              </a:rPr>
              <a:t>테이블명</a:t>
            </a:r>
            <a:r>
              <a:rPr lang="en-US" altLang="ko-KR" b="1" dirty="0" smtClean="0">
                <a:solidFill>
                  <a:srgbClr val="C00000"/>
                </a:solidFill>
              </a:rPr>
              <a:t>] </a:t>
            </a:r>
            <a:r>
              <a:rPr lang="en-US" altLang="ko-KR" b="1" dirty="0" smtClean="0">
                <a:solidFill>
                  <a:prstClr val="black"/>
                </a:solidFill>
              </a:rPr>
              <a:t>/ </a:t>
            </a:r>
            <a:r>
              <a:rPr lang="ko-KR" altLang="en-US" b="1" dirty="0" smtClean="0">
                <a:solidFill>
                  <a:srgbClr val="C00000"/>
                </a:solidFill>
              </a:rPr>
              <a:t>데이터 파일</a:t>
            </a:r>
            <a:r>
              <a:rPr lang="en-US" altLang="ko-KR" b="1" dirty="0" smtClean="0">
                <a:solidFill>
                  <a:srgbClr val="C00000"/>
                </a:solidFill>
              </a:rPr>
              <a:t>’s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15925" y="2672916"/>
            <a:ext cx="8820980" cy="1866348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fs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-</a:t>
            </a:r>
            <a:r>
              <a:rPr lang="en-US" altLang="ko-KR" sz="1600" b="1" dirty="0" err="1">
                <a:latin typeface="맑은 고딕" pitchFamily="50" charset="-127"/>
                <a:ea typeface="맑은 고딕" pitchFamily="50" charset="-127"/>
              </a:rPr>
              <a:t>lsr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 /user/hive/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drwxr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xr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-x   -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supergroup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0 2017-07-03 11:56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/user/hive/warehouse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drwxr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xr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-x   -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supergroup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 0 2017-07-03 11:56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/user/hive/warehouse/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rwxr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xr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-x   1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supergroup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       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32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2017-07-03 11:56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/user/hive/warehouse/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hive/hive.txt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6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790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8_Office 테마">
  <a:themeElements>
    <a:clrScheme name="16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6_Office 테마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6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2469</TotalTime>
  <Words>5338</Words>
  <Application>Microsoft Office PowerPoint</Application>
  <PresentationFormat>A4 용지(210x297mm)</PresentationFormat>
  <Paragraphs>1093</Paragraphs>
  <Slides>38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38</vt:i4>
      </vt:variant>
    </vt:vector>
  </HeadingPairs>
  <TitlesOfParts>
    <vt:vector size="50" baseType="lpstr">
      <vt:lpstr>@산돌퍼즐Bk</vt:lpstr>
      <vt:lpstr>굴림</vt:lpstr>
      <vt:lpstr>나눔고딕</vt:lpstr>
      <vt:lpstr>맑은 고딕</vt:lpstr>
      <vt:lpstr>Arial</vt:lpstr>
      <vt:lpstr>Symbol</vt:lpstr>
      <vt:lpstr>Wingdings</vt:lpstr>
      <vt:lpstr>디자인 사용자 지정</vt:lpstr>
      <vt:lpstr>17_Office 테마</vt:lpstr>
      <vt:lpstr>6_디자인 사용자 지정</vt:lpstr>
      <vt:lpstr>26_Office 테마</vt:lpstr>
      <vt:lpstr>18_Office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user</cp:lastModifiedBy>
  <cp:revision>241</cp:revision>
  <dcterms:created xsi:type="dcterms:W3CDTF">2012-04-02T02:40:52Z</dcterms:created>
  <dcterms:modified xsi:type="dcterms:W3CDTF">2017-08-18T03:12:58Z</dcterms:modified>
</cp:coreProperties>
</file>