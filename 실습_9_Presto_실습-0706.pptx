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907" r:id="rId3"/>
    <p:sldMasterId id="2147483926" r:id="rId4"/>
    <p:sldMasterId id="2147483929" r:id="rId5"/>
  </p:sldMasterIdLst>
  <p:notesMasterIdLst>
    <p:notesMasterId r:id="rId37"/>
  </p:notesMasterIdLst>
  <p:sldIdLst>
    <p:sldId id="606" r:id="rId6"/>
    <p:sldId id="875" r:id="rId7"/>
    <p:sldId id="876" r:id="rId8"/>
    <p:sldId id="877" r:id="rId9"/>
    <p:sldId id="878" r:id="rId10"/>
    <p:sldId id="879" r:id="rId11"/>
    <p:sldId id="880" r:id="rId12"/>
    <p:sldId id="797" r:id="rId13"/>
    <p:sldId id="849" r:id="rId14"/>
    <p:sldId id="823" r:id="rId15"/>
    <p:sldId id="824" r:id="rId16"/>
    <p:sldId id="810" r:id="rId17"/>
    <p:sldId id="829" r:id="rId18"/>
    <p:sldId id="857" r:id="rId19"/>
    <p:sldId id="830" r:id="rId20"/>
    <p:sldId id="826" r:id="rId21"/>
    <p:sldId id="864" r:id="rId22"/>
    <p:sldId id="865" r:id="rId23"/>
    <p:sldId id="866" r:id="rId24"/>
    <p:sldId id="867" r:id="rId25"/>
    <p:sldId id="856" r:id="rId26"/>
    <p:sldId id="868" r:id="rId27"/>
    <p:sldId id="869" r:id="rId28"/>
    <p:sldId id="870" r:id="rId29"/>
    <p:sldId id="871" r:id="rId30"/>
    <p:sldId id="872" r:id="rId31"/>
    <p:sldId id="873" r:id="rId32"/>
    <p:sldId id="837" r:id="rId33"/>
    <p:sldId id="858" r:id="rId34"/>
    <p:sldId id="874" r:id="rId35"/>
    <p:sldId id="640" r:id="rId36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507" autoAdjust="0"/>
  </p:normalViewPr>
  <p:slideViewPr>
    <p:cSldViewPr>
      <p:cViewPr varScale="1">
        <p:scale>
          <a:sx n="47" d="100"/>
          <a:sy n="47" d="100"/>
        </p:scale>
        <p:origin x="-576" y="-96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82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159205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795961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의 설계 개념 및 특성입니다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먼저 분산컴퓨팅 환경에서 운영되어야 하기 때문에 함수형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프로그램의 특성을 가지고 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물론 실시간 처리도 가능은 하지만 앞서 언급했다시피 분산컴퓨팅 환경에서 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운영되기 때문에 배치형식의 데이터 처리 시스템으로 설계가 되었습니다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사용자의 </a:t>
            </a:r>
            <a:r>
              <a:rPr lang="en-US" altLang="ko-KR" dirty="0" smtClean="0"/>
              <a:t>NEED</a:t>
            </a:r>
            <a:r>
              <a:rPr lang="ko-KR" altLang="en-US" dirty="0" smtClean="0"/>
              <a:t>를 파악하지 못하고 개발한 프로그램은 사실 쓸모가 없을 것입니다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여러 어플리케이션 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주요관심사들을 파악했고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이러한 요소들을 최대한 반영하였습니다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6010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FA96906B-F160-482F-9BF1-2B408E1E6FE8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/>
              <a:t>4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의 설계 개념 및 특성입니다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먼저 분산컴퓨팅 환경에서 운영되어야 하기 때문에 함수형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프로그램의 특성을 가지고 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물론 실시간 처리도 가능은 하지만 앞서 언급했다시피 분산컴퓨팅 환경에서 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운영되기 때문에 배치형식의 데이터 처리 시스템으로 설계가 되었습니다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사용자의 </a:t>
            </a:r>
            <a:r>
              <a:rPr lang="en-US" altLang="ko-KR" dirty="0" smtClean="0"/>
              <a:t>NEED</a:t>
            </a:r>
            <a:r>
              <a:rPr lang="ko-KR" altLang="en-US" dirty="0" smtClean="0"/>
              <a:t>를 파악하지 못하고 개발한 프로그램은 사실 쓸모가 없을 것입니다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여러 어플리케이션 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주요관심사들을 파악했고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이러한 요소들을 최대한 반영하였습니다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67268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DFD8299A-892B-43B8-8184-0818DFC6D483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의 설계 개념 및 특성입니다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먼저 분산컴퓨팅 환경에서 운영되어야 하기 때문에 함수형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프로그램의 특성을 가지고 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물론 실시간 처리도 가능은 하지만 앞서 언급했다시피 분산컴퓨팅 환경에서 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운영되기 때문에 배치형식의 데이터 처리 시스템으로 설계가 되었습니다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사용자의 </a:t>
            </a:r>
            <a:r>
              <a:rPr lang="en-US" altLang="ko-KR" dirty="0" smtClean="0"/>
              <a:t>NEED</a:t>
            </a:r>
            <a:r>
              <a:rPr lang="ko-KR" altLang="en-US" dirty="0" smtClean="0"/>
              <a:t>를 파악하지 못하고 개발한 프로그램은 사실 쓸모가 없을 것입니다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여러 어플리케이션 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주요관심사들을 파악했고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이러한 요소들을 최대한 반영하였습니다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68292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66CD751-65C5-42E5-A942-7106BBE250EF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의 설계 개념 및 특성입니다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먼저 분산컴퓨팅 환경에서 운영되어야 하기 때문에 함수형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프로그램의 특성을 가지고 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물론 실시간 처리도 가능은 하지만 앞서 언급했다시피 분산컴퓨팅 환경에서 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운영되기 때문에 배치형식의 데이터 처리 시스템으로 설계가 되었습니다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사용자의 </a:t>
            </a:r>
            <a:r>
              <a:rPr lang="en-US" altLang="ko-KR" dirty="0" smtClean="0"/>
              <a:t>NEED</a:t>
            </a:r>
            <a:r>
              <a:rPr lang="ko-KR" altLang="en-US" dirty="0" smtClean="0"/>
              <a:t>를 파악하지 못하고 개발한 프로그램은 사실 쓸모가 없을 것입니다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여러 어플리케이션 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주요관심사들을 파악했고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이러한 요소들을 최대한 반영하였습니다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68292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66CD751-65C5-42E5-A942-7106BBE250EF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8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9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014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99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76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77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77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 dirty="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525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9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61643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934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173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049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5381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47778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7441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88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5094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43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42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44B71C56-430F-4D6A-AA17-A92743370C30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411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0ABBE010-0A1D-4799-9DB0-A21BB6ABD90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455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CF344A2C-A057-4B4B-B9BC-D67A81F52670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585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34D643B6-56C9-4016-BF77-8F4414199C5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925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AFF155BE-B7BE-4959-9A13-495C023E0700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7377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3197141B-9DFD-4D3C-BA9B-8C9E96906049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2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D488840F-D02C-40F8-9AB1-674DA2CD433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68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73487760-7456-4227-96E2-88E466FD2659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746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3685AD83-CC38-477C-981A-312E8B96BAE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3892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68FAB27C-721F-489F-BC5C-50AE09566E19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6577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BE5CC8CA-78D0-4D48-B270-6CC9A5A3A874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6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070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12295" name="모서리가 둥근 직사각형 6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8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291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2292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F8346F1-1DB1-4880-B0DD-6B1B1D06ED54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  <p:pic>
        <p:nvPicPr>
          <p:cNvPr id="12294" name="Picture 8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169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236476" y="1736725"/>
            <a:ext cx="92901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dirty="0" smtClean="0">
                <a:solidFill>
                  <a:schemeClr val="tx2"/>
                </a:solidFill>
              </a:rPr>
              <a:t># SQL on </a:t>
            </a:r>
            <a:r>
              <a:rPr lang="en-US" altLang="ko-KR" sz="4400" b="1" dirty="0" err="1" smtClean="0">
                <a:solidFill>
                  <a:schemeClr val="tx2"/>
                </a:solidFill>
              </a:rPr>
              <a:t>Hadoop</a:t>
            </a:r>
            <a:r>
              <a:rPr lang="ko-KR" altLang="en-US" sz="4400" b="1" dirty="0" smtClean="0">
                <a:solidFill>
                  <a:schemeClr val="tx2"/>
                </a:solidFill>
              </a:rPr>
              <a:t>과 </a:t>
            </a:r>
            <a:r>
              <a:rPr lang="en-US" altLang="ko-KR" sz="4400" b="1" dirty="0" smtClean="0">
                <a:solidFill>
                  <a:schemeClr val="tx2"/>
                </a:solidFill>
              </a:rPr>
              <a:t>Presto </a:t>
            </a:r>
            <a:r>
              <a:rPr lang="ko-KR" altLang="en-US" sz="4400" b="1" dirty="0" smtClean="0">
                <a:solidFill>
                  <a:schemeClr val="tx2"/>
                </a:solidFill>
              </a:rPr>
              <a:t>실습</a:t>
            </a:r>
            <a:endParaRPr lang="ko-KR" altLang="en-US" sz="4400" b="1" dirty="0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빅데이터 플랫폼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schemeClr val="bg1"/>
                </a:solidFill>
              </a:rPr>
              <a:t># SQL On </a:t>
            </a:r>
            <a:r>
              <a:rPr kumimoji="0" lang="en-US" altLang="ko-KR" sz="3000" b="1" dirty="0" err="1" smtClean="0">
                <a:solidFill>
                  <a:schemeClr val="bg1"/>
                </a:solidFill>
              </a:rPr>
              <a:t>Hadoop</a:t>
            </a:r>
            <a:endParaRPr kumimoji="0"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23843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SQL On Hadoop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628414"/>
            <a:ext cx="9027278" cy="4320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smtClean="0">
                <a:latin typeface="맑은 고딕"/>
                <a:ea typeface="맑은 고딕"/>
              </a:rPr>
              <a:t>SQL On Hadoop </a:t>
            </a:r>
            <a:r>
              <a:rPr lang="ko-KR" altLang="en-US" sz="1300" b="1" smtClean="0">
                <a:latin typeface="맑은 고딕"/>
                <a:ea typeface="맑은 고딕"/>
              </a:rPr>
              <a:t>개요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정의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HDFS</a:t>
            </a:r>
            <a:r>
              <a:rPr lang="ko-KR" altLang="en-US" sz="1300" b="1" dirty="0">
                <a:latin typeface="맑은 고딕"/>
                <a:ea typeface="맑은 고딕"/>
              </a:rPr>
              <a:t>에 저장된 데이터를 </a:t>
            </a:r>
            <a:r>
              <a:rPr lang="en-US" altLang="ko-KR" sz="1300" b="1" dirty="0">
                <a:latin typeface="맑은 고딕"/>
                <a:ea typeface="맑은 고딕"/>
              </a:rPr>
              <a:t>SQL </a:t>
            </a:r>
            <a:r>
              <a:rPr lang="ko-KR" altLang="en-US" sz="1300" b="1" dirty="0">
                <a:latin typeface="맑은 고딕"/>
                <a:ea typeface="맑은 고딕"/>
              </a:rPr>
              <a:t>혹은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과 유사한 형태로 처리를 요청하고 분산 처리하는 시스템 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특징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기존 시스템에서 주로 사용한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형식으로 하둡의 데이터를 분산 처리할 수 </a:t>
            </a:r>
            <a:r>
              <a:rPr lang="ko-KR" altLang="en-US" sz="1300" b="1" dirty="0" smtClean="0">
                <a:latin typeface="맑은 고딕"/>
                <a:ea typeface="맑은 고딕"/>
              </a:rPr>
              <a:t>있다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RDBMS</a:t>
            </a:r>
            <a:r>
              <a:rPr lang="ko-KR" altLang="en-US" sz="1300" b="1" dirty="0">
                <a:latin typeface="맑은 고딕"/>
                <a:ea typeface="맑은 고딕"/>
              </a:rPr>
              <a:t>와 </a:t>
            </a:r>
            <a:r>
              <a:rPr lang="en-US" altLang="ko-KR" sz="1300" b="1" dirty="0">
                <a:latin typeface="맑은 고딕"/>
                <a:ea typeface="맑은 고딕"/>
              </a:rPr>
              <a:t>SQL on Hadoop</a:t>
            </a:r>
            <a:r>
              <a:rPr lang="ko-KR" altLang="en-US" sz="1300" b="1" dirty="0">
                <a:latin typeface="맑은 고딕"/>
                <a:ea typeface="맑은 고딕"/>
              </a:rPr>
              <a:t>의 선택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빠른 처리가 필요한 비정형 쿼리나 </a:t>
            </a:r>
            <a:r>
              <a:rPr lang="en-US" altLang="ko-KR" sz="1300" b="1" dirty="0">
                <a:latin typeface="맑은 고딕"/>
                <a:ea typeface="맑은 고딕"/>
              </a:rPr>
              <a:t>OLTP</a:t>
            </a:r>
            <a:r>
              <a:rPr lang="ko-KR" altLang="en-US" sz="1300" b="1" dirty="0">
                <a:latin typeface="맑은 고딕"/>
                <a:ea typeface="맑은 고딕"/>
              </a:rPr>
              <a:t>는 </a:t>
            </a:r>
            <a:r>
              <a:rPr lang="en-US" altLang="ko-KR" sz="1300" b="1" dirty="0">
                <a:latin typeface="맑은 고딕"/>
                <a:ea typeface="맑은 고딕"/>
              </a:rPr>
              <a:t>RDBMS</a:t>
            </a:r>
            <a:r>
              <a:rPr lang="ko-KR" altLang="en-US" sz="1300" b="1" dirty="0">
                <a:latin typeface="맑은 고딕"/>
                <a:ea typeface="맑은 고딕"/>
              </a:rPr>
              <a:t>를 선택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맵리듀스 대신 자체 엔진을 사용한 실시간 쿼리를 최근에 나온 </a:t>
            </a:r>
            <a:r>
              <a:rPr lang="en-US" altLang="ko-KR" sz="1300" b="1" dirty="0">
                <a:latin typeface="맑은 고딕"/>
                <a:ea typeface="맑은 고딕"/>
              </a:rPr>
              <a:t>SQL on Hadoop </a:t>
            </a:r>
            <a:r>
              <a:rPr lang="ko-KR" altLang="en-US" sz="1300" b="1" dirty="0">
                <a:latin typeface="맑은 고딕"/>
                <a:ea typeface="맑은 고딕"/>
              </a:rPr>
              <a:t>기술이 지원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>
                <a:latin typeface="맑은 고딕"/>
                <a:ea typeface="맑은 고딕"/>
              </a:rPr>
              <a:t>SQL On Hadoop</a:t>
            </a:r>
            <a:r>
              <a:rPr lang="ko-KR" altLang="en-US" sz="1300" b="1" dirty="0">
                <a:latin typeface="맑은 고딕"/>
                <a:ea typeface="맑은 고딕"/>
              </a:rPr>
              <a:t>의 장점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개발 시간의 단축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맵리듀스 보다 쉬움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프로젝트 수행 인력을 구하기 </a:t>
            </a:r>
            <a:r>
              <a:rPr lang="ko-KR" altLang="en-US" sz="1300" b="1" dirty="0" smtClean="0">
                <a:latin typeface="맑은 고딕"/>
                <a:ea typeface="맑은 고딕"/>
              </a:rPr>
              <a:t>쉽다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기존 </a:t>
            </a:r>
            <a:r>
              <a:rPr lang="en-US" altLang="ko-KR" sz="1300" b="1" dirty="0">
                <a:latin typeface="맑은 고딕"/>
                <a:ea typeface="맑은 고딕"/>
              </a:rPr>
              <a:t>DW</a:t>
            </a:r>
            <a:r>
              <a:rPr lang="ko-KR" altLang="en-US" sz="1300" b="1" dirty="0">
                <a:latin typeface="맑은 고딕"/>
                <a:ea typeface="맑은 고딕"/>
              </a:rPr>
              <a:t>의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과 </a:t>
            </a:r>
            <a:r>
              <a:rPr lang="ko-KR" altLang="en-US" sz="1300" b="1" dirty="0" smtClean="0">
                <a:latin typeface="맑은 고딕"/>
                <a:ea typeface="맑은 고딕"/>
              </a:rPr>
              <a:t>유사하다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기존 프로그램의 상당수는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로 되어 있음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처리로직을 이해하는데 수월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마이그레이션할 때 필요한 자원이 크게 </a:t>
            </a:r>
            <a:r>
              <a:rPr lang="ko-KR" altLang="en-US" sz="1300" b="1" dirty="0" smtClean="0">
                <a:latin typeface="맑은 고딕"/>
                <a:ea typeface="맑은 고딕"/>
              </a:rPr>
              <a:t>줄어든다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직관성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직관성이 높고 반복 과정에 수월하다</a:t>
            </a:r>
            <a:r>
              <a:rPr lang="en-US" altLang="ko-KR" sz="1300" b="1" dirty="0">
                <a:latin typeface="맑은 고딕"/>
                <a:ea typeface="맑은 고딕"/>
              </a:rPr>
              <a:t>. </a:t>
            </a:r>
            <a:r>
              <a:rPr lang="ko-KR" altLang="en-US" sz="1300" b="1" dirty="0">
                <a:latin typeface="맑은 고딕"/>
                <a:ea typeface="맑은 고딕"/>
              </a:rPr>
              <a:t>단계적 쿼리 분석을 통해 유용한 분석 방법과 결과를 </a:t>
            </a:r>
            <a:r>
              <a:rPr lang="ko-KR" altLang="en-US" sz="1300" b="1" dirty="0" smtClean="0">
                <a:latin typeface="맑은 고딕"/>
                <a:ea typeface="맑은 고딕"/>
              </a:rPr>
              <a:t>도출한다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9952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schemeClr val="bg1"/>
                </a:solidFill>
              </a:rPr>
              <a:t># SQL On </a:t>
            </a:r>
            <a:r>
              <a:rPr kumimoji="0" lang="en-US" altLang="ko-KR" sz="3000" b="1" dirty="0" err="1" smtClean="0">
                <a:solidFill>
                  <a:schemeClr val="bg1"/>
                </a:solidFill>
              </a:rPr>
              <a:t>Hadoop</a:t>
            </a:r>
            <a:endParaRPr kumimoji="0"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23843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SQL On Hadoop</a:t>
            </a:r>
            <a:endParaRPr lang="ko-KR" altLang="en-US" b="1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8529" y="1555001"/>
            <a:ext cx="9027278" cy="468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smtClean="0">
                <a:latin typeface="맑은 고딕"/>
                <a:ea typeface="맑은 고딕"/>
              </a:rPr>
              <a:t>Hive </a:t>
            </a:r>
            <a:r>
              <a:rPr lang="en-US" altLang="ko-KR" sz="1300" b="1" dirty="0" smtClean="0">
                <a:latin typeface="맑은 고딕"/>
                <a:ea typeface="맑은 고딕"/>
              </a:rPr>
              <a:t>on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Tez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호튼웍스의</a:t>
            </a:r>
            <a:r>
              <a:rPr lang="ko-KR" altLang="en-US" sz="1300" b="1" dirty="0" smtClean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스팅거</a:t>
            </a:r>
            <a:r>
              <a:rPr lang="ko-KR" altLang="en-US" sz="1300" b="1" dirty="0" smtClean="0">
                <a:latin typeface="맑은 고딕"/>
                <a:ea typeface="맑은 고딕"/>
              </a:rPr>
              <a:t> 프로젝트 </a:t>
            </a:r>
            <a:r>
              <a:rPr lang="en-US" altLang="ko-KR" sz="1300" b="1" dirty="0" smtClean="0">
                <a:latin typeface="맑은 고딕"/>
                <a:ea typeface="맑은 고딕"/>
              </a:rPr>
              <a:t>-&gt; Hive</a:t>
            </a:r>
            <a:r>
              <a:rPr lang="ko-KR" altLang="en-US" sz="1300" b="1" dirty="0" smtClean="0">
                <a:latin typeface="맑은 고딕"/>
                <a:ea typeface="맑은 고딕"/>
              </a:rPr>
              <a:t>를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발전키고</a:t>
            </a:r>
            <a:r>
              <a:rPr lang="ko-KR" altLang="en-US" sz="1300" b="1" dirty="0" smtClean="0">
                <a:latin typeface="맑은 고딕"/>
                <a:ea typeface="맑은 고딕"/>
              </a:rPr>
              <a:t> 성능을 강화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MapReduce</a:t>
            </a:r>
            <a:r>
              <a:rPr lang="en-US" altLang="ko-KR" sz="1300" b="1" dirty="0" smtClean="0">
                <a:latin typeface="맑은 고딕"/>
                <a:ea typeface="맑은 고딕"/>
              </a:rPr>
              <a:t> -&gt; </a:t>
            </a:r>
            <a:r>
              <a:rPr lang="ko-KR" altLang="en-US" sz="1300" b="1" dirty="0" smtClean="0">
                <a:latin typeface="맑은 고딕"/>
                <a:ea typeface="맑은 고딕"/>
              </a:rPr>
              <a:t>새로운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MapReduce</a:t>
            </a:r>
            <a:r>
              <a:rPr lang="ko-KR" altLang="en-US" sz="1300" b="1" dirty="0" smtClean="0">
                <a:latin typeface="맑은 고딕"/>
                <a:ea typeface="맑은 고딕"/>
              </a:rPr>
              <a:t>인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Tez</a:t>
            </a:r>
            <a:r>
              <a:rPr lang="ko-KR" altLang="en-US" sz="1300" b="1" dirty="0" smtClean="0">
                <a:latin typeface="맑은 고딕"/>
                <a:ea typeface="맑은 고딕"/>
              </a:rPr>
              <a:t>를 지원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 </a:t>
            </a:r>
            <a:r>
              <a:rPr lang="ko-KR" altLang="en-US" sz="1300" b="1" dirty="0" smtClean="0">
                <a:latin typeface="맑은 고딕"/>
                <a:ea typeface="맑은 고딕"/>
              </a:rPr>
              <a:t>쿼리 엔진으로 빠른 응답 속도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ko-KR" altLang="en-US" sz="1300" b="1" dirty="0" smtClean="0">
                <a:latin typeface="맑은 고딕"/>
                <a:ea typeface="맑은 고딕"/>
              </a:rPr>
              <a:t>드릴</a:t>
            </a:r>
            <a:r>
              <a:rPr lang="en-US" altLang="ko-KR" sz="1300" b="1" dirty="0" smtClean="0">
                <a:latin typeface="맑은 고딕"/>
                <a:ea typeface="맑은 고딕"/>
              </a:rPr>
              <a:t>(Drill)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구글의</a:t>
            </a:r>
            <a:r>
              <a:rPr lang="ko-KR" altLang="en-US" sz="1300" b="1" dirty="0" smtClean="0">
                <a:latin typeface="맑은 고딕"/>
                <a:ea typeface="맑은 고딕"/>
              </a:rPr>
              <a:t>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Dremel</a:t>
            </a:r>
            <a:r>
              <a:rPr lang="en-US" altLang="ko-KR" sz="1300" b="1" dirty="0" smtClean="0">
                <a:latin typeface="맑은 고딕"/>
                <a:ea typeface="맑은 고딕"/>
              </a:rPr>
              <a:t>(</a:t>
            </a:r>
            <a:r>
              <a:rPr lang="ko-KR" altLang="en-US" sz="1300" b="1" dirty="0" smtClean="0">
                <a:latin typeface="맑은 고딕"/>
                <a:ea typeface="맑은 고딕"/>
              </a:rPr>
              <a:t>일명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BigQuery</a:t>
            </a:r>
            <a:r>
              <a:rPr lang="en-US" altLang="ko-KR" sz="1300" b="1" dirty="0" smtClean="0">
                <a:latin typeface="맑은 고딕"/>
                <a:ea typeface="맑은 고딕"/>
              </a:rPr>
              <a:t>)</a:t>
            </a:r>
            <a:r>
              <a:rPr lang="ko-KR" altLang="en-US" sz="1300" b="1" dirty="0" smtClean="0">
                <a:latin typeface="맑은 고딕"/>
                <a:ea typeface="맑은 고딕"/>
              </a:rPr>
              <a:t>의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오픈소스</a:t>
            </a:r>
            <a:r>
              <a:rPr lang="ko-KR" altLang="en-US" sz="1300" b="1" dirty="0" smtClean="0">
                <a:latin typeface="맑은 고딕"/>
                <a:ea typeface="맑은 고딕"/>
              </a:rPr>
              <a:t> 버전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높은 확장성과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하둡</a:t>
            </a:r>
            <a:r>
              <a:rPr lang="en-US" altLang="ko-KR" sz="1300" b="1" dirty="0" smtClean="0">
                <a:latin typeface="맑은 고딕"/>
                <a:ea typeface="맑은 고딕"/>
              </a:rPr>
              <a:t>/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NoSQL</a:t>
            </a:r>
            <a:r>
              <a:rPr lang="ko-KR" altLang="en-US" sz="1300" b="1" dirty="0" smtClean="0">
                <a:latin typeface="맑은 고딕"/>
                <a:ea typeface="맑은 고딕"/>
              </a:rPr>
              <a:t>과의 쿼리 인터페이스 지원이 특징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 err="1" smtClean="0">
                <a:latin typeface="맑은 고딕"/>
                <a:ea typeface="맑은 고딕"/>
              </a:rPr>
              <a:t>SparkSQL</a:t>
            </a:r>
            <a:r>
              <a:rPr lang="en-US" altLang="ko-KR" sz="1300" b="1" dirty="0" smtClean="0">
                <a:latin typeface="맑은 고딕"/>
                <a:ea typeface="맑은 고딕"/>
              </a:rPr>
              <a:t>(Shark)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스파크</a:t>
            </a:r>
            <a:r>
              <a:rPr lang="en-US" altLang="ko-KR" sz="1300" b="1" dirty="0" smtClean="0">
                <a:latin typeface="맑은 고딕"/>
                <a:ea typeface="맑은 고딕"/>
              </a:rPr>
              <a:t>(Spark)</a:t>
            </a:r>
            <a:r>
              <a:rPr lang="ko-KR" altLang="en-US" sz="1300" b="1" dirty="0" smtClean="0">
                <a:latin typeface="맑은 고딕"/>
                <a:ea typeface="맑은 고딕"/>
              </a:rPr>
              <a:t>는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인메모리</a:t>
            </a:r>
            <a:r>
              <a:rPr lang="ko-KR" altLang="en-US" sz="1300" b="1" dirty="0" smtClean="0">
                <a:latin typeface="맑은 고딕"/>
                <a:ea typeface="맑은 고딕"/>
              </a:rPr>
              <a:t> 기반의 초고속 분산병렬처리 프레임워크</a:t>
            </a:r>
            <a:r>
              <a:rPr lang="en-US" altLang="ko-KR" sz="1300" b="1" dirty="0" smtClean="0">
                <a:latin typeface="맑은 고딕"/>
                <a:ea typeface="맑은 고딕"/>
              </a:rPr>
              <a:t>. 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SparkSQL</a:t>
            </a:r>
            <a:r>
              <a:rPr lang="ko-KR" altLang="en-US" sz="1300" b="1" dirty="0" smtClean="0">
                <a:latin typeface="맑은 고딕"/>
                <a:ea typeface="맑은 고딕"/>
              </a:rPr>
              <a:t>은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</a:t>
            </a:r>
            <a:r>
              <a:rPr lang="ko-KR" altLang="en-US" sz="1300" b="1" dirty="0" smtClean="0">
                <a:latin typeface="맑은 고딕"/>
                <a:ea typeface="맑은 고딕"/>
              </a:rPr>
              <a:t>에 저장된 데이터에 </a:t>
            </a:r>
            <a:r>
              <a:rPr lang="en-US" altLang="ko-KR" sz="1300" b="1" dirty="0" smtClean="0">
                <a:latin typeface="맑은 고딕"/>
                <a:ea typeface="맑은 고딕"/>
              </a:rPr>
              <a:t>SQL </a:t>
            </a:r>
            <a:r>
              <a:rPr lang="ko-KR" altLang="en-US" sz="1300" b="1" dirty="0" smtClean="0">
                <a:latin typeface="맑은 고딕"/>
                <a:ea typeface="맑은 고딕"/>
              </a:rPr>
              <a:t>질의를 할 수 있는 것이 특징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초기 버전은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</a:t>
            </a:r>
            <a:r>
              <a:rPr lang="ko-KR" altLang="en-US" sz="1300" b="1" dirty="0" smtClean="0">
                <a:latin typeface="맑은 고딕"/>
                <a:ea typeface="맑은 고딕"/>
              </a:rPr>
              <a:t>의</a:t>
            </a:r>
            <a:r>
              <a:rPr lang="en-US" altLang="ko-KR" sz="1300" b="1" dirty="0" smtClean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소스코드를 일부 변경한 </a:t>
            </a:r>
            <a:r>
              <a:rPr lang="en-US" altLang="ko-KR" sz="1300" b="1" dirty="0" smtClean="0">
                <a:latin typeface="맑은 고딕"/>
                <a:ea typeface="맑은 고딕"/>
              </a:rPr>
              <a:t>Shark</a:t>
            </a: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 smtClean="0">
                <a:latin typeface="맑은 고딕"/>
                <a:ea typeface="맑은 고딕"/>
              </a:rPr>
              <a:t>Impala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 </a:t>
            </a:r>
            <a:r>
              <a:rPr lang="ko-KR" altLang="en-US" sz="1300" b="1" dirty="0" smtClean="0">
                <a:latin typeface="맑은 고딕"/>
                <a:ea typeface="맑은 고딕"/>
              </a:rPr>
              <a:t>사용자를 고려한 빠른 </a:t>
            </a:r>
            <a:r>
              <a:rPr lang="en-US" altLang="ko-KR" sz="1300" b="1" dirty="0" smtClean="0">
                <a:latin typeface="맑은 고딕"/>
                <a:ea typeface="맑은 고딕"/>
              </a:rPr>
              <a:t>SQL </a:t>
            </a:r>
            <a:r>
              <a:rPr lang="ko-KR" altLang="en-US" sz="1300" b="1" dirty="0" smtClean="0">
                <a:latin typeface="맑은 고딕"/>
                <a:ea typeface="맑은 고딕"/>
              </a:rPr>
              <a:t>쿼리 엔진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smtClean="0">
                <a:latin typeface="맑은 고딕"/>
                <a:ea typeface="맑은 고딕"/>
              </a:rPr>
              <a:t>HDFS</a:t>
            </a:r>
            <a:r>
              <a:rPr lang="ko-KR" altLang="en-US" sz="1300" b="1" smtClean="0">
                <a:latin typeface="맑은 고딕"/>
                <a:ea typeface="맑은 고딕"/>
              </a:rPr>
              <a:t>나 </a:t>
            </a:r>
            <a:r>
              <a:rPr lang="en-US" altLang="ko-KR" sz="1300" b="1" smtClean="0">
                <a:latin typeface="맑은 고딕"/>
                <a:ea typeface="맑은 고딕"/>
              </a:rPr>
              <a:t>HBase</a:t>
            </a:r>
            <a:r>
              <a:rPr lang="ko-KR" altLang="en-US" sz="1300" b="1" smtClean="0">
                <a:latin typeface="맑은 고딕"/>
                <a:ea typeface="맑은 고딕"/>
              </a:rPr>
              <a:t>에 </a:t>
            </a:r>
            <a:r>
              <a:rPr lang="ko-KR" altLang="en-US" sz="1300" b="1" dirty="0" smtClean="0">
                <a:latin typeface="맑은 고딕"/>
                <a:ea typeface="맑은 고딕"/>
              </a:rPr>
              <a:t>저장된 데이터를 대상으로 분석</a:t>
            </a:r>
            <a:r>
              <a:rPr lang="en-US" altLang="ko-KR" sz="1300" b="1" dirty="0" smtClean="0">
                <a:latin typeface="맑은 고딕"/>
                <a:ea typeface="맑은 고딕"/>
              </a:rPr>
              <a:t>, </a:t>
            </a:r>
            <a:r>
              <a:rPr lang="ko-KR" altLang="en-US" sz="1300" b="1" dirty="0" smtClean="0">
                <a:latin typeface="맑은 고딕"/>
                <a:ea typeface="맑은 고딕"/>
              </a:rPr>
              <a:t>문법은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HiveQL</a:t>
            </a:r>
            <a:r>
              <a:rPr lang="ko-KR" altLang="en-US" sz="1300" b="1" dirty="0" smtClean="0">
                <a:latin typeface="맑은 고딕"/>
                <a:ea typeface="맑은 고딕"/>
              </a:rPr>
              <a:t>과 동일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>
                <a:latin typeface="맑은 고딕"/>
                <a:ea typeface="맑은 고딕"/>
              </a:rPr>
              <a:t>Presto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페이스북에서</a:t>
            </a:r>
            <a:r>
              <a:rPr lang="ko-KR" altLang="en-US" sz="1300" b="1" dirty="0" smtClean="0">
                <a:latin typeface="맑은 고딕"/>
                <a:ea typeface="맑은 고딕"/>
              </a:rPr>
              <a:t> 개발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빠른 속도의 검색과 집계가 가능</a:t>
            </a:r>
            <a:endParaRPr lang="en-US" altLang="ko-KR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9068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412875"/>
            <a:ext cx="8842375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2275" name="제목 1"/>
          <p:cNvSpPr>
            <a:spLocks/>
          </p:cNvSpPr>
          <p:nvPr/>
        </p:nvSpPr>
        <p:spPr bwMode="auto">
          <a:xfrm>
            <a:off x="415925" y="188913"/>
            <a:ext cx="85074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000" b="1" dirty="0" smtClean="0">
                <a:solidFill>
                  <a:srgbClr val="FFFFFF"/>
                </a:solidFill>
              </a:rPr>
              <a:t># SQL </a:t>
            </a:r>
            <a:r>
              <a:rPr lang="en-US" altLang="en-US" sz="3000" b="1" dirty="0">
                <a:solidFill>
                  <a:srgbClr val="FFFFFF"/>
                </a:solidFill>
              </a:rPr>
              <a:t>on </a:t>
            </a:r>
            <a:r>
              <a:rPr lang="en-US" altLang="en-US" sz="3000" b="1" dirty="0" err="1" smtClean="0">
                <a:solidFill>
                  <a:srgbClr val="FFFFFF"/>
                </a:solidFill>
              </a:rPr>
              <a:t>Hadoop</a:t>
            </a:r>
            <a:endParaRPr lang="ko-KR" altLang="en-US" sz="3000" b="1" dirty="0">
              <a:solidFill>
                <a:srgbClr val="FFFFFF"/>
              </a:solidFill>
            </a:endParaRPr>
          </a:p>
        </p:txBody>
      </p:sp>
      <p:sp>
        <p:nvSpPr>
          <p:cNvPr id="182276" name="제목 1"/>
          <p:cNvSpPr>
            <a:spLocks noGrp="1"/>
          </p:cNvSpPr>
          <p:nvPr>
            <p:ph type="ctrTitle" idx="4294967295"/>
          </p:nvPr>
        </p:nvSpPr>
        <p:spPr>
          <a:xfrm>
            <a:off x="415925" y="1196975"/>
            <a:ext cx="8507413" cy="4222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pPr marL="261938" indent="-261938" algn="l"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smtClean="0"/>
              <a:t>S/W </a:t>
            </a:r>
            <a:endParaRPr lang="ko-KR" altLang="en-US" sz="1800" b="1" smtClean="0"/>
          </a:p>
        </p:txBody>
      </p:sp>
    </p:spTree>
    <p:extLst>
      <p:ext uri="{BB962C8B-B14F-4D97-AF65-F5344CB8AC3E}">
        <p14:creationId xmlns:p14="http://schemas.microsoft.com/office/powerpoint/2010/main" val="258236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제목 1"/>
          <p:cNvSpPr>
            <a:spLocks noGrp="1"/>
          </p:cNvSpPr>
          <p:nvPr>
            <p:ph type="ctrTitle" idx="4294967295"/>
          </p:nvPr>
        </p:nvSpPr>
        <p:spPr>
          <a:xfrm>
            <a:off x="415925" y="1196975"/>
            <a:ext cx="8507413" cy="39196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pPr marL="261938" indent="-261938" algn="l"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dirty="0" smtClean="0"/>
              <a:t>Presto </a:t>
            </a:r>
            <a:r>
              <a:rPr lang="ko-KR" altLang="en-US" sz="1800" b="1" dirty="0" smtClean="0"/>
              <a:t>아키텍처</a:t>
            </a:r>
          </a:p>
        </p:txBody>
      </p:sp>
      <p:pic>
        <p:nvPicPr>
          <p:cNvPr id="19149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736725"/>
            <a:ext cx="8280400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1492" name="제목 1"/>
          <p:cNvSpPr>
            <a:spLocks/>
          </p:cNvSpPr>
          <p:nvPr/>
        </p:nvSpPr>
        <p:spPr bwMode="auto">
          <a:xfrm>
            <a:off x="415925" y="188913"/>
            <a:ext cx="85074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000" b="1" dirty="0">
                <a:solidFill>
                  <a:srgbClr val="FFFFFF"/>
                </a:solidFill>
              </a:rPr>
              <a:t># SQL on </a:t>
            </a:r>
            <a:r>
              <a:rPr lang="en-US" altLang="en-US" sz="3000" b="1" dirty="0" err="1">
                <a:solidFill>
                  <a:srgbClr val="FFFFFF"/>
                </a:solidFill>
              </a:rPr>
              <a:t>Hadoop</a:t>
            </a:r>
            <a:endParaRPr lang="ko-KR" altLang="en-US" sz="3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7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제목 1"/>
          <p:cNvSpPr>
            <a:spLocks noGrp="1"/>
          </p:cNvSpPr>
          <p:nvPr>
            <p:ph type="ctrTitle" idx="4294967295"/>
          </p:nvPr>
        </p:nvSpPr>
        <p:spPr>
          <a:xfrm>
            <a:off x="415925" y="1196975"/>
            <a:ext cx="8507413" cy="4222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pPr marL="261938" indent="-261938" algn="l"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smtClean="0"/>
              <a:t>Query Execution Flow </a:t>
            </a:r>
            <a:endParaRPr lang="ko-KR" altLang="en-US" sz="1800" b="1" smtClean="0"/>
          </a:p>
        </p:txBody>
      </p:sp>
      <p:pic>
        <p:nvPicPr>
          <p:cNvPr id="1925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700213"/>
            <a:ext cx="8724900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2516" name="제목 1"/>
          <p:cNvSpPr>
            <a:spLocks/>
          </p:cNvSpPr>
          <p:nvPr/>
        </p:nvSpPr>
        <p:spPr bwMode="auto">
          <a:xfrm>
            <a:off x="415925" y="188913"/>
            <a:ext cx="85074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000" b="1" dirty="0">
                <a:solidFill>
                  <a:srgbClr val="FFFFFF"/>
                </a:solidFill>
              </a:rPr>
              <a:t># SQL on </a:t>
            </a:r>
            <a:r>
              <a:rPr lang="en-US" altLang="en-US" sz="3000" b="1" dirty="0" err="1">
                <a:solidFill>
                  <a:srgbClr val="FFFFFF"/>
                </a:solidFill>
              </a:rPr>
              <a:t>Hadoop</a:t>
            </a:r>
            <a:endParaRPr lang="ko-KR" altLang="en-US" sz="3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59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제목 1"/>
          <p:cNvSpPr>
            <a:spLocks noGrp="1"/>
          </p:cNvSpPr>
          <p:nvPr>
            <p:ph type="ctrTitle" idx="4294967295"/>
          </p:nvPr>
        </p:nvSpPr>
        <p:spPr>
          <a:xfrm>
            <a:off x="415925" y="1196975"/>
            <a:ext cx="8507413" cy="39196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pPr marL="261938" indent="-261938" algn="l"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dirty="0" smtClean="0"/>
              <a:t>Hive </a:t>
            </a:r>
            <a:r>
              <a:rPr lang="en-US" altLang="ko-KR" sz="1800" b="1" dirty="0" err="1" smtClean="0"/>
              <a:t>vs</a:t>
            </a:r>
            <a:r>
              <a:rPr lang="en-US" altLang="ko-KR" sz="1800" b="1" dirty="0" smtClean="0"/>
              <a:t> Presto</a:t>
            </a:r>
            <a:endParaRPr lang="ko-KR" altLang="en-US" sz="1800" b="1" dirty="0" smtClean="0"/>
          </a:p>
        </p:txBody>
      </p:sp>
      <p:sp>
        <p:nvSpPr>
          <p:cNvPr id="192516" name="제목 1"/>
          <p:cNvSpPr>
            <a:spLocks/>
          </p:cNvSpPr>
          <p:nvPr/>
        </p:nvSpPr>
        <p:spPr bwMode="auto">
          <a:xfrm>
            <a:off x="415925" y="188913"/>
            <a:ext cx="85074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000" b="1" dirty="0">
                <a:solidFill>
                  <a:srgbClr val="FFFFFF"/>
                </a:solidFill>
              </a:rPr>
              <a:t># SQL on </a:t>
            </a:r>
            <a:r>
              <a:rPr lang="en-US" altLang="en-US" sz="3000" b="1" dirty="0" err="1">
                <a:solidFill>
                  <a:srgbClr val="FFFFFF"/>
                </a:solidFill>
              </a:rPr>
              <a:t>Hadoop</a:t>
            </a:r>
            <a:endParaRPr lang="ko-KR" altLang="en-US" sz="3000" b="1" dirty="0">
              <a:solidFill>
                <a:srgbClr val="FFFFFF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644" y="1643084"/>
            <a:ext cx="6480720" cy="48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dirty="0" smtClean="0">
                <a:solidFill>
                  <a:srgbClr val="FFFFFF"/>
                </a:solidFill>
              </a:rPr>
              <a:t># </a:t>
            </a:r>
            <a:r>
              <a:rPr lang="ko-KR" altLang="en-US" sz="3200" b="1" dirty="0" smtClean="0">
                <a:solidFill>
                  <a:srgbClr val="FFFFFF"/>
                </a:solidFill>
              </a:rPr>
              <a:t>실습 환경</a:t>
            </a:r>
            <a:endParaRPr kumimoji="0"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0061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전체 구성도</a:t>
            </a:r>
            <a:r>
              <a:rPr lang="en-US" altLang="ko-KR" b="1" smtClean="0"/>
              <a:t>(</a:t>
            </a:r>
            <a:r>
              <a:rPr lang="ko-KR" altLang="en-US" b="1" smtClean="0"/>
              <a:t>실제 실습 환경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68524" y="4617132"/>
            <a:ext cx="1548172" cy="194421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인프라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550600" y="4617132"/>
            <a:ext cx="6650871" cy="1944215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92760" y="6057292"/>
            <a:ext cx="619268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376110" y="5265204"/>
            <a:ext cx="1654620" cy="674190"/>
            <a:chOff x="2792760" y="5268356"/>
            <a:chExt cx="1654620" cy="674190"/>
          </a:xfrm>
        </p:grpSpPr>
        <p:pic>
          <p:nvPicPr>
            <p:cNvPr id="1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756756" y="5265204"/>
            <a:ext cx="1619354" cy="674190"/>
            <a:chOff x="2792760" y="5268356"/>
            <a:chExt cx="1619354" cy="674190"/>
          </a:xfrm>
        </p:grpSpPr>
        <p:pic>
          <p:nvPicPr>
            <p:cNvPr id="1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938711" y="5265204"/>
            <a:ext cx="1654620" cy="674190"/>
            <a:chOff x="2792760" y="5268356"/>
            <a:chExt cx="1654620" cy="674190"/>
          </a:xfrm>
        </p:grpSpPr>
        <p:pic>
          <p:nvPicPr>
            <p:cNvPr id="19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직사각형 19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444559" y="5265204"/>
            <a:ext cx="1654620" cy="674190"/>
            <a:chOff x="2792760" y="5268356"/>
            <a:chExt cx="1654620" cy="674190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4" name="직선 연결선 23"/>
          <p:cNvCxnSpPr/>
          <p:nvPr/>
        </p:nvCxnSpPr>
        <p:spPr bwMode="auto">
          <a:xfrm flipH="1">
            <a:off x="2915962" y="5013176"/>
            <a:ext cx="6069486" cy="1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24" y="4666994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직선 연결선 28"/>
          <p:cNvCxnSpPr>
            <a:endCxn id="26" idx="2"/>
          </p:cNvCxnSpPr>
          <p:nvPr/>
        </p:nvCxnSpPr>
        <p:spPr>
          <a:xfrm flipV="1">
            <a:off x="5950704" y="4849395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566432" y="5067444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203420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6748387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8254235" y="5087400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80"/>
          <p:cNvSpPr>
            <a:spLocks noChangeArrowheads="1"/>
          </p:cNvSpPr>
          <p:nvPr/>
        </p:nvSpPr>
        <p:spPr bwMode="auto">
          <a:xfrm>
            <a:off x="6118923" y="4650546"/>
            <a:ext cx="12589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[ Network ]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668524" y="2540638"/>
            <a:ext cx="1548172" cy="97597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Apache 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Hadoop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68524" y="3575560"/>
            <a:ext cx="8532947" cy="982623"/>
            <a:chOff x="668524" y="3575560"/>
            <a:chExt cx="8532947" cy="982623"/>
          </a:xfrm>
        </p:grpSpPr>
        <p:sp>
          <p:nvSpPr>
            <p:cNvPr id="44" name="직사각형 43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Operating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6.9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32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2550599" y="2540638"/>
            <a:ext cx="6650871" cy="982623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94856" y="2670900"/>
            <a:ext cx="2023170" cy="361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HDFS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818026" y="2670900"/>
            <a:ext cx="2043186" cy="36105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MapReduce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861212" y="2667183"/>
            <a:ext cx="1944216" cy="36105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Yarn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792760" y="3028234"/>
            <a:ext cx="6012668" cy="3651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Apache Hadoop 2.X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668524" y="1510273"/>
            <a:ext cx="8532947" cy="982623"/>
            <a:chOff x="668524" y="3575560"/>
            <a:chExt cx="8532947" cy="982623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Hadoop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Ecosystem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err="1" smtClean="0">
                  <a:solidFill>
                    <a:schemeClr val="tx1"/>
                  </a:solidFill>
                  <a:latin typeface="+mn-ea"/>
                </a:rPr>
                <a:t>Mysql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 DB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Hive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err="1" smtClean="0">
                  <a:solidFill>
                    <a:schemeClr val="tx1"/>
                  </a:solidFill>
                  <a:latin typeface="+mn-ea"/>
                </a:rPr>
                <a:t>MetaStore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Presto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Spark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59" name="직선 화살표 연결선 58"/>
          <p:cNvCxnSpPr>
            <a:stCxn id="46" idx="0"/>
          </p:cNvCxnSpPr>
          <p:nvPr/>
        </p:nvCxnSpPr>
        <p:spPr>
          <a:xfrm flipV="1">
            <a:off x="3806441" y="2276872"/>
            <a:ext cx="1527385" cy="394028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flipV="1">
            <a:off x="4088904" y="1998104"/>
            <a:ext cx="972108" cy="13140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V="1">
            <a:off x="5910365" y="1989226"/>
            <a:ext cx="576889" cy="8878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구름 모양 설명선 1"/>
          <p:cNvSpPr/>
          <p:nvPr/>
        </p:nvSpPr>
        <p:spPr>
          <a:xfrm>
            <a:off x="5272560" y="260649"/>
            <a:ext cx="3352848" cy="1058552"/>
          </a:xfrm>
          <a:prstGeom prst="cloudCallout">
            <a:avLst>
              <a:gd name="adj1" fmla="val -29100"/>
              <a:gd name="adj2" fmla="val 7458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Hive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가 아닌</a:t>
            </a:r>
            <a:endParaRPr lang="en-US" altLang="ko-KR" sz="1400" b="1" dirty="0" smtClean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sz="1400" b="1" dirty="0" err="1" smtClean="0">
                <a:latin typeface="맑은 고딕" pitchFamily="50" charset="-127"/>
                <a:ea typeface="맑은 고딕" pitchFamily="50" charset="-127"/>
              </a:rPr>
              <a:t>MetaStore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 Service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dirty="0">
                <a:solidFill>
                  <a:srgbClr val="FFFFFF"/>
                </a:solidFill>
              </a:rPr>
              <a:t># Presto </a:t>
            </a:r>
            <a:r>
              <a:rPr lang="ko-KR" altLang="en-US" sz="3200" b="1" dirty="0">
                <a:solidFill>
                  <a:srgbClr val="FFFFFF"/>
                </a:solidFill>
              </a:rPr>
              <a:t>실습 전체 절차</a:t>
            </a:r>
            <a:endParaRPr kumimoji="0"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/>
              <a:t>작업 절차</a:t>
            </a:r>
            <a:endParaRPr lang="ko-KR" altLang="en-US" b="1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4831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hadoop/sbin/start-dfs.sh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Hive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시작하기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Presto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Coordinator Server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설정하고 시작하기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세컨드노드에서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Presto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Worker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설정하고 시작하기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Presto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CLI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실행하기</a:t>
            </a: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465168" y="1124744"/>
            <a:ext cx="1548172" cy="648072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1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>
                <a:solidFill>
                  <a:srgbClr val="000000"/>
                </a:solidFill>
              </a:rPr>
              <a:t>HDFS </a:t>
            </a:r>
            <a:r>
              <a:rPr lang="ko-KR" altLang="en-US" sz="1400" b="1" dirty="0">
                <a:solidFill>
                  <a:srgbClr val="000000"/>
                </a:solidFill>
              </a:rPr>
              <a:t>시작하기</a:t>
            </a: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5560895" y="2211164"/>
            <a:ext cx="3312368" cy="713780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2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marL="0" indent="0" algn="ctr" latinLnBrk="0">
              <a:spcBef>
                <a:spcPct val="30000"/>
              </a:spcBef>
            </a:pP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시작하기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560894" y="3392996"/>
            <a:ext cx="3334543" cy="879488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3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marL="0" indent="0" algn="ctr" latinLnBrk="0">
              <a:spcBef>
                <a:spcPct val="30000"/>
              </a:spcBef>
            </a:pP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Coordinator Server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설정하고 시작하기</a:t>
            </a:r>
          </a:p>
        </p:txBody>
      </p:sp>
      <p:sp>
        <p:nvSpPr>
          <p:cNvPr id="31" name="아래쪽 화살표 30"/>
          <p:cNvSpPr/>
          <p:nvPr/>
        </p:nvSpPr>
        <p:spPr>
          <a:xfrm>
            <a:off x="6717584" y="1772816"/>
            <a:ext cx="998991" cy="438348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6717583" y="2951981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4" name="모서리가 둥근 직사각형 33"/>
          <p:cNvSpPr/>
          <p:nvPr/>
        </p:nvSpPr>
        <p:spPr bwMode="auto">
          <a:xfrm>
            <a:off x="5583070" y="5948545"/>
            <a:ext cx="3312368" cy="724891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5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Presto CLI 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실행하기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5" name="모서리가 둥근 직사각형 34"/>
          <p:cNvSpPr/>
          <p:nvPr/>
        </p:nvSpPr>
        <p:spPr bwMode="auto">
          <a:xfrm>
            <a:off x="5538720" y="4657213"/>
            <a:ext cx="3334543" cy="879488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4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marL="0" indent="0" algn="ctr" latinLnBrk="0">
              <a:spcBef>
                <a:spcPct val="30000"/>
              </a:spcBef>
            </a:pP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</a:t>
            </a:r>
            <a:r>
              <a:rPr lang="en-US" altLang="ko-KR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Worker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설정하고 시작하기</a:t>
            </a:r>
          </a:p>
        </p:txBody>
      </p:sp>
      <p:sp>
        <p:nvSpPr>
          <p:cNvPr id="36" name="아래쪽 화살표 35"/>
          <p:cNvSpPr/>
          <p:nvPr/>
        </p:nvSpPr>
        <p:spPr>
          <a:xfrm>
            <a:off x="6706495" y="4272484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7" name="아래쪽 화살표 36"/>
          <p:cNvSpPr/>
          <p:nvPr/>
        </p:nvSpPr>
        <p:spPr>
          <a:xfrm>
            <a:off x="6706494" y="5536701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6491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dirty="0">
                <a:solidFill>
                  <a:srgbClr val="FFFFFF"/>
                </a:solidFill>
              </a:rPr>
              <a:t># Presto </a:t>
            </a:r>
            <a:r>
              <a:rPr lang="ko-KR" altLang="en-US" sz="3200" b="1" dirty="0" smtClean="0">
                <a:solidFill>
                  <a:srgbClr val="FFFFFF"/>
                </a:solidFill>
              </a:rPr>
              <a:t>설정 개요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4116255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dirty="0" smtClean="0">
                <a:solidFill>
                  <a:prstClr val="black"/>
                </a:solidFill>
              </a:rPr>
              <a:t>주요 </a:t>
            </a:r>
            <a:r>
              <a:rPr lang="en-US" altLang="ko-KR" sz="1600" b="1" dirty="0">
                <a:solidFill>
                  <a:prstClr val="black"/>
                </a:solidFill>
              </a:rPr>
              <a:t>Presto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설정 파일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(</a:t>
            </a:r>
            <a:r>
              <a:rPr lang="ko-KR" altLang="en-US" sz="1600" b="1" dirty="0" err="1" smtClean="0">
                <a:solidFill>
                  <a:prstClr val="black"/>
                </a:solidFill>
              </a:rPr>
              <a:t>하둡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, Hive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포함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)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241927"/>
              </p:ext>
            </p:extLst>
          </p:nvPr>
        </p:nvGraphicFramePr>
        <p:xfrm>
          <a:off x="560761" y="1732197"/>
          <a:ext cx="8568952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867"/>
                <a:gridCol w="3060340"/>
                <a:gridCol w="4464745"/>
              </a:tblGrid>
              <a:tr h="2734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구분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설정 파일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기능</a:t>
                      </a:r>
                      <a:endParaRPr lang="ko-KR" altLang="en-US" sz="1400"/>
                    </a:p>
                  </a:txBody>
                  <a:tcPr/>
                </a:tc>
              </a:tr>
              <a:tr h="695931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 </a:t>
                      </a: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/home/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hadoop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/.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bashrc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하둡과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위한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리눅스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환경설정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JAVA_HOME,</a:t>
                      </a: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HADOOP_HOME, HADOOP_CONF_DIR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HIVE_HOME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 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/>
                </a:tc>
              </a:tr>
              <a:tr h="6959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config.properties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 Server( Coordinator &amp; Worker )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2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Coordinator </a:t>
                      </a:r>
                      <a:r>
                        <a:rPr lang="ko-KR" altLang="en-US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여부</a:t>
                      </a:r>
                      <a:endParaRPr lang="en-US" altLang="ko-KR" sz="1200" b="1" dirty="0" smtClean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Coordinator URI </a:t>
                      </a:r>
                      <a:r>
                        <a:rPr lang="ko-KR" altLang="en-US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Port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사용 메모리</a:t>
                      </a:r>
                      <a:endParaRPr lang="ko-KR" altLang="en-US" sz="12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7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jvm.config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JVM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7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node.properties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 Server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노드의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식별자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7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/catalog/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jmx.properties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커넥터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JMX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541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presto/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/catalog/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hive.properties</a:t>
                      </a:r>
                      <a:endParaRPr lang="en-US" altLang="ko-KR" sz="14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커넥터 및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en-US" altLang="ko-KR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MetaStore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2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커넥터 유형</a:t>
                      </a: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(hive-hadoop2)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en-US" altLang="ko-KR" sz="1200" b="1" dirty="0" err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MetaStore</a:t>
                      </a: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URI </a:t>
                      </a:r>
                      <a:r>
                        <a:rPr lang="ko-KR" altLang="en-US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95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</a:t>
                      </a: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home/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hadoop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/hive/</a:t>
                      </a:r>
                      <a:endParaRPr lang="en-US" altLang="ko-KR" sz="14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conf/hive-site.xml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설정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en-US" altLang="ko-KR" sz="1200" b="1" dirty="0" err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Meta</a:t>
                      </a:r>
                      <a:r>
                        <a:rPr lang="en-US" altLang="ko-KR" sz="1200" b="1" baseline="0" dirty="0" err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Store</a:t>
                      </a: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</a:t>
                      </a:r>
                      <a:r>
                        <a:rPr lang="ko-KR" altLang="en-US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200" b="1" baseline="0" dirty="0" smtClean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JDBC URL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DB User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DB Password</a:t>
                      </a:r>
                      <a:endParaRPr lang="ko-KR" altLang="en-US" sz="12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541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 </a:t>
                      </a: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hdfs-site.xml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관련된 속성 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네임노드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세컨드노드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데이터노드의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각종 포트 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파일의 위치 지정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03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</a:t>
            </a:r>
            <a:r>
              <a:rPr kumimoji="0" lang="ko-KR" altLang="en-US" sz="3000" b="1">
                <a:solidFill>
                  <a:prstClr val="white"/>
                </a:solidFill>
              </a:rPr>
              <a:t>가상 머신 시작하고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접속하기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121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가상 </a:t>
            </a:r>
            <a:r>
              <a:rPr lang="ko-KR" altLang="en-US" b="1" dirty="0">
                <a:solidFill>
                  <a:prstClr val="black"/>
                </a:solidFill>
              </a:rPr>
              <a:t>머신 </a:t>
            </a:r>
            <a:r>
              <a:rPr lang="en-US" altLang="ko-KR" b="1" dirty="0">
                <a:solidFill>
                  <a:prstClr val="black"/>
                </a:solidFill>
              </a:rPr>
              <a:t>3</a:t>
            </a:r>
            <a:r>
              <a:rPr lang="ko-KR" altLang="en-US" b="1" dirty="0">
                <a:solidFill>
                  <a:prstClr val="black"/>
                </a:solidFill>
              </a:rPr>
              <a:t>대를 모두 시작</a:t>
            </a:r>
            <a:r>
              <a:rPr lang="en-US" altLang="ko-KR" b="1" dirty="0">
                <a:solidFill>
                  <a:prstClr val="black"/>
                </a:solidFill>
              </a:rPr>
              <a:t>( </a:t>
            </a:r>
            <a:r>
              <a:rPr lang="ko-KR" altLang="en-US" b="1" dirty="0">
                <a:solidFill>
                  <a:prstClr val="black"/>
                </a:solidFill>
              </a:rPr>
              <a:t>전원 </a:t>
            </a:r>
            <a:r>
              <a:rPr lang="en-US" altLang="ko-KR" b="1" dirty="0">
                <a:solidFill>
                  <a:prstClr val="black"/>
                </a:solidFill>
              </a:rPr>
              <a:t>On )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hd2-namenode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hd3-secondnode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빗면 1"/>
          <p:cNvSpPr/>
          <p:nvPr/>
        </p:nvSpPr>
        <p:spPr>
          <a:xfrm>
            <a:off x="6025287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prstClr val="white"/>
                </a:solidFill>
              </a:rPr>
              <a:t>Virtual-Box</a:t>
            </a:r>
            <a:endParaRPr lang="ko-KR" altLang="en-US" sz="2400" dirty="0">
              <a:solidFill>
                <a:prstClr val="white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3" y="2312876"/>
            <a:ext cx="2428678" cy="15938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44" y="3717032"/>
            <a:ext cx="2428678" cy="15938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003" y="5157192"/>
            <a:ext cx="2428678" cy="1593820"/>
          </a:xfrm>
          <a:prstGeom prst="rect">
            <a:avLst/>
          </a:prstGeom>
        </p:spPr>
      </p:pic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80718" y="3544328"/>
            <a:ext cx="224324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Putty</a:t>
            </a:r>
            <a:r>
              <a:rPr lang="ko-KR" altLang="en-US" b="1" dirty="0" smtClean="0">
                <a:solidFill>
                  <a:prstClr val="black"/>
                </a:solidFill>
              </a:rPr>
              <a:t>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ssh</a:t>
            </a:r>
            <a:r>
              <a:rPr lang="en-US" altLang="ko-KR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</a:rPr>
              <a:t>접속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90218" y="4094373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Putty.exe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(hd1-client)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: 192.168.56.21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로그인 아이디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가로로 말린 두루마리 모양 11"/>
          <p:cNvSpPr/>
          <p:nvPr/>
        </p:nvSpPr>
        <p:spPr>
          <a:xfrm>
            <a:off x="3144651" y="4513942"/>
            <a:ext cx="2556284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286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# Presto </a:t>
            </a:r>
            <a:r>
              <a:rPr kumimoji="0" lang="ko-KR" altLang="en-US" sz="3000" b="1" dirty="0" smtClean="0">
                <a:solidFill>
                  <a:prstClr val="white"/>
                </a:solidFill>
              </a:rPr>
              <a:t>실행 아키텍처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8055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Presto + 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69124" y="3973785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3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1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065503" y="1051572"/>
            <a:ext cx="3135969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>
                  <a:shade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1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6516" y="1592796"/>
            <a:ext cx="2205998" cy="2377428"/>
            <a:chOff x="1678319" y="1692276"/>
            <a:chExt cx="3310685" cy="1776588"/>
          </a:xfrm>
        </p:grpSpPr>
        <p:sp>
          <p:nvSpPr>
            <p:cNvPr id="28" name="빗면 27"/>
            <p:cNvSpPr/>
            <p:nvPr/>
          </p:nvSpPr>
          <p:spPr>
            <a:xfrm>
              <a:off x="1678319" y="2288681"/>
              <a:ext cx="3310685" cy="1180183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5032" y="169227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[ 1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client ]</a:t>
              </a:r>
            </a:p>
            <a:p>
              <a:pPr algn="ctr"/>
              <a:r>
                <a:rPr lang="en-US" altLang="ko-KR" sz="1400" b="1" smtClean="0"/>
                <a:t>enp0s8 192.168.56.21</a:t>
              </a:r>
              <a:endParaRPr lang="ko-KR" altLang="en-US" sz="14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287168" y="3140403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client.hadoop.kr</a:t>
              </a:r>
              <a:endParaRPr lang="ko-KR" altLang="en-US" sz="1400"/>
            </a:p>
          </p:txBody>
        </p:sp>
      </p:grpSp>
      <p:sp>
        <p:nvSpPr>
          <p:cNvPr id="49" name="줄무늬가 있는 오른쪽 화살표 48"/>
          <p:cNvSpPr/>
          <p:nvPr/>
        </p:nvSpPr>
        <p:spPr>
          <a:xfrm>
            <a:off x="770697" y="2492109"/>
            <a:ext cx="1857636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Presto CLI</a:t>
            </a:r>
          </a:p>
          <a:p>
            <a:pPr algn="ctr"/>
            <a:r>
              <a:rPr lang="en-US" altLang="ko-KR" sz="1400" dirty="0" smtClean="0"/>
              <a:t>$ presto</a:t>
            </a:r>
            <a:endParaRPr lang="ko-KR" altLang="en-US" sz="1400" dirty="0"/>
          </a:p>
        </p:txBody>
      </p:sp>
      <p:sp>
        <p:nvSpPr>
          <p:cNvPr id="2" name="순서도: 종속 처리 1"/>
          <p:cNvSpPr/>
          <p:nvPr/>
        </p:nvSpPr>
        <p:spPr>
          <a:xfrm>
            <a:off x="800649" y="4224929"/>
            <a:ext cx="1800306" cy="836242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Presto</a:t>
            </a:r>
          </a:p>
          <a:p>
            <a:pPr algn="ctr"/>
            <a:r>
              <a:rPr lang="en-US" altLang="ko-KR" dirty="0" smtClean="0"/>
              <a:t>Driver</a:t>
            </a:r>
            <a:endParaRPr lang="ko-KR" altLang="en-US" dirty="0"/>
          </a:p>
        </p:txBody>
      </p:sp>
      <p:sp>
        <p:nvSpPr>
          <p:cNvPr id="42" name="순서도: 종속 처리 41"/>
          <p:cNvSpPr/>
          <p:nvPr/>
        </p:nvSpPr>
        <p:spPr>
          <a:xfrm>
            <a:off x="3700572" y="3019222"/>
            <a:ext cx="1885634" cy="618650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Presto</a:t>
            </a:r>
          </a:p>
          <a:p>
            <a:pPr algn="ctr"/>
            <a:r>
              <a:rPr lang="en-US" altLang="ko-KR" dirty="0" smtClean="0"/>
              <a:t>Worker</a:t>
            </a:r>
            <a:endParaRPr lang="en-US" altLang="ko-KR" dirty="0"/>
          </a:p>
        </p:txBody>
      </p:sp>
      <p:sp>
        <p:nvSpPr>
          <p:cNvPr id="43" name="순서도: 종속 처리 42"/>
          <p:cNvSpPr/>
          <p:nvPr/>
        </p:nvSpPr>
        <p:spPr>
          <a:xfrm>
            <a:off x="3743236" y="5712362"/>
            <a:ext cx="1800306" cy="621851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Presto</a:t>
            </a:r>
          </a:p>
          <a:p>
            <a:pPr algn="ctr"/>
            <a:r>
              <a:rPr lang="en-US" altLang="ko-KR" dirty="0"/>
              <a:t>Worker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481705" y="1051572"/>
            <a:ext cx="5910617" cy="285868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454327" y="4008629"/>
            <a:ext cx="5937995" cy="274605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22253" y="1428720"/>
            <a:ext cx="2514523" cy="510620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/>
          <p:cNvCxnSpPr>
            <a:endCxn id="2" idx="0"/>
          </p:cNvCxnSpPr>
          <p:nvPr/>
        </p:nvCxnSpPr>
        <p:spPr>
          <a:xfrm>
            <a:off x="1654021" y="3140968"/>
            <a:ext cx="46781" cy="1083961"/>
          </a:xfrm>
          <a:prstGeom prst="straightConnector1">
            <a:avLst/>
          </a:prstGeom>
          <a:ln w="69850" cmpd="dbl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종속 처리 87"/>
          <p:cNvSpPr/>
          <p:nvPr/>
        </p:nvSpPr>
        <p:spPr>
          <a:xfrm>
            <a:off x="3700572" y="1460400"/>
            <a:ext cx="1885634" cy="858668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Presto</a:t>
            </a:r>
          </a:p>
          <a:p>
            <a:pPr algn="ctr"/>
            <a:r>
              <a:rPr lang="en-US" altLang="ko-KR" dirty="0" smtClean="0"/>
              <a:t>Coordinator</a:t>
            </a:r>
          </a:p>
          <a:p>
            <a:pPr algn="ctr"/>
            <a:r>
              <a:rPr lang="en-US" altLang="ko-KR" dirty="0" smtClean="0"/>
              <a:t>Server</a:t>
            </a:r>
            <a:endParaRPr lang="ko-KR" altLang="en-US" dirty="0"/>
          </a:p>
        </p:txBody>
      </p:sp>
      <p:cxnSp>
        <p:nvCxnSpPr>
          <p:cNvPr id="95" name="직선 화살표 연결선 94"/>
          <p:cNvCxnSpPr>
            <a:stCxn id="2" idx="3"/>
            <a:endCxn id="88" idx="1"/>
          </p:cNvCxnSpPr>
          <p:nvPr/>
        </p:nvCxnSpPr>
        <p:spPr>
          <a:xfrm flipV="1">
            <a:off x="2600955" y="1889734"/>
            <a:ext cx="1099617" cy="2753316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원통 54"/>
          <p:cNvSpPr/>
          <p:nvPr/>
        </p:nvSpPr>
        <p:spPr>
          <a:xfrm>
            <a:off x="794824" y="5454357"/>
            <a:ext cx="1813076" cy="947063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Hive</a:t>
            </a:r>
          </a:p>
          <a:p>
            <a:pPr algn="ctr"/>
            <a:r>
              <a:rPr lang="en-US" altLang="ko-KR" dirty="0" err="1" smtClean="0"/>
              <a:t>MetaStore</a:t>
            </a:r>
            <a:endParaRPr lang="ko-KR" altLang="en-US" dirty="0"/>
          </a:p>
        </p:txBody>
      </p:sp>
      <p:sp>
        <p:nvSpPr>
          <p:cNvPr id="67" name="원통 66"/>
          <p:cNvSpPr/>
          <p:nvPr/>
        </p:nvSpPr>
        <p:spPr>
          <a:xfrm>
            <a:off x="7732319" y="1735648"/>
            <a:ext cx="1110581" cy="583420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Mysql</a:t>
            </a:r>
            <a:r>
              <a:rPr lang="en-US" altLang="ko-KR" sz="1400" dirty="0" smtClean="0"/>
              <a:t> DB</a:t>
            </a:r>
            <a:endParaRPr lang="ko-KR" altLang="en-US" sz="1400" dirty="0"/>
          </a:p>
        </p:txBody>
      </p:sp>
      <p:cxnSp>
        <p:nvCxnSpPr>
          <p:cNvPr id="68" name="직선 화살표 연결선 67"/>
          <p:cNvCxnSpPr>
            <a:stCxn id="55" idx="0"/>
            <a:endCxn id="67" idx="3"/>
          </p:cNvCxnSpPr>
          <p:nvPr/>
        </p:nvCxnSpPr>
        <p:spPr>
          <a:xfrm flipV="1">
            <a:off x="1701362" y="2319068"/>
            <a:ext cx="6586248" cy="3372055"/>
          </a:xfrm>
          <a:prstGeom prst="straightConnector1">
            <a:avLst/>
          </a:prstGeom>
          <a:ln w="698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flipV="1">
            <a:off x="5285328" y="2134700"/>
            <a:ext cx="98773" cy="3611874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V="1">
            <a:off x="5173760" y="2186280"/>
            <a:ext cx="12795" cy="1217304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십자형 93"/>
          <p:cNvSpPr/>
          <p:nvPr/>
        </p:nvSpPr>
        <p:spPr>
          <a:xfrm>
            <a:off x="4301351" y="2319067"/>
            <a:ext cx="684076" cy="678733"/>
          </a:xfrm>
          <a:prstGeom prst="pl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화살표 연결선 97"/>
          <p:cNvCxnSpPr>
            <a:stCxn id="55" idx="4"/>
            <a:endCxn id="42" idx="1"/>
          </p:cNvCxnSpPr>
          <p:nvPr/>
        </p:nvCxnSpPr>
        <p:spPr>
          <a:xfrm flipV="1">
            <a:off x="2607900" y="3328547"/>
            <a:ext cx="1092672" cy="2599342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42" idx="3"/>
            <a:endCxn id="35" idx="2"/>
          </p:cNvCxnSpPr>
          <p:nvPr/>
        </p:nvCxnSpPr>
        <p:spPr>
          <a:xfrm flipV="1">
            <a:off x="5586206" y="3133222"/>
            <a:ext cx="672352" cy="195325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stCxn id="43" idx="3"/>
            <a:endCxn id="36" idx="2"/>
          </p:cNvCxnSpPr>
          <p:nvPr/>
        </p:nvCxnSpPr>
        <p:spPr>
          <a:xfrm>
            <a:off x="5543542" y="6023288"/>
            <a:ext cx="802907" cy="26256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55" idx="4"/>
            <a:endCxn id="43" idx="1"/>
          </p:cNvCxnSpPr>
          <p:nvPr/>
        </p:nvCxnSpPr>
        <p:spPr>
          <a:xfrm>
            <a:off x="2607900" y="5927889"/>
            <a:ext cx="1135336" cy="95399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55" idx="0"/>
            <a:endCxn id="2" idx="2"/>
          </p:cNvCxnSpPr>
          <p:nvPr/>
        </p:nvCxnSpPr>
        <p:spPr>
          <a:xfrm flipH="1" flipV="1">
            <a:off x="1700802" y="5061171"/>
            <a:ext cx="560" cy="629952"/>
          </a:xfrm>
          <a:prstGeom prst="straightConnector1">
            <a:avLst/>
          </a:prstGeom>
          <a:ln w="698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3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2.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HDFS, Hive Meta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서비스 시작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7403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HDFS, 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en-US" altLang="ko-KR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서비스 시작하기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[2]$ hadoop/sbin/start-dfs.sh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jps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다시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[5]$ 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[6]$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jps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다시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[7]$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클라이언트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Hive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MetaStore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서비스 시작하기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8]$ hive --service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metastore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-p 8011 &amp;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9]$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jps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빗면 8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  <p:sp>
        <p:nvSpPr>
          <p:cNvPr id="10" name="빗면 9"/>
          <p:cNvSpPr/>
          <p:nvPr/>
        </p:nvSpPr>
        <p:spPr>
          <a:xfrm>
            <a:off x="6212270" y="5841268"/>
            <a:ext cx="3205226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411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HDFS, Hive Meta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서비스 시작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7403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HDFS, Hive </a:t>
            </a:r>
            <a:r>
              <a:rPr lang="en-US" altLang="ko-KR" b="1" dirty="0" err="1">
                <a:solidFill>
                  <a:prstClr val="black"/>
                </a:solidFill>
              </a:rPr>
              <a:t>MetaStore</a:t>
            </a:r>
            <a:r>
              <a:rPr lang="en-US" altLang="ko-KR" b="1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서비스 시작하기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8636346" cy="222721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Last login: Wed Jun  7 14:33:51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hadoop/sbin/start-dfs.sh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namenodes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on [namenode.hadoop.kr]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namenode.hadoop.kr: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hadoop-hadoop-namenode-namenode.hadoop.kr.out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datanode2.hadoop.kr: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datanode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hadoop-hadoop-datanode-secondnode.hadoop.kr.out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datanode1.hadoop.kr: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datanode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hadoop-hadoop-datanode-namenode.hadoop.kr.out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Starting secondary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namenodes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[secondnode.hadoop.kr]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secondnode.hadoop.kr: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secondarynamenode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home/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hadoop-hadoop-secondarynamenode-secondnode.hadoop.kr.out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56556" y="3897052"/>
            <a:ext cx="8568952" cy="223568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Last login: Sun Jul  2 00:48:29 2017 from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956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DataNode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1116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1057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SecondaryNameNode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</p:txBody>
      </p:sp>
    </p:spTree>
    <p:extLst>
      <p:ext uri="{BB962C8B-B14F-4D97-AF65-F5344CB8AC3E}">
        <p14:creationId xmlns:p14="http://schemas.microsoft.com/office/powerpoint/2010/main" val="261755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HDFS, Hive Meta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서비스 시작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7403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HDFS, Hive </a:t>
            </a:r>
            <a:r>
              <a:rPr lang="en-US" altLang="ko-KR" b="1" dirty="0" err="1">
                <a:solidFill>
                  <a:prstClr val="black"/>
                </a:solidFill>
              </a:rPr>
              <a:t>MetaStore</a:t>
            </a:r>
            <a:r>
              <a:rPr lang="en-US" altLang="ko-KR" b="1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서비스 시작하기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8636346" cy="257654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1883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1397 </a:t>
            </a:r>
            <a:r>
              <a:rPr lang="en-US" altLang="ko-KR" sz="1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DataNode</a:t>
            </a:r>
            <a:endParaRPr lang="en-US" altLang="ko-KR" sz="1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1300 </a:t>
            </a:r>
            <a:r>
              <a:rPr lang="en-US" altLang="ko-KR" sz="16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600" b="1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r>
              <a:rPr lang="en-US" altLang="ko-KR" sz="1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lient.hadoop.kr</a:t>
            </a:r>
            <a:endParaRPr lang="en-US" altLang="ko-KR" sz="105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52416" y="4257092"/>
            <a:ext cx="8568952" cy="218643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hive --service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metastore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-p 8011 &amp;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[1] 1251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....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1324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1251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RunJar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</a:t>
            </a: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3836876" y="4725144"/>
            <a:ext cx="4824536" cy="1614384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&amp;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백그라운드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실행시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Prompt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나오게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하려면 키보드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[Enter]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502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3. Presto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관련 파일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내려받기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10853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 </a:t>
            </a:r>
            <a:r>
              <a:rPr lang="en-US" altLang="ko-KR" b="1" dirty="0">
                <a:solidFill>
                  <a:prstClr val="black"/>
                </a:solidFill>
              </a:rPr>
              <a:t>Presto </a:t>
            </a:r>
            <a:r>
              <a:rPr lang="en-US" altLang="ko-KR" b="1" dirty="0" smtClean="0">
                <a:solidFill>
                  <a:prstClr val="black"/>
                </a:solidFill>
              </a:rPr>
              <a:t>Server </a:t>
            </a:r>
            <a:r>
              <a:rPr lang="ko-KR" altLang="en-US" b="1" dirty="0" smtClean="0">
                <a:solidFill>
                  <a:prstClr val="black"/>
                </a:solidFill>
              </a:rPr>
              <a:t>와 클라이언트 실행 프로그램 </a:t>
            </a:r>
            <a:r>
              <a:rPr lang="ko-KR" altLang="en-US" b="1" dirty="0" err="1" smtClean="0">
                <a:solidFill>
                  <a:prstClr val="black"/>
                </a:solidFill>
              </a:rPr>
              <a:t>내려받기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9315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Presto Server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내려받기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www.db21.co.kr/big/presto-server-0.65.tar.gz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Server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보내기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presto-server-0.65.tar.gz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presto-server-0.65.tar.gz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Presto CLI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실행파일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내려받기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www.db21.co.kr/big/presto-cli-0.65-executable.jar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이름을 변경하고 실행권한 주기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mv presto-cli-0.65-executable.jar  presto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755 presto</a:t>
            </a:r>
          </a:p>
        </p:txBody>
      </p:sp>
      <p:sp>
        <p:nvSpPr>
          <p:cNvPr id="5" name="빗면 4"/>
          <p:cNvSpPr/>
          <p:nvPr/>
        </p:nvSpPr>
        <p:spPr>
          <a:xfrm>
            <a:off x="6897216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674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3. Presto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관련 파일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내려받기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10853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 </a:t>
            </a:r>
            <a:r>
              <a:rPr lang="en-US" altLang="ko-KR" b="1" dirty="0">
                <a:solidFill>
                  <a:prstClr val="black"/>
                </a:solidFill>
              </a:rPr>
              <a:t>Presto </a:t>
            </a:r>
            <a:r>
              <a:rPr lang="en-US" altLang="ko-KR" b="1" dirty="0" smtClean="0">
                <a:solidFill>
                  <a:prstClr val="black"/>
                </a:solidFill>
              </a:rPr>
              <a:t>Server </a:t>
            </a:r>
            <a:r>
              <a:rPr lang="ko-KR" altLang="en-US" b="1" dirty="0" smtClean="0">
                <a:solidFill>
                  <a:prstClr val="black"/>
                </a:solidFill>
              </a:rPr>
              <a:t>와 클라이언트 실행 프로그램 </a:t>
            </a:r>
            <a:r>
              <a:rPr lang="ko-KR" altLang="en-US" b="1" dirty="0" err="1" smtClean="0">
                <a:solidFill>
                  <a:prstClr val="black"/>
                </a:solidFill>
              </a:rPr>
              <a:t>내려받기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9593" y="1509464"/>
            <a:ext cx="8820980" cy="413620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www.db21.co.kr/big/presto-server-0.65.tar.gz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….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100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%[======================================&gt;] 159,764,845 1.91MB/s   in 78s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2017-07-03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13:59:49 (1.94 MB/s) - ‘presto-server-0.65.tar.gz’ saved [159764845/159764845]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presto-server-0.65.tar.gz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:/home/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presto-server-0.65.tar.gz                     100%  152MB  25.4MB/s   00:06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presto-server-0.65.tar.gz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:/home/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presto-server-0.65.tar.gz                     100%  152MB  25.4MB/s   00:06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www.db21.co.kr/big/presto-cli-0.65-executable.jar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….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100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%[======================================&gt;] 12,078,276  1.90MB/s   in 5.8s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2017-07-03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14:03:03 (2.00 MB/s) - ‘presto-cli-0.65-executable.jar’ saved [12078276/12078276]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mv presto-cli-0.65-executable.jar  presto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755 presto</a:t>
            </a:r>
          </a:p>
        </p:txBody>
      </p:sp>
      <p:sp>
        <p:nvSpPr>
          <p:cNvPr id="5" name="빗면 4"/>
          <p:cNvSpPr/>
          <p:nvPr/>
        </p:nvSpPr>
        <p:spPr>
          <a:xfrm>
            <a:off x="6897216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394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4. Presto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Coordinator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7183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Coordinator </a:t>
            </a:r>
            <a:r>
              <a:rPr lang="ko-KR" altLang="en-US" b="1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3119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Coordinator Server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설정하고 시작하기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Server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압축풀고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링크 걸기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tar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xzvf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presto-server-0.65.tar.gz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ln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-s  presto-server-0.65    presto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Server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설정을 위한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디렉토리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mkdir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mkdir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presto/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Presto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기본 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coordinator=true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 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datasources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jmx,hive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'http-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server.http.port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=8012'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'presto-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metastore.db.type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=h2'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'presto-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metastore.db.filename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=/data/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presto_meta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task.max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-memory=300MB'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'discovery-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server.enabled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=true'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discovery.uri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=http://namenode.hadoop.kr:8012' &gt;&gt; 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빗면 5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4783459" y="2924944"/>
            <a:ext cx="4824536" cy="1614384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코디네이터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(+Worker)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coordinator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속성을 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true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지정</a:t>
            </a:r>
          </a:p>
        </p:txBody>
      </p:sp>
    </p:spTree>
    <p:extLst>
      <p:ext uri="{BB962C8B-B14F-4D97-AF65-F5344CB8AC3E}">
        <p14:creationId xmlns:p14="http://schemas.microsoft.com/office/powerpoint/2010/main" val="92910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4. Presto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Coordinator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7183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Coordinator </a:t>
            </a:r>
            <a:r>
              <a:rPr lang="ko-KR" altLang="en-US" b="1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15925" y="1336463"/>
            <a:ext cx="9027278" cy="53919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Presto JVM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echo '-Xmx1G'                     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UseConcMarkSweepGC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ExplicitGCInvokesConcurrent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CMSClassUnloadingEnabled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AggressiveOpts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HeapDumpOnOutOfMemoryError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XX:OnOutOfMemoryError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=kill -9 %p'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XX:PermSize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=300M'   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XX:MaxPermSize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=300M'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XX:ReservedCodeCacheSize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=100M'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Xbootclasspath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/p:/home/hadoop/presto/lib/floatingdecimal-0.1.jar' &gt;&gt; 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8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7]$ 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node.environment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=production'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'node.id=fast-campus-db21-abcdefg'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node.data-dir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=/data/presto'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7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커넥터 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jmx.properties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8]$ echo 'connector.name=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9]$ echo 'connector.name=hive-hadoop2'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hive.metastore.uri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=thrift://client.hadoop.kr:8011'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빗면 5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6651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4. Presto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Coordinator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01746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</a:t>
            </a:r>
            <a:r>
              <a:rPr lang="ko-KR" altLang="en-US" b="1" dirty="0">
                <a:solidFill>
                  <a:prstClr val="black"/>
                </a:solidFill>
              </a:rPr>
              <a:t>코디네이터 설정 </a:t>
            </a:r>
            <a:r>
              <a:rPr lang="ko-KR" altLang="en-US" b="1" dirty="0" smtClean="0">
                <a:solidFill>
                  <a:prstClr val="black"/>
                </a:solidFill>
              </a:rPr>
              <a:t>확인하고 시작하기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15925" y="1336463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코디네이터 설정 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10]$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코디네이터 데몬 시작하기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[11]$ presto/bin/launcher start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코디네이터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빗면 5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0859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Presto Coordinator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017464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</a:t>
            </a:r>
            <a:r>
              <a:rPr lang="ko-KR" altLang="en-US" b="1" dirty="0">
                <a:solidFill>
                  <a:prstClr val="black"/>
                </a:solidFill>
              </a:rPr>
              <a:t>코디네이터 설정 확인하고 시작하기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9593" y="1509464"/>
            <a:ext cx="8820980" cy="521649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coordinator=true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datasources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jmx,hive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http-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server.http.port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=8012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presto-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metastore.db.type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=h2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presto-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metastore.db.filename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=/data/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presto_meta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task.max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-memory=300MB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discovery-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server.enabled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=true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discovery.uri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=http://namenode.hadoop.kr:8012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-Xmx1G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UseConcMarkSweepGC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ExplicitGCInvokesConcurrent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CMSClassUnloadingEnabled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AggressiveOpts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HeapDumpOnOutOfMemoryError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XX:OnOutOfMemoryError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=kill -9 %p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XX:PermSize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=300M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XX:MaxPermSize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=300M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XX:ReservedCodeCacheSize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=100M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Xbootclasspath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/p:/home/hadoop/presto/lib/floatingdecimal-0.1.jar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0539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Presto Coordinator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017464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</a:t>
            </a:r>
            <a:r>
              <a:rPr lang="ko-KR" altLang="en-US" b="1" dirty="0">
                <a:solidFill>
                  <a:prstClr val="black"/>
                </a:solidFill>
              </a:rPr>
              <a:t>코디네이터 설정 확인하고 시작하기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9593" y="1509464"/>
            <a:ext cx="8820980" cy="491641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 smtClean="0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node.environment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=production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node.id=fast-campus-db21-abcdefg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node.data-dir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=/data/presto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jmx.properties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connector.name=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jmx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connector.name=hive-hadoop2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hive.metastore.uri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=thrift://client.hadoop.kr:8011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presto/bin/launcher start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Started as 2205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2218 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2205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PrestoServer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1397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DataNode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1300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135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5</a:t>
            </a:r>
            <a:r>
              <a:rPr kumimoji="0" lang="en-US" altLang="ko-KR" sz="3000" b="1" dirty="0" smtClean="0">
                <a:solidFill>
                  <a:prstClr val="white"/>
                </a:solidFill>
              </a:rPr>
              <a:t>.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Presto </a:t>
            </a:r>
            <a:r>
              <a:rPr kumimoji="0" lang="en-US" altLang="ko-KR" sz="3000" b="1" dirty="0" smtClean="0">
                <a:solidFill>
                  <a:prstClr val="white"/>
                </a:solidFill>
              </a:rPr>
              <a:t>Worker </a:t>
            </a:r>
            <a:r>
              <a:rPr kumimoji="0" lang="ko-KR" altLang="en-US" sz="3000" b="1" dirty="0" smtClean="0">
                <a:solidFill>
                  <a:prstClr val="white"/>
                </a:solidFill>
              </a:rPr>
              <a:t>설정하고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5572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</a:t>
            </a:r>
            <a:r>
              <a:rPr lang="en-US" altLang="ko-KR" b="1" dirty="0" smtClean="0">
                <a:solidFill>
                  <a:prstClr val="black"/>
                </a:solidFill>
              </a:rPr>
              <a:t>Worker </a:t>
            </a:r>
            <a:r>
              <a:rPr lang="ko-KR" altLang="en-US" b="1" dirty="0" smtClean="0">
                <a:solidFill>
                  <a:prstClr val="black"/>
                </a:solidFill>
              </a:rPr>
              <a:t>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3119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리소스매니저가 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Worker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설정하고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Server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압축풀고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링크 걸기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tar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xzvf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presto-server-0.65.tar.gz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ln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-s  presto-server-0.65    presto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Server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설정을 위한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디렉토리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mkdir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mkdir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presto/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Presto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기본 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coordinator=false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 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datasources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jmx,hive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'http-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server.http.port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=8012'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'presto-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metastore.db.type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=h2'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'presto-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metastore.db.filename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=/data/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presto_meta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task.max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-memory=300MB'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'discovery-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server.enabled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=true'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discovery.uri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=http://namenode.hadoop.kr:8012' &gt;&gt; 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165866" y="1448780"/>
            <a:ext cx="3197694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HD3-Secondnode</a:t>
            </a:r>
            <a:endParaRPr lang="ko-KR" altLang="en-US" sz="2400" dirty="0"/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4783459" y="2924944"/>
            <a:ext cx="4824536" cy="1614384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코디네이터가 아닌 그냥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Worker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이므로</a:t>
            </a:r>
          </a:p>
          <a:p>
            <a:pPr algn="ctr" latinLnBrk="0">
              <a:spcBef>
                <a:spcPct val="30000"/>
              </a:spcBef>
            </a:pP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coordinator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속성을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false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지정</a:t>
            </a:r>
          </a:p>
        </p:txBody>
      </p:sp>
    </p:spTree>
    <p:extLst>
      <p:ext uri="{BB962C8B-B14F-4D97-AF65-F5344CB8AC3E}">
        <p14:creationId xmlns:p14="http://schemas.microsoft.com/office/powerpoint/2010/main" val="118734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. Presto Worker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</a:t>
            </a:r>
            <a:r>
              <a:rPr kumimoji="0" lang="ko-KR" altLang="en-US" sz="3000" b="1" dirty="0" smtClean="0">
                <a:solidFill>
                  <a:prstClr val="white"/>
                </a:solidFill>
              </a:rPr>
              <a:t>시작하기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5572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Worker </a:t>
            </a:r>
            <a:r>
              <a:rPr lang="ko-KR" altLang="en-US" b="1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15925" y="1336463"/>
            <a:ext cx="9027278" cy="53919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Presto JVM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echo '-Xmx1G'                     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UseConcMarkSweepGC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ExplicitGCInvokesConcurrent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CMSClassUnloadingEnabled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AggressiveOpts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'-XX:+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HeapDumpOnOutOfMemoryError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XX:OnOutOfMemoryError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=kill -9 %p'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XX:PermSize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=300M'   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XX:MaxPermSize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=300M'      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XX:ReservedCodeCacheSize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=100M'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'-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Xbootclasspath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/p:/home/hadoop/presto/lib/floatingdecimal-0.1.jar' &gt;&gt; 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2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8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7]$ 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node.environment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=production'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</a:t>
            </a: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'node.id=fast-campus-db21-123456' 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node.data-dir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=/data/presto'      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7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커넥터 설정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jmx.properties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8]$ echo 'connector.name=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9]$ echo 'connector.name=hive-hadoop2' 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hive.metastore.uri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=thrift://client.hadoop.kr:8011' &gt;&gt; presto/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165866" y="1448780"/>
            <a:ext cx="3197694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HD3-Secondnode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9888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5. Presto Worker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6589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Worker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설정 </a:t>
            </a:r>
            <a:r>
              <a:rPr lang="ko-KR" altLang="en-US" b="1" dirty="0" smtClean="0">
                <a:solidFill>
                  <a:prstClr val="black"/>
                </a:solidFill>
              </a:rPr>
              <a:t>확인하고 시작하기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15925" y="1336463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Worker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10]$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jmx.properties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cat presto/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Worker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데몬 시작하기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[11]$ presto/bin/launcher start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Worker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2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165866" y="1448780"/>
            <a:ext cx="3197694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HD3-Secondnode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6421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5. Presto Worker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6589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Worker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설정 확인하고 시작하기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9593" y="1509464"/>
            <a:ext cx="8820980" cy="521649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config.properties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smtClean="0">
                <a:latin typeface="맑은 고딕" pitchFamily="50" charset="-127"/>
                <a:ea typeface="맑은 고딕" pitchFamily="50" charset="-127"/>
              </a:rPr>
              <a:t>coordinator=false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datasources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jmx,hive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http-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server.http.port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=8012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presto-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metastore.db.type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=h2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presto-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metastore.db.filename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=/data/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presto_meta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task.max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-memory=300MB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discovery-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server.enabled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=true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discovery.uri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=http://namenode.hadoop.kr:8012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 smtClean="0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jvm.config</a:t>
            </a: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-Xmx1G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UseConcMarkSweepGC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ExplicitGCInvokesConcurrent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CMSClassUnloadingEnabled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AggressiveOpts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-XX:+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HeapDumpOnOutOfMemoryError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XX:OnOutOfMemoryError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=kill -9 %p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XX:PermSize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=300M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XX:MaxPermSize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=300M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XX:ReservedCodeCacheSize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=100M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Xbootclasspath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/p:/home/hadoop/presto/lib/floatingdecimal-0.1.jar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165866" y="1448780"/>
            <a:ext cx="3197694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HD3-Secondnode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7469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. Presto Worker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설정하고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6589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 Presto Worker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설정 확인하고 시작하기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9593" y="1509464"/>
            <a:ext cx="8820980" cy="491641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node.properties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node.environment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=production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smtClean="0">
                <a:latin typeface="맑은 고딕" pitchFamily="50" charset="-127"/>
                <a:ea typeface="맑은 고딕" pitchFamily="50" charset="-127"/>
              </a:rPr>
              <a:t>node.id=fast-campus-db21-123456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node.data-dir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=/data/presto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jmx.properties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connector.name=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jmx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cat presto/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/catalog/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hive.properties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connector.name=hive-hadoop2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hive.metastore.uri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=thrift://client.hadoop.kr:8011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presto/bin/launcher start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Started as 1271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926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DataNode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1271 </a:t>
            </a:r>
            <a:r>
              <a:rPr lang="en-US" altLang="ko-KR" sz="14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PrestoServer</a:t>
            </a:r>
            <a:endParaRPr lang="en-US" altLang="ko-KR" sz="14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1027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SecondaryNameNode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1284 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165866" y="1448780"/>
            <a:ext cx="3197694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HD3-Secondnode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5560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6.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Presto 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38212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Presto </a:t>
            </a:r>
            <a:r>
              <a:rPr lang="ko-KR" altLang="en-US" b="1" dirty="0" smtClean="0">
                <a:solidFill>
                  <a:prstClr val="black"/>
                </a:solidFill>
              </a:rPr>
              <a:t>테스트하기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313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CLI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 클라이언트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실행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hostname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Presto Server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 코디네이터 주소를 지정하면 됨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./presto --server namenode.hadoop.kr:8012 --catalog hive --schema default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show tables;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select * from hive;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select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str,sum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(price) from hive group by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quit;</a:t>
            </a: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92954" y="4761148"/>
            <a:ext cx="8820980" cy="187558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hostname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./presto --server namenode.hadoop.kr:8012 --catalog hive --schema default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9844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6.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Presto 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38212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Presto </a:t>
            </a:r>
            <a:r>
              <a:rPr lang="ko-KR" altLang="en-US" b="1" dirty="0" smtClean="0">
                <a:solidFill>
                  <a:prstClr val="black"/>
                </a:solidFill>
              </a:rPr>
              <a:t>테스트하기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2500" y="1448780"/>
            <a:ext cx="3456384" cy="387612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show tables;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 Table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(1 row)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Query </a:t>
            </a: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20170703_055918_00001_tfqhq, FINISHED, 1 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Splits: 2 total, 2 done (100.00%)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0:03 [1 rows, 21B] [0 rows/s, 6B/s]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* from hive;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price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-----+-------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aaa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  100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bbb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  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ccc |   300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aaa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  400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(4 rows)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Query </a:t>
            </a: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20170703_060006_00003_tfqhq, FINISHED, 1 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Splits: 2 total, 2 done (100.00%)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0:05 [8 rows, 100B] [1 rows/s, 20B/s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]</a:t>
            </a:r>
            <a:endParaRPr lang="en-US" altLang="ko-KR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24908" y="2528900"/>
            <a:ext cx="5328592" cy="347601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str,sum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(price) from hive group by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;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_col1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-----+-------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aaa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  500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bbb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|   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ccc |   300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(3 rows)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Query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20170703_060030_00004_tfqhq, FINISHED, 1 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Splits: 3 total, 3 done (100.00%)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0:02 [8 rows, 100B] [5 rows/s, 63B/s]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presto:default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quit;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~]$</a:t>
            </a:r>
            <a:endParaRPr lang="en-US" altLang="ko-KR" sz="8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293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6.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Presto 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717324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Presto </a:t>
            </a:r>
            <a:r>
              <a:rPr lang="en-US" altLang="ko-KR" b="1" dirty="0" smtClean="0">
                <a:solidFill>
                  <a:prstClr val="black"/>
                </a:solidFill>
              </a:rPr>
              <a:t>Coordinator </a:t>
            </a:r>
            <a:r>
              <a:rPr lang="ko-KR" altLang="en-US" b="1" dirty="0" smtClean="0">
                <a:solidFill>
                  <a:prstClr val="black"/>
                </a:solidFill>
              </a:rPr>
              <a:t>웹 </a:t>
            </a:r>
            <a:r>
              <a:rPr lang="en-US" altLang="ko-KR" b="1" dirty="0" smtClean="0">
                <a:solidFill>
                  <a:prstClr val="black"/>
                </a:solidFill>
              </a:rPr>
              <a:t>UI </a:t>
            </a:r>
            <a:r>
              <a:rPr lang="en-US" altLang="ko-KR" b="1" dirty="0">
                <a:solidFill>
                  <a:prstClr val="black"/>
                </a:solidFill>
              </a:rPr>
              <a:t>: http://namenode.hadoop.kr:8012/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92" y="1628800"/>
            <a:ext cx="8372642" cy="4799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989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3_Office 테마">
  <a:themeElements>
    <a:clrScheme name="16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6_Office 테마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6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2444</TotalTime>
  <Words>4368</Words>
  <Application>Microsoft Office PowerPoint</Application>
  <PresentationFormat>A4 용지(210x297mm)</PresentationFormat>
  <Paragraphs>902</Paragraphs>
  <Slides>31</Slides>
  <Notes>29</Notes>
  <HiddenSlides>0</HiddenSlides>
  <MMClips>0</MMClips>
  <ScaleCrop>false</ScaleCrop>
  <HeadingPairs>
    <vt:vector size="4" baseType="variant">
      <vt:variant>
        <vt:lpstr>테마</vt:lpstr>
      </vt:variant>
      <vt:variant>
        <vt:i4>5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디자인 사용자 지정</vt:lpstr>
      <vt:lpstr>17_Office 테마</vt:lpstr>
      <vt:lpstr>6_디자인 사용자 지정</vt:lpstr>
      <vt:lpstr>26_Office 테마</vt:lpstr>
      <vt:lpstr>23_Office 테마</vt:lpstr>
      <vt:lpstr>PowerPoint 프레젠테이션</vt:lpstr>
      <vt:lpstr>PowerPoint 프레젠테이션</vt:lpstr>
      <vt:lpstr>PowerPoint 프레젠테이션</vt:lpstr>
      <vt:lpstr>S/W </vt:lpstr>
      <vt:lpstr>Presto 아키텍처</vt:lpstr>
      <vt:lpstr>Query Execution Flow </vt:lpstr>
      <vt:lpstr>Hive vs Presto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jang</cp:lastModifiedBy>
  <cp:revision>244</cp:revision>
  <dcterms:created xsi:type="dcterms:W3CDTF">2012-04-02T02:40:52Z</dcterms:created>
  <dcterms:modified xsi:type="dcterms:W3CDTF">2017-07-05T13:08:11Z</dcterms:modified>
</cp:coreProperties>
</file>