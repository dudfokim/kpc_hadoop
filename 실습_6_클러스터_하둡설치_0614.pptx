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3" r:id="rId1"/>
    <p:sldMasterId id="2147483831" r:id="rId2"/>
    <p:sldMasterId id="2147483880" r:id="rId3"/>
  </p:sldMasterIdLst>
  <p:notesMasterIdLst>
    <p:notesMasterId r:id="rId71"/>
  </p:notesMasterIdLst>
  <p:sldIdLst>
    <p:sldId id="606" r:id="rId4"/>
    <p:sldId id="908" r:id="rId5"/>
    <p:sldId id="903" r:id="rId6"/>
    <p:sldId id="904" r:id="rId7"/>
    <p:sldId id="905" r:id="rId8"/>
    <p:sldId id="906" r:id="rId9"/>
    <p:sldId id="907" r:id="rId10"/>
    <p:sldId id="797" r:id="rId11"/>
    <p:sldId id="850" r:id="rId12"/>
    <p:sldId id="800" r:id="rId13"/>
    <p:sldId id="871" r:id="rId14"/>
    <p:sldId id="861" r:id="rId15"/>
    <p:sldId id="863" r:id="rId16"/>
    <p:sldId id="872" r:id="rId17"/>
    <p:sldId id="873" r:id="rId18"/>
    <p:sldId id="833" r:id="rId19"/>
    <p:sldId id="834" r:id="rId20"/>
    <p:sldId id="835" r:id="rId21"/>
    <p:sldId id="836" r:id="rId22"/>
    <p:sldId id="837" r:id="rId23"/>
    <p:sldId id="838" r:id="rId24"/>
    <p:sldId id="839" r:id="rId25"/>
    <p:sldId id="840" r:id="rId26"/>
    <p:sldId id="841" r:id="rId27"/>
    <p:sldId id="851" r:id="rId28"/>
    <p:sldId id="874" r:id="rId29"/>
    <p:sldId id="875" r:id="rId30"/>
    <p:sldId id="876" r:id="rId31"/>
    <p:sldId id="877" r:id="rId32"/>
    <p:sldId id="878" r:id="rId33"/>
    <p:sldId id="879" r:id="rId34"/>
    <p:sldId id="881" r:id="rId35"/>
    <p:sldId id="882" r:id="rId36"/>
    <p:sldId id="883" r:id="rId37"/>
    <p:sldId id="829" r:id="rId38"/>
    <p:sldId id="884" r:id="rId39"/>
    <p:sldId id="885" r:id="rId40"/>
    <p:sldId id="886" r:id="rId41"/>
    <p:sldId id="830" r:id="rId42"/>
    <p:sldId id="887" r:id="rId43"/>
    <p:sldId id="888" r:id="rId44"/>
    <p:sldId id="889" r:id="rId45"/>
    <p:sldId id="890" r:id="rId46"/>
    <p:sldId id="891" r:id="rId47"/>
    <p:sldId id="892" r:id="rId48"/>
    <p:sldId id="893" r:id="rId49"/>
    <p:sldId id="894" r:id="rId50"/>
    <p:sldId id="842" r:id="rId51"/>
    <p:sldId id="843" r:id="rId52"/>
    <p:sldId id="902" r:id="rId53"/>
    <p:sldId id="844" r:id="rId54"/>
    <p:sldId id="896" r:id="rId55"/>
    <p:sldId id="897" r:id="rId56"/>
    <p:sldId id="898" r:id="rId57"/>
    <p:sldId id="899" r:id="rId58"/>
    <p:sldId id="900" r:id="rId59"/>
    <p:sldId id="846" r:id="rId60"/>
    <p:sldId id="847" r:id="rId61"/>
    <p:sldId id="848" r:id="rId62"/>
    <p:sldId id="852" r:id="rId63"/>
    <p:sldId id="853" r:id="rId64"/>
    <p:sldId id="854" r:id="rId65"/>
    <p:sldId id="855" r:id="rId66"/>
    <p:sldId id="856" r:id="rId67"/>
    <p:sldId id="857" r:id="rId68"/>
    <p:sldId id="901" r:id="rId69"/>
    <p:sldId id="640" r:id="rId70"/>
  </p:sldIdLst>
  <p:sldSz cx="9906000" cy="6858000" type="A4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754">
          <p15:clr>
            <a:srgbClr val="A4A3A4"/>
          </p15:clr>
        </p15:guide>
        <p15:guide id="3" orient="horz" pos="119">
          <p15:clr>
            <a:srgbClr val="A4A3A4"/>
          </p15:clr>
        </p15:guide>
        <p15:guide id="4" orient="horz" pos="4156">
          <p15:clr>
            <a:srgbClr val="A4A3A4"/>
          </p15:clr>
        </p15:guide>
        <p15:guide id="5" orient="horz" pos="1094">
          <p15:clr>
            <a:srgbClr val="A4A3A4"/>
          </p15:clr>
        </p15:guide>
        <p15:guide id="6" pos="3120">
          <p15:clr>
            <a:srgbClr val="A4A3A4"/>
          </p15:clr>
        </p15:guide>
        <p15:guide id="7" pos="262">
          <p15:clr>
            <a:srgbClr val="A4A3A4"/>
          </p15:clr>
        </p15:guide>
        <p15:guide id="8" pos="5978">
          <p15:clr>
            <a:srgbClr val="A4A3A4"/>
          </p15:clr>
        </p15:guide>
        <p15:guide id="9" pos="512">
          <p15:clr>
            <a:srgbClr val="A4A3A4"/>
          </p15:clr>
        </p15:guide>
        <p15:guide id="10" pos="572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3366FF"/>
    <a:srgbClr val="6699FF"/>
    <a:srgbClr val="FFCC66"/>
    <a:srgbClr val="FFCC00"/>
    <a:srgbClr val="FFFF99"/>
    <a:srgbClr val="D5FFFF"/>
    <a:srgbClr val="97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9507" autoAdjust="0"/>
  </p:normalViewPr>
  <p:slideViewPr>
    <p:cSldViewPr>
      <p:cViewPr varScale="1">
        <p:scale>
          <a:sx n="81" d="100"/>
          <a:sy n="81" d="100"/>
        </p:scale>
        <p:origin x="90" y="270"/>
      </p:cViewPr>
      <p:guideLst>
        <p:guide orient="horz" pos="2160"/>
        <p:guide orient="horz" pos="754"/>
        <p:guide orient="horz" pos="119"/>
        <p:guide orient="horz" pos="4156"/>
        <p:guide orient="horz" pos="1094"/>
        <p:guide pos="3120"/>
        <p:guide pos="262"/>
        <p:guide pos="5978"/>
        <p:guide pos="512"/>
        <p:guide pos="572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0" d="100"/>
        <a:sy n="60" d="100"/>
      </p:scale>
      <p:origin x="0" y="870"/>
    </p:cViewPr>
  </p:sorterViewPr>
  <p:notesViewPr>
    <p:cSldViewPr>
      <p:cViewPr varScale="1">
        <p:scale>
          <a:sx n="74" d="100"/>
          <a:sy n="74" d="100"/>
        </p:scale>
        <p:origin x="-2160" y="-90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7" Type="http://schemas.openxmlformats.org/officeDocument/2006/relationships/slide" Target="slides/slide4.xml"/><Relationship Id="rId71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61" Type="http://schemas.openxmlformats.org/officeDocument/2006/relationships/slide" Target="slides/slide58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3C029BE-C82E-4FB1-B7D4-E69216A72B62}" type="datetimeFigureOut">
              <a:rPr lang="ko-KR" altLang="en-US"/>
              <a:pPr>
                <a:defRPr/>
              </a:pPr>
              <a:t>2017-06-12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170C6F2-6D24-47FB-891E-C9A430C56FE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9835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굴림" pitchFamily="50" charset="-127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2409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3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9400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4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33121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5</a:t>
            </a:fld>
            <a:endParaRPr kumimoji="0"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236296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6</a:t>
            </a:fld>
            <a:endParaRPr kumimoji="0"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2393053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7</a:t>
            </a:fld>
            <a:endParaRPr kumimoji="0"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2542929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8</a:t>
            </a:fld>
            <a:endParaRPr kumimoji="0"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9</a:t>
            </a:fld>
            <a:endParaRPr kumimoji="0"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3745040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10</a:t>
            </a:fld>
            <a:endParaRPr kumimoji="0"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11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7876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12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01380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13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04596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14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01380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15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01380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16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52155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17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154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18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6855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19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19031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20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12332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21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54012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22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000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23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2292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24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9765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25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61627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26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27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/>
              <a:pPr algn="r" eaLnBrk="1" hangingPunct="1"/>
              <a:t>28</a:t>
            </a:fld>
            <a:endParaRPr kumimoji="0"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29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30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31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32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33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05204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34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3443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35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83558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36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83558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37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83558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38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83558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39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08185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40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08185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41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08185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42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08185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43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08185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44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08185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45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08185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46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08185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47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08185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48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968014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49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143315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50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462761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51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748650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52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20765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53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67591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54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709024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55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423892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56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504077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57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32726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58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255245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59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48545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60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52351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61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91123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62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04181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63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104736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64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782463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65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95663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의 설계 개념 및 특성입니다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먼저 분산컴퓨팅 환경에서 운영되어야 하기 때문에 함수형</a:t>
            </a:r>
            <a:r>
              <a:rPr lang="en-US" altLang="ko-KR" sz="500" smtClean="0"/>
              <a:t> </a:t>
            </a:r>
            <a:r>
              <a:rPr lang="ko-KR" altLang="en-US" sz="500" smtClean="0"/>
              <a:t>프로그램의 특성을 가지고 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물론 실시간 처리도 가능은 하지만 앞서 언급했다시피 분산컴퓨팅 환경에서 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운영되기 때문에 배치형식의 데이터 처리 시스템으로 설계가 되었습니다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사용자의 </a:t>
            </a:r>
            <a:r>
              <a:rPr lang="en-US" altLang="ko-KR" sz="500" smtClean="0"/>
              <a:t>NEED</a:t>
            </a:r>
            <a:r>
              <a:rPr lang="ko-KR" altLang="en-US" sz="500" smtClean="0"/>
              <a:t>를 파악하지 못하고 개발한 프로그램은 사실 쓸모가 없을 것입니다</a:t>
            </a:r>
            <a:r>
              <a:rPr lang="en-US" altLang="ko-KR" sz="500" smtClean="0"/>
              <a:t>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ko-KR" sz="500" smtClean="0"/>
              <a:t>MapReduce</a:t>
            </a:r>
            <a:r>
              <a:rPr lang="ko-KR" altLang="en-US" sz="500" smtClean="0"/>
              <a:t>는 여러 어플리케이션 로직의 주요관심사들을 파악했고</a:t>
            </a:r>
            <a:endParaRPr lang="en-US" altLang="ko-KR" sz="500" smtClean="0"/>
          </a:p>
          <a:p>
            <a:pPr eaLnBrk="1" hangingPunct="1">
              <a:lnSpc>
                <a:spcPct val="80000"/>
              </a:lnSpc>
              <a:spcBef>
                <a:spcPct val="0"/>
              </a:spcBef>
            </a:pPr>
            <a:r>
              <a:rPr lang="ko-KR" altLang="en-US" sz="500" smtClean="0"/>
              <a:t>이러한 요소들을 최대한 반영하였습니다</a:t>
            </a:r>
            <a:r>
              <a:rPr lang="en-US" altLang="ko-KR" sz="500" smtClean="0"/>
              <a:t>.</a:t>
            </a:r>
            <a:endParaRPr lang="ko-KR" altLang="en-US" sz="500" smtClean="0"/>
          </a:p>
        </p:txBody>
      </p:sp>
      <p:sp>
        <p:nvSpPr>
          <p:cNvPr id="152580" name="슬라이드 번호 개체 틀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r" eaLnBrk="1" hangingPunct="1"/>
            <a:fld id="{187644F2-DBB4-4952-ABF4-388CDE4CDEAC}" type="slidenum">
              <a:rPr kumimoji="0" lang="ko-KR" altLang="en-US" sz="1200">
                <a:solidFill>
                  <a:prstClr val="black"/>
                </a:solidFill>
              </a:rPr>
              <a:pPr algn="r" eaLnBrk="1" hangingPunct="1"/>
              <a:t>66</a:t>
            </a:fld>
            <a:endParaRPr kumimoji="0" lang="en-US" altLang="ko-KR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3930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170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562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8906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5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1554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5039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2369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361929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922455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543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0442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3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/>
          </p:spPr>
          <p:txBody>
            <a:bodyPr wrap="none" lIns="144000" rIns="144000" anchor="ctr"/>
            <a:lstStyle/>
            <a:p>
              <a:pPr marL="8255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kumimoji="0" lang="en-US" altLang="ko-KR" sz="1500">
                <a:solidFill>
                  <a:schemeClr val="bg1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  <a:defRPr/>
              </a:pPr>
              <a:endParaRPr lang="ko-KR" altLang="en-US" sz="150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- </a:t>
            </a:r>
            <a:fld id="{D8229318-82E5-4D2F-A3BA-2BC57308161C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1458197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5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44000" rIns="144000" anchor="ctr"/>
            <a:lstStyle/>
            <a:p>
              <a:pPr marL="82550"/>
              <a:endParaRPr kumimoji="0" lang="en-US" altLang="ko-KR" sz="1500" b="1">
                <a:solidFill>
                  <a:schemeClr val="bg1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500" b="1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- </a:t>
            </a:r>
            <a:fld id="{8E2153C7-255E-4F42-A84F-D8447C71E52E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36473646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38"/>
          <p:cNvGrpSpPr>
            <a:grpSpLocks/>
          </p:cNvGrpSpPr>
          <p:nvPr userDrawn="1"/>
        </p:nvGrpSpPr>
        <p:grpSpPr bwMode="auto">
          <a:xfrm>
            <a:off x="246063" y="736600"/>
            <a:ext cx="9678987" cy="82550"/>
            <a:chOff x="228600" y="1022350"/>
            <a:chExt cx="9440863" cy="360363"/>
          </a:xfrm>
        </p:grpSpPr>
        <p:sp>
          <p:nvSpPr>
            <p:cNvPr id="4" name="모서리가 둥근 직사각형 5"/>
            <p:cNvSpPr>
              <a:spLocks noChangeArrowheads="1"/>
            </p:cNvSpPr>
            <p:nvPr/>
          </p:nvSpPr>
          <p:spPr bwMode="auto">
            <a:xfrm>
              <a:off x="236342" y="1022350"/>
              <a:ext cx="9433121" cy="360363"/>
            </a:xfrm>
            <a:prstGeom prst="roundRect">
              <a:avLst>
                <a:gd name="adj" fmla="val 13255"/>
              </a:avLst>
            </a:prstGeom>
            <a:solidFill>
              <a:srgbClr val="2277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144000" rIns="144000" anchor="ctr"/>
            <a:lstStyle/>
            <a:p>
              <a:pPr marL="82550"/>
              <a:endParaRPr kumimoji="0" lang="en-US" altLang="ko-KR" sz="1500" b="1">
                <a:solidFill>
                  <a:prstClr val="white"/>
                </a:solidFill>
                <a:latin typeface="@산돌퍼즐Bk"/>
              </a:endParaRPr>
            </a:p>
          </p:txBody>
        </p:sp>
        <p:sp>
          <p:nvSpPr>
            <p:cNvPr id="5" name="Rectangle 4"/>
            <p:cNvSpPr txBox="1">
              <a:spLocks/>
            </p:cNvSpPr>
            <p:nvPr/>
          </p:nvSpPr>
          <p:spPr bwMode="auto">
            <a:xfrm>
              <a:off x="228600" y="1050070"/>
              <a:ext cx="7285429" cy="318783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126000" tIns="0" rIns="0" bIns="0" anchor="ctr"/>
            <a:lstStyle>
              <a:lvl1pPr marL="825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1pPr>
              <a:lvl2pPr marL="742950" indent="-28575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2pPr>
              <a:lvl3pPr marL="11430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3pPr>
              <a:lvl4pPr marL="16002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4pPr>
              <a:lvl5pPr marL="2057400" indent="-228600" eaLnBrk="0" hangingPunct="0"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300">
                  <a:solidFill>
                    <a:schemeClr val="tx1"/>
                  </a:solidFill>
                  <a:latin typeface="산돌고딕 L" pitchFamily="18" charset="-127"/>
                  <a:ea typeface="산돌고딕 L" pitchFamily="18" charset="-127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1500" b="1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6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-6350"/>
            <a:ext cx="9918701" cy="687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Title Placeholder 1"/>
          <p:cNvSpPr>
            <a:spLocks noGrp="1"/>
          </p:cNvSpPr>
          <p:nvPr>
            <p:ph type="title"/>
          </p:nvPr>
        </p:nvSpPr>
        <p:spPr bwMode="auto">
          <a:xfrm>
            <a:off x="309930" y="391597"/>
            <a:ext cx="8229600" cy="43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t"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- </a:t>
            </a:r>
            <a:fld id="{8E2153C7-255E-4F42-A84F-D8447C71E52E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prstClr val="black"/>
                </a:solidFill>
              </a:rPr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8871921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그림1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904412" cy="630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79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맑은 고딕" pitchFamily="50" charset="-127"/>
          <a:ea typeface="맑은 고딕" pitchFamily="50" charset="-127"/>
          <a:cs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5123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9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/>
              <a:t>- </a:t>
            </a:r>
            <a:fld id="{1A9F97D4-C3CF-42AA-AA6A-7F45AF120A1D}" type="slidenum">
              <a:rPr lang="en-US"/>
              <a:pPr>
                <a:defRPr/>
              </a:pPr>
              <a:t>‹#›</a:t>
            </a:fld>
            <a:r>
              <a:rPr lang="en-US"/>
              <a:t> -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5123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9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3857625" y="6645275"/>
            <a:ext cx="2311400" cy="2127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/>
                </a:solidFill>
              </a:rPr>
              <a:t>- </a:t>
            </a:r>
            <a:fld id="{1A9F97D4-C3CF-42AA-AA6A-7F45AF120A1D}" type="slidenum">
              <a:rPr 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>
                <a:solidFill>
                  <a:prstClr val="black"/>
                </a:solidFill>
              </a:rPr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1087231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2"/>
          <p:cNvSpPr>
            <a:spLocks/>
          </p:cNvSpPr>
          <p:nvPr/>
        </p:nvSpPr>
        <p:spPr bwMode="auto">
          <a:xfrm>
            <a:off x="812800" y="1736725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4400" b="1" dirty="0" smtClean="0">
                <a:solidFill>
                  <a:schemeClr val="tx2"/>
                </a:solidFill>
              </a:rPr>
              <a:t>3. </a:t>
            </a:r>
            <a:r>
              <a:rPr lang="ko-KR" altLang="en-US" sz="4400" b="1" dirty="0" err="1" smtClean="0">
                <a:solidFill>
                  <a:schemeClr val="tx2"/>
                </a:solidFill>
              </a:rPr>
              <a:t>하둡</a:t>
            </a:r>
            <a:r>
              <a:rPr lang="ko-KR" altLang="en-US" sz="4400" b="1" dirty="0" smtClean="0">
                <a:solidFill>
                  <a:schemeClr val="tx2"/>
                </a:solidFill>
              </a:rPr>
              <a:t> 설치</a:t>
            </a:r>
            <a:endParaRPr lang="ko-KR" altLang="en-US" sz="4400" b="1" dirty="0">
              <a:solidFill>
                <a:schemeClr val="tx2"/>
              </a:solidFill>
            </a:endParaRPr>
          </a:p>
        </p:txBody>
      </p:sp>
      <p:sp>
        <p:nvSpPr>
          <p:cNvPr id="7171" name="제목 2"/>
          <p:cNvSpPr>
            <a:spLocks/>
          </p:cNvSpPr>
          <p:nvPr/>
        </p:nvSpPr>
        <p:spPr bwMode="auto">
          <a:xfrm>
            <a:off x="415925" y="6334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3000" b="1" smtClean="0">
                <a:solidFill>
                  <a:schemeClr val="bg1"/>
                </a:solidFill>
              </a:rPr>
              <a:t>[ </a:t>
            </a:r>
            <a:r>
              <a:rPr lang="ko-KR" altLang="en-US" sz="3000" b="1" smtClean="0">
                <a:solidFill>
                  <a:schemeClr val="bg1"/>
                </a:solidFill>
              </a:rPr>
              <a:t>클러스터</a:t>
            </a:r>
            <a:r>
              <a:rPr lang="en-US" altLang="ko-KR" sz="3000" b="1" smtClean="0">
                <a:solidFill>
                  <a:schemeClr val="bg1"/>
                </a:solidFill>
              </a:rPr>
              <a:t>-</a:t>
            </a:r>
            <a:r>
              <a:rPr lang="ko-KR" altLang="en-US" sz="3000" b="1" smtClean="0">
                <a:solidFill>
                  <a:schemeClr val="bg1"/>
                </a:solidFill>
              </a:rPr>
              <a:t>완전분산모드 </a:t>
            </a:r>
            <a:r>
              <a:rPr lang="ko-KR" altLang="en-US" sz="3000" b="1" err="1" smtClean="0">
                <a:solidFill>
                  <a:schemeClr val="bg1"/>
                </a:solidFill>
              </a:rPr>
              <a:t>하둡</a:t>
            </a:r>
            <a:r>
              <a:rPr lang="ko-KR" altLang="en-US" sz="3000" b="1" smtClean="0">
                <a:solidFill>
                  <a:schemeClr val="bg1"/>
                </a:solidFill>
              </a:rPr>
              <a:t> 설치 </a:t>
            </a:r>
            <a:r>
              <a:rPr lang="en-US" altLang="ko-KR" sz="3000" b="1" smtClean="0">
                <a:solidFill>
                  <a:schemeClr val="bg1"/>
                </a:solidFill>
              </a:rPr>
              <a:t>]</a:t>
            </a:r>
            <a:endParaRPr lang="ko-KR" altLang="en-US" sz="3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189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ko-KR" sz="3200" b="1" smtClean="0">
                <a:solidFill>
                  <a:srgbClr val="FFFFFF"/>
                </a:solidFill>
              </a:rPr>
              <a:t># </a:t>
            </a:r>
            <a:r>
              <a:rPr lang="ko-KR" altLang="en-US" sz="3200" b="1" smtClean="0">
                <a:solidFill>
                  <a:srgbClr val="FFFFFF"/>
                </a:solidFill>
              </a:rPr>
              <a:t>클러스터 모드 설치 절차</a:t>
            </a:r>
            <a:endParaRPr kumimoji="0" lang="ko-KR" altLang="en-US" sz="3600" b="1" dirty="0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454565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>
                <a:solidFill>
                  <a:prstClr val="black"/>
                </a:solidFill>
              </a:rPr>
              <a:t>작업 절차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 bwMode="auto">
          <a:xfrm>
            <a:off x="344488" y="1412776"/>
            <a:ext cx="2736304" cy="982622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smtClean="0">
                <a:solidFill>
                  <a:srgbClr val="000000"/>
                </a:solidFill>
              </a:rPr>
              <a:t>[ 1</a:t>
            </a:r>
            <a:r>
              <a:rPr lang="ko-KR" altLang="en-US" sz="1400" b="1" smtClean="0">
                <a:solidFill>
                  <a:srgbClr val="000000"/>
                </a:solidFill>
              </a:rPr>
              <a:t>단계 </a:t>
            </a:r>
            <a:r>
              <a:rPr lang="en-US" altLang="ko-KR" sz="1400" b="1" smtClean="0">
                <a:solidFill>
                  <a:srgbClr val="000000"/>
                </a:solidFill>
              </a:rPr>
              <a:t>]</a:t>
            </a:r>
          </a:p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ko-KR" altLang="en-US" sz="1400" b="1" smtClean="0">
                <a:solidFill>
                  <a:srgbClr val="000000"/>
                </a:solidFill>
              </a:rPr>
              <a:t>가상머신 만들고</a:t>
            </a:r>
            <a:endParaRPr lang="en-US" altLang="ko-KR" sz="1400" b="1" smtClean="0">
              <a:solidFill>
                <a:srgbClr val="000000"/>
              </a:solidFill>
            </a:endParaRPr>
          </a:p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ko-KR" altLang="en-US" sz="1400" b="1" smtClean="0">
                <a:solidFill>
                  <a:srgbClr val="000000"/>
                </a:solidFill>
              </a:rPr>
              <a:t>리눅스 </a:t>
            </a:r>
            <a:r>
              <a:rPr lang="en-US" altLang="ko-KR" sz="1400" b="1" smtClean="0">
                <a:solidFill>
                  <a:srgbClr val="000000"/>
                </a:solidFill>
              </a:rPr>
              <a:t>CentOS 7.5 </a:t>
            </a:r>
            <a:r>
              <a:rPr lang="ko-KR" altLang="en-US" sz="1400" b="1" smtClean="0">
                <a:solidFill>
                  <a:srgbClr val="000000"/>
                </a:solidFill>
              </a:rPr>
              <a:t>설치하기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31" name="아래쪽 화살표 30"/>
          <p:cNvSpPr/>
          <p:nvPr/>
        </p:nvSpPr>
        <p:spPr>
          <a:xfrm>
            <a:off x="3930189" y="2394748"/>
            <a:ext cx="998991" cy="438348"/>
          </a:xfrm>
          <a:prstGeom prst="downArrow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 fontAlgn="auto" latinLnBrk="0">
              <a:lnSpc>
                <a:spcPct val="120000"/>
              </a:lnSpc>
              <a:spcBef>
                <a:spcPct val="30000"/>
              </a:spcBef>
              <a:spcAft>
                <a:spcPts val="0"/>
              </a:spcAft>
              <a:defRPr/>
            </a:pPr>
            <a:endParaRPr kumimoji="0" lang="ko-KR" altLang="en-US" sz="1400" b="1" kern="0" smtClean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30" name="모서리가 둥근 직사각형 29"/>
          <p:cNvSpPr/>
          <p:nvPr/>
        </p:nvSpPr>
        <p:spPr bwMode="auto">
          <a:xfrm>
            <a:off x="344488" y="2550135"/>
            <a:ext cx="2736304" cy="1357949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smtClean="0">
                <a:solidFill>
                  <a:srgbClr val="000000"/>
                </a:solidFill>
              </a:rPr>
              <a:t>[ 2</a:t>
            </a:r>
            <a:r>
              <a:rPr lang="ko-KR" altLang="en-US" sz="1400" b="1" smtClean="0">
                <a:solidFill>
                  <a:srgbClr val="000000"/>
                </a:solidFill>
              </a:rPr>
              <a:t>단계 </a:t>
            </a:r>
            <a:r>
              <a:rPr lang="en-US" altLang="ko-KR" sz="1400" b="1" smtClean="0">
                <a:solidFill>
                  <a:srgbClr val="000000"/>
                </a:solidFill>
              </a:rPr>
              <a:t>]</a:t>
            </a:r>
          </a:p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smtClean="0">
                <a:solidFill>
                  <a:srgbClr val="000000"/>
                </a:solidFill>
              </a:rPr>
              <a:t>1</a:t>
            </a:r>
            <a:r>
              <a:rPr lang="ko-KR" altLang="en-US" sz="1400" b="1" smtClean="0">
                <a:solidFill>
                  <a:srgbClr val="000000"/>
                </a:solidFill>
              </a:rPr>
              <a:t>번 가상머신에</a:t>
            </a:r>
            <a:endParaRPr lang="en-US" altLang="ko-KR" sz="1400" b="1" smtClean="0">
              <a:solidFill>
                <a:srgbClr val="000000"/>
              </a:solidFill>
            </a:endParaRPr>
          </a:p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ko-KR" altLang="en-US" sz="1400" b="1" smtClean="0">
                <a:solidFill>
                  <a:srgbClr val="000000"/>
                </a:solidFill>
              </a:rPr>
              <a:t>필요한 파일 내려받고</a:t>
            </a:r>
            <a:endParaRPr lang="en-US" altLang="ko-KR" sz="1400" b="1" smtClean="0">
              <a:solidFill>
                <a:srgbClr val="000000"/>
              </a:solidFill>
            </a:endParaRPr>
          </a:p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smtClean="0">
                <a:solidFill>
                  <a:srgbClr val="000000"/>
                </a:solidFill>
              </a:rPr>
              <a:t>VDI </a:t>
            </a:r>
            <a:r>
              <a:rPr lang="ko-KR" altLang="en-US" sz="1400" b="1" smtClean="0">
                <a:solidFill>
                  <a:srgbClr val="000000"/>
                </a:solidFill>
              </a:rPr>
              <a:t>이미지 백업하기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33" name="모서리가 둥근 직사각형 32"/>
          <p:cNvSpPr/>
          <p:nvPr/>
        </p:nvSpPr>
        <p:spPr bwMode="auto">
          <a:xfrm>
            <a:off x="344488" y="4062303"/>
            <a:ext cx="2736304" cy="1357949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smtClean="0">
                <a:solidFill>
                  <a:srgbClr val="000000"/>
                </a:solidFill>
              </a:rPr>
              <a:t>[ 3</a:t>
            </a:r>
            <a:r>
              <a:rPr lang="ko-KR" altLang="en-US" sz="1400" b="1" smtClean="0">
                <a:solidFill>
                  <a:srgbClr val="000000"/>
                </a:solidFill>
              </a:rPr>
              <a:t>단계 </a:t>
            </a:r>
            <a:r>
              <a:rPr lang="en-US" altLang="ko-KR" sz="1400" b="1" smtClean="0">
                <a:solidFill>
                  <a:srgbClr val="000000"/>
                </a:solidFill>
              </a:rPr>
              <a:t>]</a:t>
            </a:r>
          </a:p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ko-KR" altLang="en-US" sz="1400" b="1" smtClean="0">
                <a:solidFill>
                  <a:srgbClr val="000000"/>
                </a:solidFill>
              </a:rPr>
              <a:t>백업한 </a:t>
            </a:r>
            <a:r>
              <a:rPr lang="en-US" altLang="ko-KR" sz="1400" b="1" smtClean="0">
                <a:solidFill>
                  <a:srgbClr val="000000"/>
                </a:solidFill>
              </a:rPr>
              <a:t>VDI </a:t>
            </a:r>
            <a:r>
              <a:rPr lang="ko-KR" altLang="en-US" sz="1400" b="1" smtClean="0">
                <a:solidFill>
                  <a:srgbClr val="000000"/>
                </a:solidFill>
              </a:rPr>
              <a:t>이미지로 </a:t>
            </a:r>
            <a:endParaRPr lang="en-US" altLang="ko-KR" sz="1400" b="1" smtClean="0">
              <a:solidFill>
                <a:srgbClr val="000000"/>
              </a:solidFill>
            </a:endParaRPr>
          </a:p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ko-KR" altLang="en-US" sz="1400" b="1" smtClean="0">
                <a:solidFill>
                  <a:srgbClr val="000000"/>
                </a:solidFill>
              </a:rPr>
              <a:t>가상머신 만들고 설정한 후</a:t>
            </a:r>
            <a:endParaRPr lang="en-US" altLang="ko-KR" sz="1400" b="1" smtClean="0">
              <a:solidFill>
                <a:srgbClr val="000000"/>
              </a:solidFill>
            </a:endParaRPr>
          </a:p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smtClean="0">
                <a:solidFill>
                  <a:srgbClr val="000000"/>
                </a:solidFill>
              </a:rPr>
              <a:t>2</a:t>
            </a:r>
            <a:r>
              <a:rPr lang="ko-KR" altLang="en-US" sz="1400" b="1" smtClean="0">
                <a:solidFill>
                  <a:srgbClr val="000000"/>
                </a:solidFill>
              </a:rPr>
              <a:t>번</a:t>
            </a:r>
            <a:r>
              <a:rPr lang="en-US" altLang="ko-KR" sz="1400" b="1" smtClean="0">
                <a:solidFill>
                  <a:srgbClr val="000000"/>
                </a:solidFill>
              </a:rPr>
              <a:t>, 3</a:t>
            </a:r>
            <a:r>
              <a:rPr lang="ko-KR" altLang="en-US" sz="1400" b="1" smtClean="0">
                <a:solidFill>
                  <a:srgbClr val="000000"/>
                </a:solidFill>
              </a:rPr>
              <a:t>번 머신으로 복제하기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3831308" y="1627344"/>
            <a:ext cx="1159024" cy="635012"/>
            <a:chOff x="3613795" y="1897052"/>
            <a:chExt cx="1159024" cy="635012"/>
          </a:xfrm>
        </p:grpSpPr>
        <p:pic>
          <p:nvPicPr>
            <p:cNvPr id="34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3613796" y="1897052"/>
              <a:ext cx="1159023" cy="269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직사각형 34"/>
            <p:cNvSpPr/>
            <p:nvPr/>
          </p:nvSpPr>
          <p:spPr>
            <a:xfrm>
              <a:off x="3613795" y="2255065"/>
              <a:ext cx="1159023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latinLnBrk="0" hangingPunct="0"/>
              <a:r>
                <a:rPr lang="ko-KR" altLang="en-US" sz="1200" b="1" smtClean="0">
                  <a:solidFill>
                    <a:srgbClr val="000000"/>
                  </a:solidFill>
                </a:rPr>
                <a:t>가상머신 </a:t>
              </a:r>
              <a:r>
                <a:rPr lang="en-US" altLang="ko-KR" sz="1200" b="1" smtClean="0">
                  <a:solidFill>
                    <a:srgbClr val="000000"/>
                  </a:solidFill>
                </a:rPr>
                <a:t>1</a:t>
              </a:r>
              <a:r>
                <a:rPr lang="ko-KR" altLang="en-US" sz="1200" b="1" smtClean="0">
                  <a:solidFill>
                    <a:srgbClr val="000000"/>
                  </a:solidFill>
                </a:rPr>
                <a:t>대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6" name="그룹 35"/>
          <p:cNvGrpSpPr/>
          <p:nvPr/>
        </p:nvGrpSpPr>
        <p:grpSpPr>
          <a:xfrm>
            <a:off x="3251797" y="4208858"/>
            <a:ext cx="2133250" cy="276999"/>
            <a:chOff x="2639568" y="2180342"/>
            <a:chExt cx="2133250" cy="276999"/>
          </a:xfrm>
        </p:grpSpPr>
        <p:pic>
          <p:nvPicPr>
            <p:cNvPr id="37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2639568" y="2187418"/>
              <a:ext cx="1159023" cy="269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직사각형 37"/>
            <p:cNvSpPr/>
            <p:nvPr/>
          </p:nvSpPr>
          <p:spPr>
            <a:xfrm>
              <a:off x="3613795" y="2180342"/>
              <a:ext cx="1159023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latinLnBrk="0" hangingPunct="0"/>
              <a:r>
                <a:rPr lang="en-US" altLang="ko-KR" sz="1200" b="1" smtClean="0">
                  <a:solidFill>
                    <a:srgbClr val="000000"/>
                  </a:solidFill>
                </a:rPr>
                <a:t>hd1-client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39" name="그룹 38"/>
          <p:cNvGrpSpPr/>
          <p:nvPr/>
        </p:nvGrpSpPr>
        <p:grpSpPr>
          <a:xfrm>
            <a:off x="3255229" y="4623639"/>
            <a:ext cx="2503365" cy="290569"/>
            <a:chOff x="3613796" y="1876406"/>
            <a:chExt cx="2503365" cy="290569"/>
          </a:xfrm>
        </p:grpSpPr>
        <p:pic>
          <p:nvPicPr>
            <p:cNvPr id="40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3613796" y="1897052"/>
              <a:ext cx="1159023" cy="269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직사각형 40"/>
            <p:cNvSpPr/>
            <p:nvPr/>
          </p:nvSpPr>
          <p:spPr>
            <a:xfrm>
              <a:off x="4598097" y="1876406"/>
              <a:ext cx="1519064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latinLnBrk="0" hangingPunct="0"/>
              <a:r>
                <a:rPr lang="en-US" altLang="ko-KR" sz="1200" b="1" smtClean="0">
                  <a:solidFill>
                    <a:srgbClr val="000000"/>
                  </a:solidFill>
                </a:rPr>
                <a:t>hd2-namenode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3255229" y="5031874"/>
            <a:ext cx="2561867" cy="290569"/>
            <a:chOff x="3613796" y="1876406"/>
            <a:chExt cx="2561867" cy="290569"/>
          </a:xfrm>
        </p:grpSpPr>
        <p:pic>
          <p:nvPicPr>
            <p:cNvPr id="43" name="Picture 46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448"/>
            <a:stretch>
              <a:fillRect/>
            </a:stretch>
          </p:blipFill>
          <p:spPr bwMode="auto">
            <a:xfrm>
              <a:off x="3613796" y="1897052"/>
              <a:ext cx="1159023" cy="269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" name="직사각형 43"/>
            <p:cNvSpPr/>
            <p:nvPr/>
          </p:nvSpPr>
          <p:spPr>
            <a:xfrm>
              <a:off x="4656599" y="1876406"/>
              <a:ext cx="1519064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eaLnBrk="0" latinLnBrk="0" hangingPunct="0"/>
              <a:r>
                <a:rPr lang="en-US" altLang="ko-KR" sz="1200" b="1" smtClean="0">
                  <a:solidFill>
                    <a:srgbClr val="000000"/>
                  </a:solidFill>
                </a:rPr>
                <a:t>hd3-secondnode</a:t>
              </a:r>
              <a:endParaRPr lang="en-US" altLang="ko-KR" sz="1200" b="1" dirty="0">
                <a:solidFill>
                  <a:srgbClr val="000000"/>
                </a:solidFill>
              </a:endParaRPr>
            </a:p>
          </p:txBody>
        </p:sp>
      </p:grpSp>
      <p:sp>
        <p:nvSpPr>
          <p:cNvPr id="45" name="원통 44"/>
          <p:cNvSpPr/>
          <p:nvPr/>
        </p:nvSpPr>
        <p:spPr>
          <a:xfrm>
            <a:off x="3584848" y="2933428"/>
            <a:ext cx="1917227" cy="60594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prstClr val="white"/>
                </a:solidFill>
              </a:rPr>
              <a:t>c</a:t>
            </a:r>
            <a:r>
              <a:rPr lang="en-US" altLang="ko-KR" sz="1400" smtClean="0">
                <a:solidFill>
                  <a:prstClr val="white"/>
                </a:solidFill>
              </a:rPr>
              <a:t>entos75-64bit.vdi</a:t>
            </a:r>
            <a:endParaRPr lang="ko-KR" altLang="en-US" sz="1400">
              <a:solidFill>
                <a:prstClr val="white"/>
              </a:solidFill>
            </a:endParaRPr>
          </a:p>
        </p:txBody>
      </p:sp>
      <p:sp>
        <p:nvSpPr>
          <p:cNvPr id="46" name="아래쪽 화살표 45"/>
          <p:cNvSpPr/>
          <p:nvPr/>
        </p:nvSpPr>
        <p:spPr>
          <a:xfrm>
            <a:off x="3930189" y="3681918"/>
            <a:ext cx="998991" cy="438348"/>
          </a:xfrm>
          <a:prstGeom prst="downArrow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 fontAlgn="auto" latinLnBrk="0">
              <a:lnSpc>
                <a:spcPct val="120000"/>
              </a:lnSpc>
              <a:spcBef>
                <a:spcPct val="30000"/>
              </a:spcBef>
              <a:spcAft>
                <a:spcPts val="0"/>
              </a:spcAft>
              <a:defRPr/>
            </a:pPr>
            <a:endParaRPr kumimoji="0" lang="ko-KR" altLang="en-US" sz="1400" b="1" kern="0" smtClean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  <p:sp>
        <p:nvSpPr>
          <p:cNvPr id="47" name="모서리가 둥근 직사각형 46"/>
          <p:cNvSpPr/>
          <p:nvPr/>
        </p:nvSpPr>
        <p:spPr bwMode="auto">
          <a:xfrm>
            <a:off x="344488" y="5581283"/>
            <a:ext cx="2736304" cy="982622"/>
          </a:xfrm>
          <a:prstGeom prst="roundRect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36000" rIns="36000" anchor="ctr"/>
          <a:lstStyle/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en-US" altLang="ko-KR" sz="1400" b="1" smtClean="0">
                <a:solidFill>
                  <a:srgbClr val="000000"/>
                </a:solidFill>
              </a:rPr>
              <a:t>[ 4</a:t>
            </a:r>
            <a:r>
              <a:rPr lang="ko-KR" altLang="en-US" sz="1400" b="1" smtClean="0">
                <a:solidFill>
                  <a:srgbClr val="000000"/>
                </a:solidFill>
              </a:rPr>
              <a:t>단계 </a:t>
            </a:r>
            <a:r>
              <a:rPr lang="en-US" altLang="ko-KR" sz="1400" b="1" smtClean="0">
                <a:solidFill>
                  <a:srgbClr val="000000"/>
                </a:solidFill>
              </a:rPr>
              <a:t>]</a:t>
            </a:r>
          </a:p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ko-KR" altLang="en-US" sz="1400" b="1" smtClean="0">
                <a:solidFill>
                  <a:srgbClr val="000000"/>
                </a:solidFill>
              </a:rPr>
              <a:t>하둡을 클러스터모드</a:t>
            </a:r>
            <a:r>
              <a:rPr lang="en-US" altLang="ko-KR" sz="1400" b="1" smtClean="0">
                <a:solidFill>
                  <a:srgbClr val="000000"/>
                </a:solidFill>
              </a:rPr>
              <a:t>(3</a:t>
            </a:r>
            <a:r>
              <a:rPr lang="ko-KR" altLang="en-US" sz="1400" b="1" smtClean="0">
                <a:solidFill>
                  <a:srgbClr val="000000"/>
                </a:solidFill>
              </a:rPr>
              <a:t>대</a:t>
            </a:r>
            <a:r>
              <a:rPr lang="en-US" altLang="ko-KR" sz="1400" b="1" smtClean="0">
                <a:solidFill>
                  <a:srgbClr val="000000"/>
                </a:solidFill>
              </a:rPr>
              <a:t>)</a:t>
            </a:r>
            <a:r>
              <a:rPr lang="ko-KR" altLang="en-US" sz="1400" b="1" smtClean="0">
                <a:solidFill>
                  <a:srgbClr val="000000"/>
                </a:solidFill>
              </a:rPr>
              <a:t>로</a:t>
            </a:r>
            <a:endParaRPr lang="en-US" altLang="ko-KR" sz="1400" b="1" smtClean="0">
              <a:solidFill>
                <a:srgbClr val="000000"/>
              </a:solidFill>
            </a:endParaRPr>
          </a:p>
          <a:p>
            <a:pPr algn="ctr" latinLnBrk="0">
              <a:lnSpc>
                <a:spcPct val="120000"/>
              </a:lnSpc>
              <a:spcBef>
                <a:spcPct val="30000"/>
              </a:spcBef>
              <a:defRPr/>
            </a:pPr>
            <a:r>
              <a:rPr lang="ko-KR" altLang="en-US" sz="1400" b="1" smtClean="0">
                <a:solidFill>
                  <a:srgbClr val="000000"/>
                </a:solidFill>
              </a:rPr>
              <a:t>설치하고 테스트하기</a:t>
            </a:r>
            <a:endParaRPr lang="ko-KR" altLang="en-US" sz="1400" b="1" dirty="0">
              <a:solidFill>
                <a:srgbClr val="000000"/>
              </a:solidFill>
            </a:endParaRPr>
          </a:p>
        </p:txBody>
      </p:sp>
      <p:sp>
        <p:nvSpPr>
          <p:cNvPr id="3" name="가로로 말린 두루마리 모양 2"/>
          <p:cNvSpPr/>
          <p:nvPr/>
        </p:nvSpPr>
        <p:spPr>
          <a:xfrm>
            <a:off x="5765083" y="1184016"/>
            <a:ext cx="3753431" cy="1452901"/>
          </a:xfrm>
          <a:prstGeom prst="horizont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en-US" altLang="ko-KR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en-US" altLang="ko-KR" sz="1200" b="1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FILE_3_Cluster_VDI</a:t>
            </a:r>
            <a:r>
              <a:rPr lang="en-US" altLang="ko-KR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폴더에 있습니다 </a:t>
            </a:r>
            <a:r>
              <a:rPr lang="en-US" altLang="ko-KR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en-US" altLang="ko-KR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CentOS-7-x86_64-Minimal-1611.iso</a:t>
            </a:r>
            <a:endParaRPr lang="en-US" altLang="ko-KR" sz="1200" b="1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ko-KR" altLang="en-US" sz="12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</a:t>
            </a:r>
            <a:r>
              <a:rPr lang="en-US" altLang="ko-KR" sz="12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_4_</a:t>
            </a:r>
            <a:r>
              <a:rPr lang="ko-KR" altLang="en-US" sz="12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클러스터</a:t>
            </a:r>
            <a:r>
              <a:rPr lang="en-US" altLang="ko-KR" sz="12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12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가상머신</a:t>
            </a:r>
            <a:r>
              <a:rPr lang="en-US" altLang="ko-KR" sz="12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.pptx</a:t>
            </a:r>
            <a:endParaRPr lang="ko-KR" altLang="en-US" sz="1200" b="1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가로로 말린 두루마리 모양 48"/>
          <p:cNvSpPr/>
          <p:nvPr/>
        </p:nvSpPr>
        <p:spPr>
          <a:xfrm>
            <a:off x="5752250" y="3628171"/>
            <a:ext cx="3753431" cy="1060969"/>
          </a:xfrm>
          <a:prstGeom prst="horizont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en-US" altLang="ko-KR" sz="12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en-US" altLang="ko-KR" sz="1200" b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FILE_3_Cluster_VDI </a:t>
            </a:r>
            <a:r>
              <a:rPr lang="ko-KR" altLang="en-US" sz="12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폴더에 있습니다 </a:t>
            </a:r>
            <a:r>
              <a:rPr lang="en-US" altLang="ko-KR" sz="12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en-US" altLang="ko-KR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centos75-64bit.zip</a:t>
            </a:r>
          </a:p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en-US" altLang="ko-KR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=&gt; </a:t>
            </a:r>
            <a:r>
              <a:rPr lang="ko-KR" altLang="en-US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압축 풀면 </a:t>
            </a:r>
            <a:r>
              <a:rPr lang="en-US" altLang="ko-KR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centos75-64bit.vdi(4.0GB)</a:t>
            </a:r>
            <a:endParaRPr lang="ko-KR" altLang="en-US" sz="1200" b="1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가로로 말린 두루마리 모양 49"/>
          <p:cNvSpPr/>
          <p:nvPr/>
        </p:nvSpPr>
        <p:spPr>
          <a:xfrm>
            <a:off x="5753471" y="2564905"/>
            <a:ext cx="3753431" cy="1117476"/>
          </a:xfrm>
          <a:prstGeom prst="horizont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en-US" altLang="ko-KR" sz="12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en-US" altLang="ko-KR" sz="1200" b="1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FILE_3_Cluster_VDI </a:t>
            </a:r>
            <a:r>
              <a:rPr lang="ko-KR" altLang="en-US" sz="12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폴더에 있습니다 </a:t>
            </a:r>
            <a:r>
              <a:rPr lang="en-US" altLang="ko-KR" sz="12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ko-KR" altLang="en-US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</a:t>
            </a:r>
            <a:r>
              <a:rPr lang="en-US" altLang="ko-KR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_5_</a:t>
            </a:r>
            <a:r>
              <a:rPr lang="ko-KR" altLang="en-US" sz="12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클러스터</a:t>
            </a:r>
            <a:r>
              <a:rPr lang="en-US" altLang="ko-KR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_VDI</a:t>
            </a:r>
            <a:r>
              <a:rPr lang="ko-KR" altLang="en-US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만들기</a:t>
            </a:r>
            <a:r>
              <a:rPr lang="en-US" altLang="ko-KR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.pptx</a:t>
            </a:r>
          </a:p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ko-KR" altLang="en-US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하둡설치</a:t>
            </a:r>
            <a:r>
              <a:rPr lang="en-US" altLang="ko-KR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_Cent75_</a:t>
            </a:r>
            <a:r>
              <a:rPr lang="ko-KR" altLang="en-US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클러스터</a:t>
            </a:r>
            <a:r>
              <a:rPr lang="en-US" altLang="ko-KR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_1_VDI</a:t>
            </a:r>
            <a:r>
              <a:rPr lang="ko-KR" altLang="en-US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만들기</a:t>
            </a:r>
            <a:r>
              <a:rPr lang="en-US" altLang="ko-KR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.txt</a:t>
            </a:r>
            <a:endParaRPr lang="ko-KR" altLang="en-US" sz="1200" b="1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가로로 말린 두루마리 모양 50"/>
          <p:cNvSpPr/>
          <p:nvPr/>
        </p:nvSpPr>
        <p:spPr>
          <a:xfrm>
            <a:off x="5752249" y="4725144"/>
            <a:ext cx="3753431" cy="1899168"/>
          </a:xfrm>
          <a:prstGeom prst="horizontalScroll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en-US" altLang="ko-KR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en-US" altLang="ko-KR" sz="1200" b="1" smtClean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FILE_4_Cluster_Hadoop</a:t>
            </a:r>
            <a:r>
              <a:rPr lang="en-US" altLang="ko-KR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폴더에 있습니다 </a:t>
            </a:r>
            <a:r>
              <a:rPr lang="en-US" altLang="ko-KR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ko-KR" altLang="en-US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실습</a:t>
            </a:r>
            <a:r>
              <a:rPr lang="en-US" altLang="ko-KR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_6_</a:t>
            </a:r>
            <a:r>
              <a:rPr lang="ko-KR" altLang="en-US" sz="12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클러스터</a:t>
            </a:r>
            <a:r>
              <a:rPr lang="en-US" altLang="ko-KR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하둡설치</a:t>
            </a:r>
            <a:r>
              <a:rPr lang="en-US" altLang="ko-KR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.pptx</a:t>
            </a:r>
          </a:p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ko-KR" altLang="en-US" sz="12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하둡설치</a:t>
            </a:r>
            <a:r>
              <a:rPr lang="en-US" altLang="ko-KR" sz="12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_Cent75_</a:t>
            </a:r>
            <a:r>
              <a:rPr lang="ko-KR" altLang="en-US" sz="12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클러스터</a:t>
            </a:r>
            <a:r>
              <a:rPr lang="en-US" altLang="ko-KR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_2_</a:t>
            </a:r>
            <a:r>
              <a:rPr lang="ko-KR" altLang="en-US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하둡설치</a:t>
            </a:r>
            <a:r>
              <a:rPr lang="en-US" altLang="ko-KR" sz="12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en-US" altLang="ko-KR" sz="1200" b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txt</a:t>
            </a:r>
            <a:endParaRPr lang="ko-KR" altLang="en-US" sz="1200" b="1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20000"/>
              </a:lnSpc>
              <a:spcBef>
                <a:spcPct val="30000"/>
              </a:spcBef>
            </a:pPr>
            <a:endParaRPr lang="ko-KR" altLang="en-US" sz="1200" b="1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026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1. VDI </a:t>
            </a:r>
            <a:r>
              <a:rPr kumimoji="0" lang="ko-KR" altLang="en-US" sz="3000" b="1" smtClean="0">
                <a:solidFill>
                  <a:prstClr val="white"/>
                </a:solidFill>
              </a:rPr>
              <a:t>이미지로 </a:t>
            </a:r>
            <a:r>
              <a:rPr kumimoji="0" lang="ko-KR" altLang="en-US" sz="3000" b="1" err="1" smtClean="0">
                <a:solidFill>
                  <a:prstClr val="white"/>
                </a:solidFill>
              </a:rPr>
              <a:t>가상머신</a:t>
            </a:r>
            <a:r>
              <a:rPr kumimoji="0" lang="ko-KR" altLang="en-US" sz="3000" b="1" smtClean="0">
                <a:solidFill>
                  <a:prstClr val="white"/>
                </a:solidFill>
              </a:rPr>
              <a:t> 만들기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9388806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err="1">
                <a:solidFill>
                  <a:prstClr val="black"/>
                </a:solidFill>
              </a:rPr>
              <a:t>리눅스</a:t>
            </a:r>
            <a:r>
              <a:rPr lang="en-US" altLang="ko-KR" b="1">
                <a:solidFill>
                  <a:prstClr val="black"/>
                </a:solidFill>
              </a:rPr>
              <a:t>, </a:t>
            </a:r>
            <a:r>
              <a:rPr lang="ko-KR" altLang="en-US" b="1">
                <a:solidFill>
                  <a:prstClr val="black"/>
                </a:solidFill>
              </a:rPr>
              <a:t>필요한 파일 다운로드가 완료된 </a:t>
            </a:r>
            <a:r>
              <a:rPr lang="en-US" altLang="ko-KR" b="1">
                <a:solidFill>
                  <a:prstClr val="black"/>
                </a:solidFill>
              </a:rPr>
              <a:t>VDI </a:t>
            </a:r>
            <a:r>
              <a:rPr lang="ko-KR" altLang="en-US" b="1" smtClean="0">
                <a:solidFill>
                  <a:prstClr val="black"/>
                </a:solidFill>
              </a:rPr>
              <a:t>이미지로 </a:t>
            </a:r>
            <a:r>
              <a:rPr lang="ko-KR" altLang="en-US" b="1">
                <a:solidFill>
                  <a:prstClr val="black"/>
                </a:solidFill>
              </a:rPr>
              <a:t>실습용 </a:t>
            </a:r>
            <a:r>
              <a:rPr lang="ko-KR" altLang="en-US" b="1" err="1">
                <a:solidFill>
                  <a:prstClr val="black"/>
                </a:solidFill>
              </a:rPr>
              <a:t>가상머신</a:t>
            </a:r>
            <a:r>
              <a:rPr lang="ko-KR" altLang="en-US" b="1">
                <a:solidFill>
                  <a:prstClr val="black"/>
                </a:solidFill>
              </a:rPr>
              <a:t> 만들기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51318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작업 절차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]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방금 만든 </a:t>
            </a:r>
            <a:r>
              <a:rPr lang="ko-KR" altLang="en-US" sz="1500" b="1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가상머신을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삭제한다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.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=&gt;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모든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파일 삭제하기</a:t>
            </a:r>
          </a:p>
          <a:p>
            <a:pPr marL="0" indent="0" latinLnBrk="0">
              <a:spcBef>
                <a:spcPct val="30000"/>
              </a:spcBef>
            </a:pPr>
            <a:endParaRPr lang="ko-KR" altLang="en-US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2.VDI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백업 이미지의 압축을 푸세요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  centos75-64bit.zip(2,157,769KB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=&gt; centos75-64bit.vdi(4,196,352KB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3.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가상 머신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만들기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*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기존 가상 하드 드라이브 파일 사용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centos75-64bit.vdi(4.00G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)</a:t>
            </a:r>
            <a:endParaRPr lang="en-US" altLang="ko-KR" sz="1300" b="1">
              <a:solidFill>
                <a:prstClr val="black"/>
              </a:solidFill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4.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가상 머신 설정</a:t>
            </a:r>
            <a:endParaRPr lang="ko-KR" altLang="en-US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* 어댑터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 : NAT, MAC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주소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FF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123456789020</a:t>
            </a: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FF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*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어댑터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 :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호스트전용어댑터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, MAC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주소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FF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123456789021</a:t>
            </a: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FF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</a:t>
            </a:r>
            <a:endParaRPr lang="en-US" altLang="ko-KR" sz="1300" b="1">
              <a:solidFill>
                <a:prstClr val="black"/>
              </a:solidFill>
            </a:endParaRPr>
          </a:p>
        </p:txBody>
      </p:sp>
      <p:sp>
        <p:nvSpPr>
          <p:cNvPr id="5" name="가로로 말린 두루마리 모양 4"/>
          <p:cNvSpPr/>
          <p:nvPr/>
        </p:nvSpPr>
        <p:spPr>
          <a:xfrm>
            <a:off x="5169024" y="1686398"/>
            <a:ext cx="3863234" cy="1667335"/>
          </a:xfrm>
          <a:prstGeom prst="horizont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6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6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위치 </a:t>
            </a:r>
            <a:r>
              <a:rPr lang="en-US" altLang="ko-KR" sz="16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ko-KR" altLang="en-US" sz="16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디렉토리 </a:t>
            </a:r>
            <a:r>
              <a:rPr lang="en-US" altLang="ko-KR" sz="16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/FILE_3_Cluster/</a:t>
            </a:r>
          </a:p>
          <a:p>
            <a:pPr>
              <a:lnSpc>
                <a:spcPct val="150000"/>
              </a:lnSpc>
            </a:pPr>
            <a:r>
              <a:rPr lang="ko-KR" altLang="en-US" sz="16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 </a:t>
            </a:r>
            <a:r>
              <a:rPr lang="en-US" altLang="ko-KR" sz="1600" b="1" smtClean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centos75-64bit.zip</a:t>
            </a:r>
          </a:p>
        </p:txBody>
      </p:sp>
    </p:spTree>
    <p:extLst>
      <p:ext uri="{BB962C8B-B14F-4D97-AF65-F5344CB8AC3E}">
        <p14:creationId xmlns:p14="http://schemas.microsoft.com/office/powerpoint/2010/main" val="3889980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8285" y="3289014"/>
            <a:ext cx="5903167" cy="3568986"/>
          </a:xfrm>
          <a:prstGeom prst="rect">
            <a:avLst/>
          </a:prstGeom>
        </p:spPr>
      </p:pic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1. VDI </a:t>
            </a:r>
            <a:r>
              <a:rPr kumimoji="0" lang="ko-KR" altLang="en-US" sz="3000" b="1" smtClean="0">
                <a:solidFill>
                  <a:prstClr val="white"/>
                </a:solidFill>
              </a:rPr>
              <a:t>이미지로 </a:t>
            </a:r>
            <a:r>
              <a:rPr kumimoji="0" lang="ko-KR" altLang="en-US" sz="3000" b="1" err="1" smtClean="0">
                <a:solidFill>
                  <a:prstClr val="white"/>
                </a:solidFill>
              </a:rPr>
              <a:t>가상머신</a:t>
            </a:r>
            <a:r>
              <a:rPr kumimoji="0" lang="ko-KR" altLang="en-US" sz="3000" b="1" smtClean="0">
                <a:solidFill>
                  <a:prstClr val="white"/>
                </a:solidFill>
              </a:rPr>
              <a:t> 만들기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9388806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>
                <a:solidFill>
                  <a:prstClr val="black"/>
                </a:solidFill>
              </a:rPr>
              <a:t>가상 </a:t>
            </a:r>
            <a:r>
              <a:rPr lang="ko-KR" altLang="en-US" b="1">
                <a:solidFill>
                  <a:prstClr val="black"/>
                </a:solidFill>
              </a:rPr>
              <a:t>머신 </a:t>
            </a:r>
            <a:r>
              <a:rPr lang="ko-KR" altLang="en-US" b="1" smtClean="0">
                <a:solidFill>
                  <a:prstClr val="black"/>
                </a:solidFill>
              </a:rPr>
              <a:t>만들기</a:t>
            </a:r>
            <a:endParaRPr lang="en-US" altLang="ko-KR" b="1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239110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중요 설정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]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1.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이름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hd1-client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2.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종류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Linux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3.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버전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Redhat( 64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비트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4.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메모리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1200MB(1500MB)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5.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기존 가상 하드 드라이브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6.centos75-64bit.vdi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선택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300" b="1">
              <a:solidFill>
                <a:prstClr val="black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2860" y="1154394"/>
            <a:ext cx="3390900" cy="2009775"/>
          </a:xfrm>
          <a:prstGeom prst="rect">
            <a:avLst/>
          </a:prstGeom>
        </p:spPr>
      </p:pic>
      <p:sp>
        <p:nvSpPr>
          <p:cNvPr id="10" name="타원형 설명선 9"/>
          <p:cNvSpPr/>
          <p:nvPr/>
        </p:nvSpPr>
        <p:spPr>
          <a:xfrm>
            <a:off x="6482601" y="978290"/>
            <a:ext cx="3060909" cy="1198634"/>
          </a:xfrm>
          <a:prstGeom prst="wedgeEllipseCallout">
            <a:avLst>
              <a:gd name="adj1" fmla="val -97586"/>
              <a:gd name="adj2" fmla="val 9834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b="1" smtClean="0">
                <a:latin typeface="맑은 고딕" pitchFamily="50" charset="-127"/>
                <a:ea typeface="맑은 고딕" pitchFamily="50" charset="-127"/>
              </a:rPr>
              <a:t>기존 가상머신 삭제</a:t>
            </a:r>
            <a:endParaRPr lang="en-US" altLang="ko-KR" sz="1600" b="1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600" b="1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ko-KR" altLang="en-US" sz="1600" b="1" smtClean="0">
                <a:latin typeface="맑은 고딕" pitchFamily="50" charset="-127"/>
                <a:ea typeface="맑은 고딕" pitchFamily="50" charset="-127"/>
              </a:rPr>
              <a:t>모든 파일 지우기</a:t>
            </a:r>
            <a:r>
              <a:rPr lang="en-US" altLang="ko-KR" sz="1600" b="1" smtClean="0">
                <a:latin typeface="맑은 고딕" pitchFamily="50" charset="-127"/>
                <a:ea typeface="맑은 고딕" pitchFamily="50" charset="-127"/>
              </a:rPr>
              <a:t>]</a:t>
            </a:r>
          </a:p>
          <a:p>
            <a:pPr marL="285750" indent="-285750" algn="ctr">
              <a:buFont typeface="Symbol" panose="05050102010706020507" pitchFamily="18" charset="2"/>
              <a:buChar char="Þ"/>
            </a:pPr>
            <a:r>
              <a:rPr lang="ko-KR" altLang="en-US" sz="1600" b="1" smtClean="0">
                <a:latin typeface="맑은 고딕" pitchFamily="50" charset="-127"/>
                <a:ea typeface="맑은 고딕" pitchFamily="50" charset="-127"/>
              </a:rPr>
              <a:t>클릭</a:t>
            </a:r>
            <a:endParaRPr lang="ko-KR" altLang="en-US" sz="16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타원형 설명선 10"/>
          <p:cNvSpPr/>
          <p:nvPr/>
        </p:nvSpPr>
        <p:spPr>
          <a:xfrm>
            <a:off x="390219" y="4071809"/>
            <a:ext cx="2618566" cy="1198634"/>
          </a:xfrm>
          <a:prstGeom prst="wedgeEllipseCallout">
            <a:avLst>
              <a:gd name="adj1" fmla="val 65581"/>
              <a:gd name="adj2" fmla="val 11721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b="1" smtClean="0">
                <a:latin typeface="맑은 고딕" pitchFamily="50" charset="-127"/>
                <a:ea typeface="맑은 고딕" pitchFamily="50" charset="-127"/>
              </a:rPr>
              <a:t>기존 가상 하드 </a:t>
            </a:r>
            <a:r>
              <a:rPr lang="en-US" altLang="ko-KR" sz="1600" b="1" smtClean="0">
                <a:latin typeface="맑은 고딕" pitchFamily="50" charset="-127"/>
                <a:ea typeface="맑은 고딕" pitchFamily="50" charset="-127"/>
              </a:rPr>
              <a:t>…</a:t>
            </a:r>
          </a:p>
          <a:p>
            <a:pPr marL="285750" indent="-285750" algn="ctr">
              <a:buFont typeface="Symbol" panose="05050102010706020507" pitchFamily="18" charset="2"/>
              <a:buChar char="Þ"/>
            </a:pPr>
            <a:r>
              <a:rPr lang="ko-KR" altLang="en-US" sz="1600" b="1" smtClean="0">
                <a:latin typeface="맑은 고딕" pitchFamily="50" charset="-127"/>
                <a:ea typeface="맑은 고딕" pitchFamily="50" charset="-127"/>
              </a:rPr>
              <a:t>선택</a:t>
            </a:r>
            <a:endParaRPr lang="ko-KR" altLang="en-US" sz="16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타원형 설명선 11"/>
          <p:cNvSpPr/>
          <p:nvPr/>
        </p:nvSpPr>
        <p:spPr>
          <a:xfrm>
            <a:off x="6645188" y="5768353"/>
            <a:ext cx="1890779" cy="1089647"/>
          </a:xfrm>
          <a:prstGeom prst="wedgeEllipseCallout">
            <a:avLst>
              <a:gd name="adj1" fmla="val -75414"/>
              <a:gd name="adj2" fmla="val -773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b="1" smtClean="0">
                <a:latin typeface="맑은 고딕" pitchFamily="50" charset="-127"/>
                <a:ea typeface="맑은 고딕" pitchFamily="50" charset="-127"/>
              </a:rPr>
              <a:t>선택 아이콘 </a:t>
            </a:r>
            <a:endParaRPr lang="en-US" altLang="ko-KR" sz="1600" b="1" smtClean="0">
              <a:latin typeface="맑은 고딕" pitchFamily="50" charset="-127"/>
              <a:ea typeface="맑은 고딕" pitchFamily="50" charset="-127"/>
            </a:endParaRPr>
          </a:p>
          <a:p>
            <a:pPr marL="285750" indent="-285750" algn="ctr">
              <a:buFont typeface="Symbol" panose="05050102010706020507" pitchFamily="18" charset="2"/>
              <a:buChar char="Þ"/>
            </a:pPr>
            <a:r>
              <a:rPr lang="ko-KR" altLang="en-US" sz="1600" b="1" smtClean="0">
                <a:latin typeface="맑은 고딕" pitchFamily="50" charset="-127"/>
                <a:ea typeface="맑은 고딕" pitchFamily="50" charset="-127"/>
              </a:rPr>
              <a:t>클릭</a:t>
            </a:r>
            <a:endParaRPr lang="ko-KR" altLang="en-US" sz="16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타원형 설명선 12"/>
          <p:cNvSpPr/>
          <p:nvPr/>
        </p:nvSpPr>
        <p:spPr>
          <a:xfrm>
            <a:off x="7193260" y="2626410"/>
            <a:ext cx="2151659" cy="1269477"/>
          </a:xfrm>
          <a:prstGeom prst="wedgeEllipseCallout">
            <a:avLst>
              <a:gd name="adj1" fmla="val -28273"/>
              <a:gd name="adj2" fmla="val 18633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b="1" smtClean="0">
                <a:latin typeface="맑은 고딕" pitchFamily="50" charset="-127"/>
                <a:ea typeface="맑은 고딕" pitchFamily="50" charset="-127"/>
              </a:rPr>
              <a:t>VDI </a:t>
            </a:r>
            <a:r>
              <a:rPr lang="ko-KR" altLang="en-US" sz="1600" b="1" smtClean="0">
                <a:latin typeface="맑은 고딕" pitchFamily="50" charset="-127"/>
                <a:ea typeface="맑은 고딕" pitchFamily="50" charset="-127"/>
              </a:rPr>
              <a:t>이미지 </a:t>
            </a:r>
            <a:endParaRPr lang="en-US" altLang="ko-KR" sz="1600" b="1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ko-KR" altLang="en-US" sz="1600" b="1" smtClean="0">
                <a:latin typeface="맑은 고딕" pitchFamily="50" charset="-127"/>
                <a:ea typeface="맑은 고딕" pitchFamily="50" charset="-127"/>
              </a:rPr>
              <a:t>선택 후 </a:t>
            </a:r>
            <a:endParaRPr lang="en-US" altLang="ko-KR" sz="1600" b="1" smtClean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600" b="1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ko-KR" altLang="en-US" sz="1600" b="1" smtClean="0">
                <a:latin typeface="맑은 고딕" pitchFamily="50" charset="-127"/>
                <a:ea typeface="맑은 고딕" pitchFamily="50" charset="-127"/>
              </a:rPr>
              <a:t>열기</a:t>
            </a:r>
            <a:r>
              <a:rPr lang="en-US" altLang="ko-KR" sz="1600" b="1" smtClean="0">
                <a:latin typeface="맑은 고딕" pitchFamily="50" charset="-127"/>
                <a:ea typeface="맑은 고딕" pitchFamily="50" charset="-127"/>
              </a:rPr>
              <a:t>]</a:t>
            </a:r>
          </a:p>
          <a:p>
            <a:pPr marL="285750" indent="-285750" algn="ctr">
              <a:buFont typeface="Symbol" panose="05050102010706020507" pitchFamily="18" charset="2"/>
              <a:buChar char="Þ"/>
            </a:pPr>
            <a:r>
              <a:rPr lang="ko-KR" altLang="en-US" sz="1600" b="1" smtClean="0">
                <a:latin typeface="맑은 고딕" pitchFamily="50" charset="-127"/>
                <a:ea typeface="맑은 고딕" pitchFamily="50" charset="-127"/>
              </a:rPr>
              <a:t>클릭</a:t>
            </a:r>
            <a:endParaRPr lang="ko-KR" altLang="en-US" sz="1600" b="1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0358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089" y="1916832"/>
            <a:ext cx="6965283" cy="4618167"/>
          </a:xfrm>
          <a:prstGeom prst="rect">
            <a:avLst/>
          </a:prstGeom>
        </p:spPr>
      </p:pic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1. </a:t>
            </a:r>
            <a:r>
              <a:rPr kumimoji="0" lang="en-US" altLang="ko-KR" sz="3000" b="1">
                <a:solidFill>
                  <a:prstClr val="white"/>
                </a:solidFill>
              </a:rPr>
              <a:t>VDI </a:t>
            </a:r>
            <a:r>
              <a:rPr kumimoji="0" lang="ko-KR" altLang="en-US" sz="3000" b="1">
                <a:solidFill>
                  <a:prstClr val="white"/>
                </a:solidFill>
              </a:rPr>
              <a:t>이미지로 가상머신 만들기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003066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/>
              <a:t>가상 머신 네트워크 설정</a:t>
            </a:r>
            <a:endParaRPr lang="ko-KR" altLang="en-US" b="1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8968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어댑터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 :  [ NAT ]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에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연결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[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고급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] MAC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주소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8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FF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123456789020</a:t>
            </a:r>
            <a:endParaRPr lang="en-US" altLang="ko-KR" sz="1600" b="1" smtClean="0">
              <a:solidFill>
                <a:srgbClr val="FF0000"/>
              </a:solidFill>
              <a:latin typeface="+mn-ea"/>
              <a:ea typeface="+mn-ea"/>
            </a:endParaRPr>
          </a:p>
          <a:p>
            <a:pPr lvl="1" latinLnBrk="0">
              <a:spcBef>
                <a:spcPct val="30000"/>
              </a:spcBef>
              <a:buFont typeface="나눔고딕" pitchFamily="50" charset="-127"/>
              <a:buChar char="‐"/>
            </a:pPr>
            <a:endParaRPr lang="en-US" altLang="ko-KR" sz="1300" b="1">
              <a:latin typeface="+mn-ea"/>
              <a:ea typeface="+mn-ea"/>
            </a:endParaRPr>
          </a:p>
          <a:p>
            <a:pPr lvl="1" latinLnBrk="0">
              <a:spcBef>
                <a:spcPct val="30000"/>
              </a:spcBef>
              <a:buFont typeface="나눔고딕" pitchFamily="50" charset="-127"/>
              <a:buChar char="‐"/>
            </a:pPr>
            <a:endParaRPr lang="en-US" altLang="ko-KR" sz="1300" b="1">
              <a:latin typeface="+mn-ea"/>
              <a:ea typeface="+mn-ea"/>
            </a:endParaRPr>
          </a:p>
        </p:txBody>
      </p:sp>
      <p:sp>
        <p:nvSpPr>
          <p:cNvPr id="6" name="타원형 설명선 5"/>
          <p:cNvSpPr/>
          <p:nvPr/>
        </p:nvSpPr>
        <p:spPr>
          <a:xfrm>
            <a:off x="882151" y="5085184"/>
            <a:ext cx="1800200" cy="1528176"/>
          </a:xfrm>
          <a:prstGeom prst="wedgeEllipseCallout">
            <a:avLst>
              <a:gd name="adj1" fmla="val 94530"/>
              <a:gd name="adj2" fmla="val -111186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b="1" smtClean="0">
                <a:latin typeface="맑은 고딕" pitchFamily="50" charset="-127"/>
                <a:ea typeface="맑은 고딕" pitchFamily="50" charset="-127"/>
              </a:rPr>
              <a:t>고급</a:t>
            </a:r>
            <a:r>
              <a:rPr lang="en-US" altLang="ko-KR" b="1" smtClean="0">
                <a:latin typeface="맑은 고딕" pitchFamily="50" charset="-127"/>
                <a:ea typeface="맑은 고딕" pitchFamily="50" charset="-127"/>
              </a:rPr>
              <a:t>(D)</a:t>
            </a:r>
          </a:p>
          <a:p>
            <a:pPr algn="ctr">
              <a:lnSpc>
                <a:spcPct val="150000"/>
              </a:lnSpc>
            </a:pPr>
            <a:r>
              <a:rPr lang="ko-KR" altLang="en-US" b="1" smtClean="0">
                <a:latin typeface="맑은 고딕" pitchFamily="50" charset="-127"/>
                <a:ea typeface="맑은 고딕" pitchFamily="50" charset="-127"/>
              </a:rPr>
              <a:t>클릭</a:t>
            </a:r>
            <a:endParaRPr lang="ko-KR" altLang="en-US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160912" y="4725143"/>
            <a:ext cx="1584176" cy="373207"/>
          </a:xfrm>
          <a:prstGeom prst="rect">
            <a:avLst/>
          </a:prstGeom>
          <a:noFill/>
          <a:ln w="63500">
            <a:solidFill>
              <a:srgbClr val="FF0000">
                <a:alpha val="44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277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17" y="2203776"/>
            <a:ext cx="6513807" cy="4318827"/>
          </a:xfrm>
          <a:prstGeom prst="rect">
            <a:avLst/>
          </a:prstGeom>
        </p:spPr>
      </p:pic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1. </a:t>
            </a:r>
            <a:r>
              <a:rPr kumimoji="0" lang="en-US" altLang="ko-KR" sz="3000" b="1">
                <a:solidFill>
                  <a:prstClr val="white"/>
                </a:solidFill>
              </a:rPr>
              <a:t>VDI </a:t>
            </a:r>
            <a:r>
              <a:rPr kumimoji="0" lang="ko-KR" altLang="en-US" sz="3000" b="1">
                <a:solidFill>
                  <a:prstClr val="white"/>
                </a:solidFill>
              </a:rPr>
              <a:t>이미지로 가상머신 만들기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003066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/>
              <a:t>가상 머신 네트워크 설정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121078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어댑터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[V]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네트워크 어댑터 사용하기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체크할 것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[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호스트 전용 어댑터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]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에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연결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[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고급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] MAC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주소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8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FF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123456789021</a:t>
            </a:r>
            <a:endParaRPr lang="en-US" altLang="ko-KR" sz="1600" b="1">
              <a:solidFill>
                <a:srgbClr val="FF0000"/>
              </a:solidFill>
              <a:latin typeface="+mn-ea"/>
            </a:endParaRPr>
          </a:p>
          <a:p>
            <a:pPr lvl="1" latinLnBrk="0">
              <a:spcBef>
                <a:spcPct val="30000"/>
              </a:spcBef>
              <a:buFont typeface="나눔고딕" pitchFamily="50" charset="-127"/>
              <a:buChar char="‐"/>
            </a:pPr>
            <a:endParaRPr lang="en-US" altLang="ko-KR" sz="1300" b="1">
              <a:latin typeface="+mn-ea"/>
              <a:ea typeface="+mn-ea"/>
            </a:endParaRPr>
          </a:p>
          <a:p>
            <a:pPr lvl="1" latinLnBrk="0">
              <a:spcBef>
                <a:spcPct val="30000"/>
              </a:spcBef>
              <a:buFont typeface="나눔고딕" pitchFamily="50" charset="-127"/>
              <a:buChar char="‐"/>
            </a:pPr>
            <a:endParaRPr lang="en-US" altLang="ko-KR" sz="1300" b="1">
              <a:latin typeface="+mn-ea"/>
              <a:ea typeface="+mn-ea"/>
            </a:endParaRPr>
          </a:p>
        </p:txBody>
      </p:sp>
      <p:sp>
        <p:nvSpPr>
          <p:cNvPr id="6" name="타원형 설명선 5"/>
          <p:cNvSpPr/>
          <p:nvPr/>
        </p:nvSpPr>
        <p:spPr>
          <a:xfrm>
            <a:off x="164468" y="5085184"/>
            <a:ext cx="1800200" cy="1528176"/>
          </a:xfrm>
          <a:prstGeom prst="wedgeEllipseCallout">
            <a:avLst>
              <a:gd name="adj1" fmla="val 47263"/>
              <a:gd name="adj2" fmla="val -147819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 smtClean="0">
                <a:latin typeface="맑은 고딕" pitchFamily="50" charset="-127"/>
                <a:ea typeface="맑은 고딕" pitchFamily="50" charset="-127"/>
              </a:rPr>
              <a:t>[ V ]</a:t>
            </a:r>
          </a:p>
          <a:p>
            <a:pPr algn="ctr">
              <a:lnSpc>
                <a:spcPct val="150000"/>
              </a:lnSpc>
            </a:pPr>
            <a:r>
              <a:rPr lang="ko-KR" altLang="en-US" b="1" smtClean="0">
                <a:latin typeface="맑은 고딕" pitchFamily="50" charset="-127"/>
                <a:ea typeface="맑은 고딕" pitchFamily="50" charset="-127"/>
              </a:rPr>
              <a:t>체크</a:t>
            </a:r>
            <a:endParaRPr lang="ko-KR" altLang="en-US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가로로 말린 두루마리 모양 6"/>
          <p:cNvSpPr/>
          <p:nvPr/>
        </p:nvSpPr>
        <p:spPr>
          <a:xfrm>
            <a:off x="6680818" y="1946160"/>
            <a:ext cx="2607617" cy="2163916"/>
          </a:xfrm>
          <a:prstGeom prst="horizont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어댑터 </a:t>
            </a:r>
            <a:r>
              <a:rPr lang="en-US" altLang="ko-KR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1 ] </a:t>
            </a:r>
          </a:p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NAT</a:t>
            </a:r>
          </a:p>
          <a:p>
            <a:pPr algn="ctr">
              <a:lnSpc>
                <a:spcPct val="150000"/>
              </a:lnSpc>
            </a:pPr>
            <a:r>
              <a:rPr lang="en-US" altLang="ko-KR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어댑터 </a:t>
            </a:r>
            <a:r>
              <a:rPr lang="en-US" altLang="ko-KR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2 ]</a:t>
            </a:r>
          </a:p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호스트전용어댑터</a:t>
            </a:r>
            <a:endParaRPr lang="en-US" altLang="ko-KR" sz="1600" b="1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타원형 설명선 7"/>
          <p:cNvSpPr/>
          <p:nvPr/>
        </p:nvSpPr>
        <p:spPr>
          <a:xfrm>
            <a:off x="7260971" y="4715468"/>
            <a:ext cx="1472449" cy="1133804"/>
          </a:xfrm>
          <a:prstGeom prst="wedgeEllipseCallout">
            <a:avLst>
              <a:gd name="adj1" fmla="val -196720"/>
              <a:gd name="adj2" fmla="val 8205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b="1" smtClean="0">
                <a:latin typeface="맑은 고딕" pitchFamily="50" charset="-127"/>
                <a:ea typeface="맑은 고딕" pitchFamily="50" charset="-127"/>
              </a:rPr>
              <a:t>확인</a:t>
            </a:r>
            <a:endParaRPr lang="ko-KR" altLang="en-US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152800" y="4833156"/>
            <a:ext cx="1584176" cy="373207"/>
          </a:xfrm>
          <a:prstGeom prst="rect">
            <a:avLst/>
          </a:prstGeom>
          <a:noFill/>
          <a:ln w="63500">
            <a:solidFill>
              <a:srgbClr val="FF0000">
                <a:alpha val="44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319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1. VDI </a:t>
            </a:r>
            <a:r>
              <a:rPr kumimoji="0" lang="ko-KR" altLang="en-US" sz="3000" b="1">
                <a:solidFill>
                  <a:prstClr val="white"/>
                </a:solidFill>
              </a:rPr>
              <a:t>이미지로 가상머신 만들기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140651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dirty="0" smtClean="0"/>
              <a:t>가상 머신 </a:t>
            </a:r>
            <a:r>
              <a:rPr lang="en-US" altLang="ko-KR" b="1" dirty="0" smtClean="0"/>
              <a:t>: </a:t>
            </a:r>
            <a:r>
              <a:rPr lang="ko-KR" altLang="en-US" b="1" dirty="0" smtClean="0"/>
              <a:t>시작</a:t>
            </a:r>
            <a:endParaRPr lang="ko-KR" altLang="en-US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197" y="1160748"/>
            <a:ext cx="5935016" cy="5079333"/>
          </a:xfrm>
          <a:prstGeom prst="rect">
            <a:avLst/>
          </a:prstGeom>
        </p:spPr>
      </p:pic>
      <p:sp>
        <p:nvSpPr>
          <p:cNvPr id="9" name="타원형 설명선 8"/>
          <p:cNvSpPr/>
          <p:nvPr/>
        </p:nvSpPr>
        <p:spPr>
          <a:xfrm>
            <a:off x="1676636" y="2754905"/>
            <a:ext cx="1800200" cy="1152128"/>
          </a:xfrm>
          <a:prstGeom prst="wedgeEllipseCallout">
            <a:avLst>
              <a:gd name="adj1" fmla="val 104830"/>
              <a:gd name="adj2" fmla="val -132971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[ </a:t>
            </a:r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시작 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]</a:t>
            </a:r>
          </a:p>
          <a:p>
            <a:pPr algn="ctr">
              <a:lnSpc>
                <a:spcPct val="150000"/>
              </a:lnSpc>
            </a:pPr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전원 </a:t>
            </a:r>
            <a:r>
              <a:rPr lang="en-US" altLang="ko-KR" b="1" dirty="0" smtClean="0">
                <a:latin typeface="맑은 고딕" pitchFamily="50" charset="-127"/>
                <a:ea typeface="맑은 고딕" pitchFamily="50" charset="-127"/>
              </a:rPr>
              <a:t>On</a:t>
            </a:r>
            <a:endParaRPr lang="ko-KR" altLang="en-US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574968" y="4869159"/>
            <a:ext cx="2607617" cy="1370921"/>
          </a:xfrm>
          <a:prstGeom prst="horizont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오류 최대 </a:t>
            </a:r>
            <a:r>
              <a:rPr lang="en-US" altLang="ko-KR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번 발생</a:t>
            </a:r>
            <a:endParaRPr lang="en-US" altLang="ko-KR" sz="1600" b="1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8916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1. VDI </a:t>
            </a:r>
            <a:r>
              <a:rPr kumimoji="0" lang="ko-KR" altLang="en-US" sz="3000" b="1">
                <a:solidFill>
                  <a:prstClr val="white"/>
                </a:solidFill>
              </a:rPr>
              <a:t>이미지로 가상머신 만들기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304705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/>
              <a:t>새로 만든 </a:t>
            </a:r>
            <a:r>
              <a:rPr lang="ko-KR" altLang="en-US" b="1" err="1" smtClean="0"/>
              <a:t>가상머신에서</a:t>
            </a:r>
            <a:r>
              <a:rPr lang="ko-KR" altLang="en-US" b="1" smtClean="0"/>
              <a:t> 고정 </a:t>
            </a:r>
            <a:r>
              <a:rPr lang="en-US" altLang="ko-KR" b="1" smtClean="0"/>
              <a:t>IP </a:t>
            </a:r>
            <a:r>
              <a:rPr lang="ko-KR" altLang="en-US" b="1" smtClean="0"/>
              <a:t>설정</a:t>
            </a:r>
            <a:endParaRPr lang="ko-KR" altLang="en-US" b="1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18309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가상머신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콘솔 열기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root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계정으로 로그인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(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비밀번호는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 )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a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IP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를 고정시켜 줌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ifconfig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enp0s8  192.168.56.21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a</a:t>
            </a:r>
            <a:endParaRPr lang="en-US" altLang="ko-KR" sz="1300" b="1" dirty="0">
              <a:latin typeface="+mn-ea"/>
              <a:ea typeface="+mn-ea"/>
            </a:endParaRPr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4052900" y="2732963"/>
            <a:ext cx="4500500" cy="3390076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[NOTE]</a:t>
            </a:r>
          </a:p>
          <a:p>
            <a:pPr>
              <a:lnSpc>
                <a:spcPct val="150000"/>
              </a:lnSpc>
            </a:pPr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CentOS 6.X</a:t>
            </a: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와 </a:t>
            </a:r>
            <a:r>
              <a:rPr lang="ko-KR" altLang="en-US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달리</a:t>
            </a:r>
            <a:endParaRPr lang="en-US" altLang="ko-KR" sz="1600" b="1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CentOS 7.X</a:t>
            </a:r>
            <a:r>
              <a:rPr lang="ko-KR" altLang="en-US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는</a:t>
            </a:r>
            <a:endParaRPr lang="en-US" altLang="ko-KR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어댑터 이름이 </a:t>
            </a:r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eth0, eth1</a:t>
            </a: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이 아닌</a:t>
            </a:r>
            <a:endParaRPr lang="en-US" altLang="ko-KR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enp0s?  enp0s? </a:t>
            </a:r>
            <a:r>
              <a:rPr lang="ko-KR" altLang="en-US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로 </a:t>
            </a:r>
            <a:r>
              <a:rPr lang="ko-KR" altLang="en-US" sz="16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잡힘</a:t>
            </a:r>
            <a:endParaRPr lang="en-US" altLang="ko-KR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빗면 1"/>
          <p:cNvSpPr/>
          <p:nvPr/>
        </p:nvSpPr>
        <p:spPr>
          <a:xfrm>
            <a:off x="7293260" y="64281"/>
            <a:ext cx="2535945" cy="73642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HD1-Client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58560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schemeClr val="bg1"/>
                </a:solidFill>
              </a:rPr>
              <a:t>1. </a:t>
            </a:r>
            <a:r>
              <a:rPr kumimoji="0" lang="ko-KR" altLang="en-US" sz="3000" b="1" err="1" smtClean="0">
                <a:solidFill>
                  <a:schemeClr val="bg1"/>
                </a:solidFill>
              </a:rPr>
              <a:t>가상머신</a:t>
            </a:r>
            <a:r>
              <a:rPr kumimoji="0" lang="ko-KR" altLang="en-US" sz="3000" b="1" smtClean="0">
                <a:solidFill>
                  <a:schemeClr val="bg1"/>
                </a:solidFill>
              </a:rPr>
              <a:t> 콘솔에서 고정 </a:t>
            </a:r>
            <a:r>
              <a:rPr kumimoji="0" lang="en-US" altLang="ko-KR" sz="3000" b="1" smtClean="0">
                <a:solidFill>
                  <a:schemeClr val="bg1"/>
                </a:solidFill>
              </a:rPr>
              <a:t>IP </a:t>
            </a:r>
            <a:r>
              <a:rPr kumimoji="0" lang="ko-KR" altLang="en-US" sz="3000" b="1" smtClean="0">
                <a:solidFill>
                  <a:schemeClr val="bg1"/>
                </a:solidFill>
              </a:rPr>
              <a:t>설정</a:t>
            </a:r>
            <a:endParaRPr kumimoji="0" lang="ko-KR" altLang="en-US" sz="3000" b="1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304705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/>
              <a:t>새로 만든 </a:t>
            </a:r>
            <a:r>
              <a:rPr lang="ko-KR" altLang="en-US" b="1" err="1" smtClean="0"/>
              <a:t>가상머신에서</a:t>
            </a:r>
            <a:r>
              <a:rPr lang="ko-KR" altLang="en-US" b="1" smtClean="0"/>
              <a:t> 고정 </a:t>
            </a:r>
            <a:r>
              <a:rPr lang="en-US" altLang="ko-KR" b="1" smtClean="0"/>
              <a:t>IP </a:t>
            </a:r>
            <a:r>
              <a:rPr lang="ko-KR" altLang="en-US" b="1" smtClean="0"/>
              <a:t>설정</a:t>
            </a:r>
            <a:endParaRPr lang="ko-KR" altLang="en-US" b="1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3305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가상머신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콘솔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620" y="1952836"/>
            <a:ext cx="7010400" cy="4600575"/>
          </a:xfrm>
          <a:prstGeom prst="rect">
            <a:avLst/>
          </a:prstGeom>
        </p:spPr>
      </p:pic>
      <p:sp>
        <p:nvSpPr>
          <p:cNvPr id="6" name="빗면 5"/>
          <p:cNvSpPr/>
          <p:nvPr/>
        </p:nvSpPr>
        <p:spPr>
          <a:xfrm>
            <a:off x="7293260" y="64281"/>
            <a:ext cx="2535945" cy="73642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HD1-Client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76844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90218" y="3868363"/>
            <a:ext cx="9027278" cy="2725044"/>
          </a:xfrm>
          <a:prstGeom prst="rect">
            <a:avLst/>
          </a:prstGeom>
          <a:solidFill>
            <a:srgbClr val="FFFFFF">
              <a:lumMod val="65000"/>
              <a:alpha val="28000"/>
            </a:srgbClr>
          </a:solidFill>
          <a:ln w="12700" algn="ctr">
            <a:solidFill>
              <a:srgbClr val="000000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login as: </a:t>
            </a:r>
            <a:r>
              <a:rPr kumimoji="1" lang="en-US" altLang="ko-KR" sz="1200" b="1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root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root@192.168.56.21's </a:t>
            </a:r>
            <a:r>
              <a:rPr kumimoji="1" lang="en-US" altLang="ko-KR" sz="1200" b="0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password</a:t>
            </a:r>
            <a:r>
              <a:rPr kumimoji="1" lang="en-US" altLang="ko-KR" sz="1200" b="0" i="0" u="none" strike="noStrike" kern="0" cap="none" spc="0" normalizeH="0" baseline="0" noProof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: </a:t>
            </a:r>
            <a:r>
              <a:rPr kumimoji="1" lang="en-US" altLang="ko-KR" sz="1200" b="1" i="0" u="none" strike="noStrike" kern="0" cap="none" spc="0" normalizeH="0" baseline="0" noProof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hadoop</a:t>
            </a:r>
            <a:r>
              <a:rPr kumimoji="1" lang="en-US" altLang="ko-KR" sz="1200" b="1" i="0" u="none" strike="noStrike" kern="0" cap="none" spc="0" normalizeH="0" baseline="0" noProof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(</a:t>
            </a:r>
            <a:r>
              <a:rPr kumimoji="1" lang="ko-KR" altLang="en-US" sz="1200" b="1" i="0" u="none" strike="noStrike" kern="0" cap="none" spc="0" normalizeH="0" baseline="0" noProof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안보임</a:t>
            </a:r>
            <a:r>
              <a:rPr kumimoji="1" lang="en-US" altLang="ko-KR" sz="1200" b="1" i="0" u="none" strike="noStrike" kern="0" cap="none" spc="0" normalizeH="0" baseline="0" noProof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)</a:t>
            </a:r>
            <a:endParaRPr kumimoji="1" lang="en-US" altLang="ko-KR" sz="1200" b="1" i="0" u="none" strike="noStrike" kern="0" cap="none" spc="0" normalizeH="0" baseline="0" noProof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000000"/>
              </a:solidFill>
              <a:effectLst>
                <a:glow>
                  <a:prstClr val="white"/>
                </a:glow>
              </a:effectLst>
              <a:uLnTx/>
              <a:uFillTx/>
              <a:latin typeface="맑은 고딕" pitchFamily="50" charset="-127"/>
              <a:ea typeface="맑은 고딕" pitchFamily="50" charset="-127"/>
              <a:sym typeface="나눔고딕" pitchFamily="50" charset="-127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Last login: Sat May  6 14:15:58 2017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0" i="0" u="none" strike="noStrike" kern="0" cap="none" spc="0" normalizeH="0" baseline="0" noProof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[</a:t>
            </a:r>
            <a:r>
              <a:rPr kumimoji="1" lang="en-US" altLang="ko-KR" sz="1400" b="0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root@</a:t>
            </a:r>
            <a:r>
              <a:rPr kumimoji="1" lang="en-US" altLang="ko-KR" sz="1400" b="1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client</a:t>
            </a:r>
            <a:r>
              <a:rPr kumimoji="1" lang="en-US" altLang="ko-KR" sz="1400" b="0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 ~]# </a:t>
            </a:r>
            <a:r>
              <a:rPr kumimoji="1" lang="en-US" altLang="ko-KR" sz="1400" b="1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hostname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400" b="1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client.hadoop.kr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[</a:t>
            </a:r>
            <a:r>
              <a:rPr kumimoji="1" lang="en-US" altLang="ko-KR" sz="1200" b="0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root@client ~]# </a:t>
            </a:r>
            <a:r>
              <a:rPr kumimoji="1" lang="en-US" altLang="ko-KR" sz="1200" b="1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ping -c 2 www.google.com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PING www.google.com (216.58.197.4) 56(84) bytes of data.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64 bytes from kix06s02-in-f4.1e100.net (216.58.197.4): icmp_seq=1 ttl=51 time=45.7 ms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64 bytes from kix06s02-in-f4.1e100.net (216.58.197.4): icmp_seq=2 ttl=51 time=39.5 ms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--- </a:t>
            </a:r>
            <a:r>
              <a:rPr kumimoji="1" lang="en-US" altLang="ko-KR" sz="1000" b="0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www.google.com ping statistics ---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2 packets transmitted, 2 received, 0% packet loss, time 1002ms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0" i="0" u="none" strike="noStrike" kern="0" cap="none" spc="0" normalizeH="0" baseline="0" noProof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000000"/>
                </a:solidFill>
                <a:effectLst>
                  <a:glow>
                    <a:prstClr val="white"/>
                  </a:glow>
                </a:effectLst>
                <a:uLnTx/>
                <a:uFillTx/>
                <a:latin typeface="맑은 고딕" pitchFamily="50" charset="-127"/>
                <a:ea typeface="맑은 고딕" pitchFamily="50" charset="-127"/>
                <a:sym typeface="나눔고딕" pitchFamily="50" charset="-127"/>
              </a:rPr>
              <a:t>rtt min/avg/max/mdev = 39.538/42.639/45.740/3.101 ms</a:t>
            </a:r>
            <a:endParaRPr kumimoji="1" lang="en-US" altLang="ko-KR" sz="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/>
              <a:ea typeface="맑은 고딕"/>
              <a:sym typeface="나눔고딕" pitchFamily="50" charset="-127"/>
            </a:endParaRPr>
          </a:p>
        </p:txBody>
      </p:sp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schemeClr val="bg1"/>
                </a:solidFill>
              </a:rPr>
              <a:t>2. </a:t>
            </a:r>
            <a:r>
              <a:rPr kumimoji="0" lang="ko-KR" altLang="en-US" sz="3000" b="1" dirty="0" err="1">
                <a:solidFill>
                  <a:schemeClr val="bg1"/>
                </a:solidFill>
              </a:rPr>
              <a:t>가상머신에</a:t>
            </a:r>
            <a:r>
              <a:rPr kumimoji="0" lang="ko-KR" altLang="en-US" sz="3000" b="1" dirty="0">
                <a:solidFill>
                  <a:schemeClr val="bg1"/>
                </a:solidFill>
              </a:rPr>
              <a:t> </a:t>
            </a:r>
            <a:r>
              <a:rPr kumimoji="0" lang="ko-KR" altLang="en-US" sz="3000" b="1" dirty="0" smtClean="0">
                <a:solidFill>
                  <a:schemeClr val="bg1"/>
                </a:solidFill>
              </a:rPr>
              <a:t>접속</a:t>
            </a:r>
            <a:r>
              <a:rPr kumimoji="0" lang="en-US" altLang="ko-KR" sz="3000" b="1" dirty="0" smtClean="0">
                <a:solidFill>
                  <a:schemeClr val="bg1"/>
                </a:solidFill>
              </a:rPr>
              <a:t>-</a:t>
            </a:r>
            <a:r>
              <a:rPr kumimoji="0" lang="ko-KR" altLang="en-US" sz="3000" b="1" dirty="0" smtClean="0">
                <a:solidFill>
                  <a:schemeClr val="bg1"/>
                </a:solidFill>
              </a:rPr>
              <a:t>호스트 </a:t>
            </a:r>
            <a:r>
              <a:rPr kumimoji="0" lang="ko-KR" altLang="en-US" sz="3000" b="1" dirty="0">
                <a:solidFill>
                  <a:schemeClr val="bg1"/>
                </a:solidFill>
              </a:rPr>
              <a:t>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661352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/>
              <a:t>SSH</a:t>
            </a:r>
            <a:r>
              <a:rPr lang="ko-KR" altLang="en-US" b="1" smtClean="0"/>
              <a:t>로 접속</a:t>
            </a:r>
            <a:endParaRPr lang="ko-KR" altLang="en-US" b="1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269118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1.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메모장으로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 </a:t>
            </a:r>
            <a:r>
              <a:rPr lang="ko-KR" altLang="en-US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하둡설치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_Cent75_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클러스터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_2_</a:t>
            </a:r>
            <a:r>
              <a:rPr lang="ko-KR" altLang="en-US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하둡설치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.txt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]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파일 열기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2. putty.exe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를 실행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IP/Hostname : 192.168.56.21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아이디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root 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비밀번호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호스트명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확인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[1]$ hostname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외부 네트워크 연결 확인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(NAT)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[2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]$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ping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-c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www.google.com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endParaRPr lang="en-US" altLang="ko-KR" sz="1300" b="1" dirty="0">
              <a:latin typeface="+mn-ea"/>
              <a:ea typeface="+mn-ea"/>
            </a:endParaRPr>
          </a:p>
        </p:txBody>
      </p:sp>
      <p:sp>
        <p:nvSpPr>
          <p:cNvPr id="5" name="가로로 말린 두루마리 모양 4"/>
          <p:cNvSpPr/>
          <p:nvPr/>
        </p:nvSpPr>
        <p:spPr>
          <a:xfrm>
            <a:off x="5631150" y="3356992"/>
            <a:ext cx="3895846" cy="2340261"/>
          </a:xfrm>
          <a:prstGeom prst="horizontalScroll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4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[NOTE] </a:t>
            </a:r>
            <a:r>
              <a:rPr lang="ko-KR" altLang="en-US" sz="14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외부 네트워크로 </a:t>
            </a:r>
            <a:r>
              <a:rPr lang="en-US" altLang="ko-KR" sz="14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ping </a:t>
            </a:r>
            <a:r>
              <a:rPr lang="ko-KR" altLang="en-US" sz="1400" b="1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실패시</a:t>
            </a:r>
            <a:endParaRPr lang="en-US" altLang="ko-KR" sz="1400" b="1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PC/</a:t>
            </a:r>
            <a:r>
              <a:rPr lang="ko-KR" altLang="en-US" sz="14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노트북에서 인터넷 연결 확인</a:t>
            </a:r>
            <a:endParaRPr lang="en-US" altLang="ko-KR" sz="1400" b="1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2. $ echo ‘nameserver 8.8.8.8’ </a:t>
            </a:r>
          </a:p>
          <a:p>
            <a:pPr>
              <a:lnSpc>
                <a:spcPct val="150000"/>
              </a:lnSpc>
            </a:pPr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   &gt;&gt; /</a:t>
            </a:r>
            <a:r>
              <a:rPr lang="en-US" altLang="ko-KR" sz="1400" b="1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etc</a:t>
            </a:r>
            <a:r>
              <a:rPr lang="en-US" altLang="ko-KR" sz="1400" b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en-US" altLang="ko-KR" sz="1400" b="1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resolv.conf</a:t>
            </a:r>
            <a:endParaRPr lang="en-US" altLang="ko-KR" sz="1400" b="1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4629213" y="1736812"/>
            <a:ext cx="4500500" cy="1735507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[NOTE] </a:t>
            </a:r>
          </a:p>
          <a:p>
            <a:pPr algn="ctr">
              <a:lnSpc>
                <a:spcPct val="150000"/>
              </a:lnSpc>
            </a:pP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이제부터 </a:t>
            </a:r>
            <a:r>
              <a:rPr lang="ko-KR" altLang="en-US" sz="16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호스트명을</a:t>
            </a: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6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반드시 확인하셔야 합니다</a:t>
            </a: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9" name="빗면 8"/>
          <p:cNvSpPr/>
          <p:nvPr/>
        </p:nvSpPr>
        <p:spPr>
          <a:xfrm>
            <a:off x="7293260" y="64281"/>
            <a:ext cx="2535945" cy="73642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HD1-Client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28813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schemeClr val="bg1"/>
                </a:solidFill>
              </a:rPr>
              <a:t>2. </a:t>
            </a:r>
            <a:r>
              <a:rPr kumimoji="0" lang="ko-KR" altLang="en-US" sz="3000" b="1" dirty="0" err="1">
                <a:solidFill>
                  <a:schemeClr val="bg1"/>
                </a:solidFill>
              </a:rPr>
              <a:t>가상머신에</a:t>
            </a:r>
            <a:r>
              <a:rPr kumimoji="0" lang="ko-KR" altLang="en-US" sz="3000" b="1" dirty="0">
                <a:solidFill>
                  <a:schemeClr val="bg1"/>
                </a:solidFill>
              </a:rPr>
              <a:t> 접속</a:t>
            </a:r>
            <a:r>
              <a:rPr kumimoji="0" lang="en-US" altLang="ko-KR" sz="3000" b="1" dirty="0">
                <a:solidFill>
                  <a:schemeClr val="bg1"/>
                </a:solidFill>
              </a:rPr>
              <a:t>-</a:t>
            </a:r>
            <a:r>
              <a:rPr kumimoji="0" lang="ko-KR" altLang="en-US" sz="3000" b="1" dirty="0">
                <a:solidFill>
                  <a:schemeClr val="bg1"/>
                </a:solidFill>
              </a:rPr>
              <a:t>호스트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5620769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dirty="0" smtClean="0">
                <a:solidFill>
                  <a:prstClr val="black"/>
                </a:solidFill>
              </a:rPr>
              <a:t>호스트 설정</a:t>
            </a:r>
            <a:r>
              <a:rPr lang="en-US" altLang="ko-KR" b="1" dirty="0">
                <a:solidFill>
                  <a:prstClr val="black"/>
                </a:solidFill>
              </a:rPr>
              <a:t>( IP </a:t>
            </a:r>
            <a:r>
              <a:rPr lang="ko-KR" altLang="en-US" b="1" dirty="0">
                <a:solidFill>
                  <a:prstClr val="black"/>
                </a:solidFill>
              </a:rPr>
              <a:t>주소와 호스트 이름을 </a:t>
            </a:r>
            <a:r>
              <a:rPr lang="en-US" altLang="ko-KR" b="1" dirty="0">
                <a:solidFill>
                  <a:prstClr val="black"/>
                </a:solidFill>
              </a:rPr>
              <a:t>Mapping )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213103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[3]$ cat 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/hosts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NOTE] &gt;&gt;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는 지정된 파일에 내용을 한 줄씩 추가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4]$ echo '192.168.56.21 client.hadoop.kr      client'     &gt;&gt; 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/hosts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echo '192.168.56.31 namenode.hadoop.kr    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namenode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   &gt;&gt; 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/hosts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echo '192.168.56.41 secondnode.hadoop.kr  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secondnode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 &gt;&gt; 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/hosts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echo '192.168.56.31 datanode1.hadoop.kr   datanode1'  &gt;&gt; 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/hosts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echo '192.168.56.41 datanode2.hadoop.kr   datanode2'  &gt;&gt; /</a:t>
            </a:r>
            <a:r>
              <a:rPr lang="en-US" altLang="ko-KR" sz="12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/hosts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5]$ cat 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/hosts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725399" y="3573016"/>
            <a:ext cx="8425507" cy="3242109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9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900" dirty="0" err="1">
                <a:latin typeface="맑은 고딕" pitchFamily="50" charset="-127"/>
                <a:ea typeface="맑은 고딕" pitchFamily="50" charset="-127"/>
              </a:rPr>
              <a:t>root@client</a:t>
            </a:r>
            <a:r>
              <a:rPr lang="en-US" altLang="ko-KR" sz="900" dirty="0">
                <a:latin typeface="맑은 고딕" pitchFamily="50" charset="-127"/>
                <a:ea typeface="맑은 고딕" pitchFamily="50" charset="-127"/>
              </a:rPr>
              <a:t> ~]# </a:t>
            </a:r>
            <a:r>
              <a:rPr lang="en-US" altLang="ko-KR" sz="1050" b="1" dirty="0">
                <a:latin typeface="맑은 고딕" pitchFamily="50" charset="-127"/>
                <a:ea typeface="맑은 고딕" pitchFamily="50" charset="-127"/>
              </a:rPr>
              <a:t>cat /</a:t>
            </a:r>
            <a:r>
              <a:rPr lang="en-US" altLang="ko-KR" sz="1050" b="1" dirty="0" err="1"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050" b="1" dirty="0">
                <a:latin typeface="맑은 고딕" pitchFamily="50" charset="-127"/>
                <a:ea typeface="맑은 고딕" pitchFamily="50" charset="-127"/>
              </a:rPr>
              <a:t>/hosts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 dirty="0">
                <a:latin typeface="맑은 고딕" pitchFamily="50" charset="-127"/>
                <a:ea typeface="맑은 고딕" pitchFamily="50" charset="-127"/>
              </a:rPr>
              <a:t>127.0.0.1   </a:t>
            </a:r>
            <a:r>
              <a:rPr lang="en-US" altLang="ko-KR" sz="900" dirty="0" err="1">
                <a:latin typeface="맑은 고딕" pitchFamily="50" charset="-127"/>
                <a:ea typeface="맑은 고딕" pitchFamily="50" charset="-127"/>
              </a:rPr>
              <a:t>localhost</a:t>
            </a:r>
            <a:r>
              <a:rPr lang="en-US" altLang="ko-KR" sz="9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900" dirty="0" err="1">
                <a:latin typeface="맑은 고딕" pitchFamily="50" charset="-127"/>
                <a:ea typeface="맑은 고딕" pitchFamily="50" charset="-127"/>
              </a:rPr>
              <a:t>localhost.localdomain</a:t>
            </a:r>
            <a:r>
              <a:rPr lang="en-US" altLang="ko-KR" sz="900" dirty="0">
                <a:latin typeface="맑은 고딕" pitchFamily="50" charset="-127"/>
                <a:ea typeface="맑은 고딕" pitchFamily="50" charset="-127"/>
              </a:rPr>
              <a:t> localhost4 localhost4.localdomain4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 dirty="0">
                <a:latin typeface="맑은 고딕" pitchFamily="50" charset="-127"/>
                <a:ea typeface="맑은 고딕" pitchFamily="50" charset="-127"/>
              </a:rPr>
              <a:t>::1         </a:t>
            </a:r>
            <a:r>
              <a:rPr lang="en-US" altLang="ko-KR" sz="900" dirty="0" err="1">
                <a:latin typeface="맑은 고딕" pitchFamily="50" charset="-127"/>
                <a:ea typeface="맑은 고딕" pitchFamily="50" charset="-127"/>
              </a:rPr>
              <a:t>localhost</a:t>
            </a:r>
            <a:r>
              <a:rPr lang="en-US" altLang="ko-KR" sz="9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900" dirty="0" err="1">
                <a:latin typeface="맑은 고딕" pitchFamily="50" charset="-127"/>
                <a:ea typeface="맑은 고딕" pitchFamily="50" charset="-127"/>
              </a:rPr>
              <a:t>localhost.localdomain</a:t>
            </a:r>
            <a:r>
              <a:rPr lang="en-US" altLang="ko-KR" sz="900" dirty="0">
                <a:latin typeface="맑은 고딕" pitchFamily="50" charset="-127"/>
                <a:ea typeface="맑은 고딕" pitchFamily="50" charset="-127"/>
              </a:rPr>
              <a:t> localhost6 localhost6.localdomain6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b="1" dirty="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50" b="1" dirty="0" err="1">
                <a:latin typeface="맑은 고딕" pitchFamily="50" charset="-127"/>
                <a:ea typeface="맑은 고딕" pitchFamily="50" charset="-127"/>
              </a:rPr>
              <a:t>root@client</a:t>
            </a:r>
            <a:r>
              <a:rPr lang="en-US" altLang="ko-KR" sz="1050" b="1" dirty="0">
                <a:latin typeface="맑은 고딕" pitchFamily="50" charset="-127"/>
                <a:ea typeface="맑은 고딕" pitchFamily="50" charset="-127"/>
              </a:rPr>
              <a:t> ~]# echo '192.168.56.21 client.hadoop.kr      client'     &gt;&gt; /</a:t>
            </a:r>
            <a:r>
              <a:rPr lang="en-US" altLang="ko-KR" sz="1050" b="1" dirty="0" err="1"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050" b="1" dirty="0">
                <a:latin typeface="맑은 고딕" pitchFamily="50" charset="-127"/>
                <a:ea typeface="맑은 고딕" pitchFamily="50" charset="-127"/>
              </a:rPr>
              <a:t>/hosts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b="1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50" b="1" dirty="0" err="1">
                <a:latin typeface="맑은 고딕" pitchFamily="50" charset="-127"/>
                <a:ea typeface="맑은 고딕" pitchFamily="50" charset="-127"/>
              </a:rPr>
              <a:t>root@client</a:t>
            </a:r>
            <a:r>
              <a:rPr lang="en-US" altLang="ko-KR" sz="1050" b="1" dirty="0">
                <a:latin typeface="맑은 고딕" pitchFamily="50" charset="-127"/>
                <a:ea typeface="맑은 고딕" pitchFamily="50" charset="-127"/>
              </a:rPr>
              <a:t> ~]#      echo '192.168.56.31 namenode.hadoop.kr    </a:t>
            </a:r>
            <a:r>
              <a:rPr lang="en-US" altLang="ko-KR" sz="1050" b="1" dirty="0" err="1">
                <a:latin typeface="맑은 고딕" pitchFamily="50" charset="-127"/>
                <a:ea typeface="맑은 고딕" pitchFamily="50" charset="-127"/>
              </a:rPr>
              <a:t>namenode</a:t>
            </a:r>
            <a:r>
              <a:rPr lang="en-US" altLang="ko-KR" sz="1050" b="1" dirty="0">
                <a:latin typeface="맑은 고딕" pitchFamily="50" charset="-127"/>
                <a:ea typeface="맑은 고딕" pitchFamily="50" charset="-127"/>
              </a:rPr>
              <a:t>'   &gt;&gt; /</a:t>
            </a:r>
            <a:r>
              <a:rPr lang="en-US" altLang="ko-KR" sz="1050" b="1" dirty="0" err="1"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050" b="1" dirty="0">
                <a:latin typeface="맑은 고딕" pitchFamily="50" charset="-127"/>
                <a:ea typeface="맑은 고딕" pitchFamily="50" charset="-127"/>
              </a:rPr>
              <a:t>/hosts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b="1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50" b="1" dirty="0" err="1">
                <a:latin typeface="맑은 고딕" pitchFamily="50" charset="-127"/>
                <a:ea typeface="맑은 고딕" pitchFamily="50" charset="-127"/>
              </a:rPr>
              <a:t>root@client</a:t>
            </a:r>
            <a:r>
              <a:rPr lang="en-US" altLang="ko-KR" sz="1050" b="1" dirty="0">
                <a:latin typeface="맑은 고딕" pitchFamily="50" charset="-127"/>
                <a:ea typeface="맑은 고딕" pitchFamily="50" charset="-127"/>
              </a:rPr>
              <a:t> ~]#      echo '192.168.56.41 secondnode.hadoop.kr  </a:t>
            </a:r>
            <a:r>
              <a:rPr lang="en-US" altLang="ko-KR" sz="1050" b="1" dirty="0" err="1">
                <a:latin typeface="맑은 고딕" pitchFamily="50" charset="-127"/>
                <a:ea typeface="맑은 고딕" pitchFamily="50" charset="-127"/>
              </a:rPr>
              <a:t>secondnode</a:t>
            </a:r>
            <a:r>
              <a:rPr lang="en-US" altLang="ko-KR" sz="1050" b="1" dirty="0">
                <a:latin typeface="맑은 고딕" pitchFamily="50" charset="-127"/>
                <a:ea typeface="맑은 고딕" pitchFamily="50" charset="-127"/>
              </a:rPr>
              <a:t>' &gt;&gt; /</a:t>
            </a:r>
            <a:r>
              <a:rPr lang="en-US" altLang="ko-KR" sz="1050" b="1" dirty="0" err="1"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050" b="1" dirty="0">
                <a:latin typeface="맑은 고딕" pitchFamily="50" charset="-127"/>
                <a:ea typeface="맑은 고딕" pitchFamily="50" charset="-127"/>
              </a:rPr>
              <a:t>/hosts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b="1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50" b="1" dirty="0" err="1">
                <a:latin typeface="맑은 고딕" pitchFamily="50" charset="-127"/>
                <a:ea typeface="맑은 고딕" pitchFamily="50" charset="-127"/>
              </a:rPr>
              <a:t>root@client</a:t>
            </a:r>
            <a:r>
              <a:rPr lang="en-US" altLang="ko-KR" sz="1050" b="1" dirty="0">
                <a:latin typeface="맑은 고딕" pitchFamily="50" charset="-127"/>
                <a:ea typeface="맑은 고딕" pitchFamily="50" charset="-127"/>
              </a:rPr>
              <a:t> ~]#      echo '192.168.56.31 datanode1.hadoop.kr   datanode1'  &gt;&gt; /</a:t>
            </a:r>
            <a:r>
              <a:rPr lang="en-US" altLang="ko-KR" sz="1050" b="1" dirty="0" err="1"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050" b="1" dirty="0">
                <a:latin typeface="맑은 고딕" pitchFamily="50" charset="-127"/>
                <a:ea typeface="맑은 고딕" pitchFamily="50" charset="-127"/>
              </a:rPr>
              <a:t>/hosts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b="1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50" b="1" dirty="0" err="1">
                <a:latin typeface="맑은 고딕" pitchFamily="50" charset="-127"/>
                <a:ea typeface="맑은 고딕" pitchFamily="50" charset="-127"/>
              </a:rPr>
              <a:t>root@client</a:t>
            </a:r>
            <a:r>
              <a:rPr lang="en-US" altLang="ko-KR" sz="1050" b="1" dirty="0">
                <a:latin typeface="맑은 고딕" pitchFamily="50" charset="-127"/>
                <a:ea typeface="맑은 고딕" pitchFamily="50" charset="-127"/>
              </a:rPr>
              <a:t> ~]#      echo '192.168.56.41 datanode2.hadoop.kr   datanode2'  &gt;&gt; /</a:t>
            </a:r>
            <a:r>
              <a:rPr lang="en-US" altLang="ko-KR" sz="1050" b="1" dirty="0" err="1"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050" b="1" dirty="0">
                <a:latin typeface="맑은 고딕" pitchFamily="50" charset="-127"/>
                <a:ea typeface="맑은 고딕" pitchFamily="50" charset="-127"/>
              </a:rPr>
              <a:t>/hosts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 dirty="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900" dirty="0" err="1">
                <a:latin typeface="맑은 고딕" pitchFamily="50" charset="-127"/>
                <a:ea typeface="맑은 고딕" pitchFamily="50" charset="-127"/>
              </a:rPr>
              <a:t>root@client</a:t>
            </a:r>
            <a:r>
              <a:rPr lang="en-US" altLang="ko-KR" sz="900" dirty="0">
                <a:latin typeface="맑은 고딕" pitchFamily="50" charset="-127"/>
                <a:ea typeface="맑은 고딕" pitchFamily="50" charset="-127"/>
              </a:rPr>
              <a:t> ~]# </a:t>
            </a:r>
            <a:r>
              <a:rPr lang="en-US" altLang="ko-KR" sz="1050" b="1" dirty="0">
                <a:latin typeface="맑은 고딕" pitchFamily="50" charset="-127"/>
                <a:ea typeface="맑은 고딕" pitchFamily="50" charset="-127"/>
              </a:rPr>
              <a:t>cat /</a:t>
            </a:r>
            <a:r>
              <a:rPr lang="en-US" altLang="ko-KR" sz="1050" b="1" dirty="0" err="1"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050" b="1" dirty="0">
                <a:latin typeface="맑은 고딕" pitchFamily="50" charset="-127"/>
                <a:ea typeface="맑은 고딕" pitchFamily="50" charset="-127"/>
              </a:rPr>
              <a:t>/hosts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 dirty="0">
                <a:latin typeface="맑은 고딕" pitchFamily="50" charset="-127"/>
                <a:ea typeface="맑은 고딕" pitchFamily="50" charset="-127"/>
              </a:rPr>
              <a:t>127.0.0.1   </a:t>
            </a:r>
            <a:r>
              <a:rPr lang="en-US" altLang="ko-KR" sz="900" dirty="0" err="1">
                <a:latin typeface="맑은 고딕" pitchFamily="50" charset="-127"/>
                <a:ea typeface="맑은 고딕" pitchFamily="50" charset="-127"/>
              </a:rPr>
              <a:t>localhost</a:t>
            </a:r>
            <a:r>
              <a:rPr lang="en-US" altLang="ko-KR" sz="9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900" dirty="0" err="1">
                <a:latin typeface="맑은 고딕" pitchFamily="50" charset="-127"/>
                <a:ea typeface="맑은 고딕" pitchFamily="50" charset="-127"/>
              </a:rPr>
              <a:t>localhost.localdomain</a:t>
            </a:r>
            <a:r>
              <a:rPr lang="en-US" altLang="ko-KR" sz="900" dirty="0">
                <a:latin typeface="맑은 고딕" pitchFamily="50" charset="-127"/>
                <a:ea typeface="맑은 고딕" pitchFamily="50" charset="-127"/>
              </a:rPr>
              <a:t> localhost4 localhost4.localdomain4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900" dirty="0">
                <a:latin typeface="맑은 고딕" pitchFamily="50" charset="-127"/>
                <a:ea typeface="맑은 고딕" pitchFamily="50" charset="-127"/>
              </a:rPr>
              <a:t>::1         </a:t>
            </a:r>
            <a:r>
              <a:rPr lang="en-US" altLang="ko-KR" sz="900" dirty="0" err="1">
                <a:latin typeface="맑은 고딕" pitchFamily="50" charset="-127"/>
                <a:ea typeface="맑은 고딕" pitchFamily="50" charset="-127"/>
              </a:rPr>
              <a:t>localhost</a:t>
            </a:r>
            <a:r>
              <a:rPr lang="en-US" altLang="ko-KR" sz="9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900" dirty="0" err="1">
                <a:latin typeface="맑은 고딕" pitchFamily="50" charset="-127"/>
                <a:ea typeface="맑은 고딕" pitchFamily="50" charset="-127"/>
              </a:rPr>
              <a:t>localhost.localdomain</a:t>
            </a:r>
            <a:r>
              <a:rPr lang="en-US" altLang="ko-KR" sz="900" dirty="0">
                <a:latin typeface="맑은 고딕" pitchFamily="50" charset="-127"/>
                <a:ea typeface="맑은 고딕" pitchFamily="50" charset="-127"/>
              </a:rPr>
              <a:t> localhost6 localhost6.localdomain6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192.168.56.21 client.hadoop.kr      client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192.168.56.31 namenode.hadoop.kr    </a:t>
            </a:r>
            <a:r>
              <a:rPr lang="en-US" altLang="ko-KR" sz="1000" b="1" dirty="0" err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namenode</a:t>
            </a:r>
            <a:endParaRPr lang="en-US" altLang="ko-KR" sz="1000" b="1" dirty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192.168.56.41 secondnode.hadoop.kr  </a:t>
            </a:r>
            <a:r>
              <a:rPr lang="en-US" altLang="ko-KR" sz="1000" b="1" dirty="0" err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secondnode</a:t>
            </a:r>
            <a:endParaRPr lang="en-US" altLang="ko-KR" sz="1000" b="1" dirty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192.168.56.31 datanode1.hadoop.kr   datanode1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192.168.56.41 datanode2.hadoop.kr   datanode2</a:t>
            </a:r>
            <a:endParaRPr lang="en-US" altLang="ko-KR" sz="1000" b="1" dirty="0" smtClean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9222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3.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하둡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계정으로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리눅스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환경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067186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 err="1">
                <a:solidFill>
                  <a:prstClr val="black"/>
                </a:solidFill>
              </a:rPr>
              <a:t>hadoop</a:t>
            </a:r>
            <a:r>
              <a:rPr lang="en-US" altLang="ko-KR" b="1" dirty="0">
                <a:solidFill>
                  <a:prstClr val="black"/>
                </a:solidFill>
              </a:rPr>
              <a:t> </a:t>
            </a:r>
            <a:r>
              <a:rPr lang="ko-KR" altLang="en-US" b="1" dirty="0">
                <a:solidFill>
                  <a:prstClr val="black"/>
                </a:solidFill>
              </a:rPr>
              <a:t>계정으로 로그인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64353"/>
            <a:ext cx="9027278" cy="123078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su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-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Prompt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변경 확인하세요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whoami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pwd</a:t>
            </a:r>
            <a:endParaRPr lang="en-US" altLang="ko-KR" sz="1300" b="1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16003" y="3392996"/>
            <a:ext cx="8425507" cy="2044858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root@client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~]#  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su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- 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hadoop</a:t>
            </a:r>
            <a:endParaRPr lang="en-US" altLang="ko-KR" sz="12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마지막 로그인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수 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5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31 16:29:01 KST 2017 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일시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pts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/0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6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600" b="1" dirty="0" err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6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whoami</a:t>
            </a:r>
            <a:endParaRPr lang="en-US" altLang="ko-KR" sz="12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 err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hadoop</a:t>
            </a:r>
            <a:endParaRPr lang="en-US" altLang="ko-KR" sz="1200" b="1" dirty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pwd</a:t>
            </a:r>
            <a:endParaRPr lang="en-US" altLang="ko-KR" sz="12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/home/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hadoop</a:t>
            </a:r>
            <a:endParaRPr lang="en-US" altLang="ko-KR" sz="1200" b="1" dirty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4628755" y="1336691"/>
            <a:ext cx="4500500" cy="1735507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[NOTE] </a:t>
            </a:r>
          </a:p>
          <a:p>
            <a:pPr algn="ctr">
              <a:lnSpc>
                <a:spcPct val="150000"/>
              </a:lnSpc>
            </a:pPr>
            <a:r>
              <a:rPr lang="ko-KR" altLang="en-US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하둡은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root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계정으로 설치하거나 </a:t>
            </a:r>
            <a:endParaRPr lang="en-US" altLang="ko-KR" sz="16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설정하면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안됨</a:t>
            </a:r>
            <a:endParaRPr lang="en-US" altLang="ko-KR" sz="16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4858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3.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하둡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계정으로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리눅스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환경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228815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dirty="0" err="1">
                <a:solidFill>
                  <a:prstClr val="black"/>
                </a:solidFill>
              </a:rPr>
              <a:t>리눅스</a:t>
            </a:r>
            <a:r>
              <a:rPr lang="ko-KR" altLang="en-US" b="1" dirty="0">
                <a:solidFill>
                  <a:prstClr val="black"/>
                </a:solidFill>
              </a:rPr>
              <a:t> 환경 설정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15308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bashrc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org_bashrc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bashrc2.txt  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bashrc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3]$ source  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bashrc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4]$ cat  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bashrc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5]$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env</a:t>
            </a:r>
            <a:endParaRPr lang="en-US" altLang="ko-KR" sz="1300" b="1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04206" y="3645024"/>
            <a:ext cx="8425507" cy="2925099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cp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 .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bashrc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org_bashrc</a:t>
            </a:r>
            <a:endParaRPr lang="en-US" altLang="ko-KR" sz="12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cp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 bashrc2.txt  .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bashrc</a:t>
            </a:r>
            <a:endParaRPr lang="en-US" altLang="ko-KR" sz="12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source  .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bashrc</a:t>
            </a:r>
            <a:endParaRPr lang="en-US" altLang="ko-KR" sz="12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cat .</a:t>
            </a:r>
            <a:r>
              <a:rPr lang="en-US" altLang="ko-KR" sz="1200" b="1" dirty="0" err="1" smtClean="0">
                <a:latin typeface="맑은 고딕" pitchFamily="50" charset="-127"/>
                <a:ea typeface="맑은 고딕" pitchFamily="50" charset="-127"/>
              </a:rPr>
              <a:t>bashrc</a:t>
            </a:r>
            <a:endParaRPr lang="en-US" altLang="ko-KR" sz="1200" b="1" dirty="0" smtClean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…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…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200" b="1" dirty="0" err="1" smtClean="0">
                <a:latin typeface="맑은 고딕" pitchFamily="50" charset="-127"/>
                <a:ea typeface="맑은 고딕" pitchFamily="50" charset="-127"/>
              </a:rPr>
              <a:t>env</a:t>
            </a:r>
            <a:endParaRPr lang="en-US" altLang="ko-KR" sz="1200" b="1" dirty="0" smtClean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…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…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3692860" y="1484784"/>
            <a:ext cx="5796644" cy="1835030"/>
          </a:xfrm>
          <a:prstGeom prst="horizontalScroll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/home/</a:t>
            </a:r>
            <a:r>
              <a:rPr lang="en-US" altLang="ko-KR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hadoop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/.</a:t>
            </a:r>
            <a:r>
              <a:rPr lang="en-US" altLang="ko-KR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bashrc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en-US" altLang="ko-KR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hadoop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계정의 환경 설정 파일</a:t>
            </a:r>
          </a:p>
          <a:p>
            <a:pPr>
              <a:lnSpc>
                <a:spcPct val="150000"/>
              </a:lnSpc>
            </a:pPr>
            <a:endParaRPr lang="ko-KR" altLang="en-US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en-US" altLang="ko-KR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env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환경 설정 조회 프로그램</a:t>
            </a:r>
            <a:endParaRPr lang="en-US" altLang="ko-KR" sz="14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1024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3.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하둡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계정으로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리눅스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환경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956305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 smtClean="0">
                <a:solidFill>
                  <a:prstClr val="black"/>
                </a:solidFill>
              </a:rPr>
              <a:t>JDK </a:t>
            </a:r>
            <a:r>
              <a:rPr lang="ko-KR" altLang="en-US" b="1" dirty="0">
                <a:solidFill>
                  <a:prstClr val="black"/>
                </a:solidFill>
              </a:rPr>
              <a:t>버전 확인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64353"/>
            <a:ext cx="9027278" cy="123078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JDK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버전 조회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[6]$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javac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-version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현재 실행되는 자바 프로세스 조회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jps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만 나옴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[7]$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jps</a:t>
            </a:r>
            <a:endParaRPr lang="en-US" altLang="ko-KR" sz="1300" b="1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16003" y="3032956"/>
            <a:ext cx="8425507" cy="1244639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fr-FR" altLang="ko-KR" sz="1200" dirty="0">
                <a:latin typeface="맑은 고딕" pitchFamily="50" charset="-127"/>
                <a:ea typeface="맑은 고딕" pitchFamily="50" charset="-127"/>
              </a:rPr>
              <a:t>[hadoop@client ~]$ </a:t>
            </a:r>
            <a:r>
              <a:rPr lang="fr-FR" altLang="ko-KR" sz="1200" b="1" dirty="0">
                <a:latin typeface="맑은 고딕" pitchFamily="50" charset="-127"/>
                <a:ea typeface="맑은 고딕" pitchFamily="50" charset="-127"/>
              </a:rPr>
              <a:t>javac -version</a:t>
            </a:r>
          </a:p>
          <a:p>
            <a:pPr marL="0" indent="0" latinLnBrk="0">
              <a:spcBef>
                <a:spcPct val="30000"/>
              </a:spcBef>
            </a:pPr>
            <a:r>
              <a:rPr lang="fr-FR" altLang="ko-KR" sz="12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javac 1.7.0_55</a:t>
            </a:r>
          </a:p>
          <a:p>
            <a:pPr marL="0" indent="0" latinLnBrk="0">
              <a:spcBef>
                <a:spcPct val="30000"/>
              </a:spcBef>
            </a:pPr>
            <a:endParaRPr lang="fr-FR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fr-FR" altLang="ko-KR" sz="1200" dirty="0">
                <a:latin typeface="맑은 고딕" pitchFamily="50" charset="-127"/>
                <a:ea typeface="맑은 고딕" pitchFamily="50" charset="-127"/>
              </a:rPr>
              <a:t>[hadoop@client ~]$ </a:t>
            </a:r>
            <a:r>
              <a:rPr lang="fr-FR" altLang="ko-KR" sz="1200" b="1" dirty="0">
                <a:latin typeface="맑은 고딕" pitchFamily="50" charset="-127"/>
                <a:ea typeface="맑은 고딕" pitchFamily="50" charset="-127"/>
              </a:rPr>
              <a:t>jps</a:t>
            </a:r>
          </a:p>
          <a:p>
            <a:pPr marL="0" indent="0" latinLnBrk="0">
              <a:spcBef>
                <a:spcPct val="30000"/>
              </a:spcBef>
            </a:pPr>
            <a:r>
              <a:rPr lang="fr-FR" altLang="ko-KR" sz="1200" dirty="0">
                <a:latin typeface="맑은 고딕" pitchFamily="50" charset="-127"/>
                <a:ea typeface="맑은 고딕" pitchFamily="50" charset="-127"/>
              </a:rPr>
              <a:t>1657 </a:t>
            </a:r>
            <a:r>
              <a:rPr lang="fr-FR" altLang="ko-KR" sz="12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Jps</a:t>
            </a:r>
            <a:endParaRPr lang="en-US" altLang="ko-KR" sz="1200" b="1" dirty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2522569" y="4473116"/>
            <a:ext cx="4500500" cy="1735507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[NOTE] </a:t>
            </a:r>
          </a:p>
          <a:p>
            <a:pPr algn="ctr">
              <a:lnSpc>
                <a:spcPct val="150000"/>
              </a:lnSpc>
            </a:pP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1657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번호는 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리눅스에서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실행되는 프로세스의 </a:t>
            </a:r>
          </a:p>
          <a:p>
            <a:pPr algn="ctr">
              <a:lnSpc>
                <a:spcPct val="15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Random ID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값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각자 다른 값을 가짐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altLang="ko-KR" sz="14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5642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3.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하둡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계정으로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리눅스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환경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080284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>
                <a:solidFill>
                  <a:prstClr val="black"/>
                </a:solidFill>
              </a:rPr>
              <a:t>SSH </a:t>
            </a:r>
            <a:r>
              <a:rPr lang="ko-KR" altLang="en-US" b="1" dirty="0">
                <a:solidFill>
                  <a:prstClr val="black"/>
                </a:solidFill>
              </a:rPr>
              <a:t>설정 </a:t>
            </a:r>
            <a:r>
              <a:rPr lang="en-US" altLang="ko-KR" b="1" dirty="0">
                <a:solidFill>
                  <a:prstClr val="black"/>
                </a:solidFill>
              </a:rPr>
              <a:t>: .</a:t>
            </a:r>
            <a:r>
              <a:rPr lang="en-US" altLang="ko-KR" b="1" dirty="0" err="1">
                <a:solidFill>
                  <a:prstClr val="black"/>
                </a:solidFill>
              </a:rPr>
              <a:t>ssh</a:t>
            </a:r>
            <a:r>
              <a:rPr lang="en-US" altLang="ko-KR" b="1" dirty="0">
                <a:solidFill>
                  <a:prstClr val="black"/>
                </a:solidFill>
              </a:rPr>
              <a:t> </a:t>
            </a:r>
            <a:r>
              <a:rPr lang="ko-KR" altLang="en-US" b="1" dirty="0">
                <a:solidFill>
                  <a:prstClr val="black"/>
                </a:solidFill>
              </a:rPr>
              <a:t>디렉터리 생성하기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64353"/>
            <a:ext cx="9027278" cy="93070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8]$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localhost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9]$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ls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-al 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10]$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rm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known_hosts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300" b="1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16003" y="3032956"/>
            <a:ext cx="8425507" cy="3675305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fr-FR" altLang="ko-KR" sz="1200" dirty="0">
                <a:latin typeface="맑은 고딕" pitchFamily="50" charset="-127"/>
                <a:ea typeface="맑은 고딕" pitchFamily="50" charset="-127"/>
              </a:rPr>
              <a:t>[hadoop@client ~]$ </a:t>
            </a:r>
            <a:r>
              <a:rPr lang="fr-FR" altLang="ko-KR" sz="1200" b="1" dirty="0">
                <a:latin typeface="맑은 고딕" pitchFamily="50" charset="-127"/>
                <a:ea typeface="맑은 고딕" pitchFamily="50" charset="-127"/>
              </a:rPr>
              <a:t>ssh localhost</a:t>
            </a:r>
          </a:p>
          <a:p>
            <a:pPr marL="0" indent="0" latinLnBrk="0">
              <a:spcBef>
                <a:spcPct val="30000"/>
              </a:spcBef>
            </a:pPr>
            <a:r>
              <a:rPr lang="fr-FR" altLang="ko-KR" sz="1000" dirty="0">
                <a:latin typeface="맑은 고딕" pitchFamily="50" charset="-127"/>
                <a:ea typeface="맑은 고딕" pitchFamily="50" charset="-127"/>
              </a:rPr>
              <a:t>Warning: Permanently added 'localhost' (RSA) to the list of known hosts.</a:t>
            </a:r>
          </a:p>
          <a:p>
            <a:pPr marL="0" indent="0" latinLnBrk="0">
              <a:spcBef>
                <a:spcPct val="30000"/>
              </a:spcBef>
            </a:pPr>
            <a:r>
              <a:rPr lang="fr-FR" altLang="ko-KR" sz="1000" dirty="0">
                <a:latin typeface="맑은 고딕" pitchFamily="50" charset="-127"/>
                <a:ea typeface="맑은 고딕" pitchFamily="50" charset="-127"/>
              </a:rPr>
              <a:t>hadoop@localhost's password:</a:t>
            </a:r>
          </a:p>
          <a:p>
            <a:pPr marL="0" indent="0" latinLnBrk="0">
              <a:spcBef>
                <a:spcPct val="30000"/>
              </a:spcBef>
            </a:pPr>
            <a:r>
              <a:rPr lang="fr-FR" altLang="ko-KR" sz="1000" dirty="0">
                <a:latin typeface="맑은 고딕" pitchFamily="50" charset="-127"/>
                <a:ea typeface="맑은 고딕" pitchFamily="50" charset="-127"/>
              </a:rPr>
              <a:t>Permission denied, please try again.</a:t>
            </a:r>
          </a:p>
          <a:p>
            <a:pPr marL="0" indent="0" latinLnBrk="0">
              <a:spcBef>
                <a:spcPct val="30000"/>
              </a:spcBef>
            </a:pPr>
            <a:r>
              <a:rPr lang="fr-FR" altLang="ko-KR" sz="1000" dirty="0">
                <a:latin typeface="맑은 고딕" pitchFamily="50" charset="-127"/>
                <a:ea typeface="맑은 고딕" pitchFamily="50" charset="-127"/>
              </a:rPr>
              <a:t>hadoop@localhost's password:</a:t>
            </a:r>
          </a:p>
          <a:p>
            <a:pPr marL="0" indent="0" latinLnBrk="0">
              <a:spcBef>
                <a:spcPct val="30000"/>
              </a:spcBef>
            </a:pPr>
            <a:r>
              <a:rPr lang="fr-FR" altLang="ko-KR" sz="1000" dirty="0">
                <a:latin typeface="맑은 고딕" pitchFamily="50" charset="-127"/>
                <a:ea typeface="맑은 고딕" pitchFamily="50" charset="-127"/>
              </a:rPr>
              <a:t>Permission denied, please try again.</a:t>
            </a:r>
          </a:p>
          <a:p>
            <a:pPr marL="0" indent="0" latinLnBrk="0">
              <a:spcBef>
                <a:spcPct val="30000"/>
              </a:spcBef>
            </a:pPr>
            <a:r>
              <a:rPr lang="fr-FR" altLang="ko-KR" sz="1000" dirty="0">
                <a:latin typeface="맑은 고딕" pitchFamily="50" charset="-127"/>
                <a:ea typeface="맑은 고딕" pitchFamily="50" charset="-127"/>
              </a:rPr>
              <a:t>hadoop@localhost's password:</a:t>
            </a:r>
          </a:p>
          <a:p>
            <a:pPr marL="0" indent="0" latinLnBrk="0">
              <a:spcBef>
                <a:spcPct val="30000"/>
              </a:spcBef>
            </a:pPr>
            <a:r>
              <a:rPr lang="fr-FR" altLang="ko-KR" sz="1000" dirty="0">
                <a:latin typeface="맑은 고딕" pitchFamily="50" charset="-127"/>
                <a:ea typeface="맑은 고딕" pitchFamily="50" charset="-127"/>
              </a:rPr>
              <a:t>Permission denied (publickey,gssapi-keyex,gssapi-with-mic,password).</a:t>
            </a:r>
          </a:p>
          <a:p>
            <a:pPr marL="0" indent="0" latinLnBrk="0">
              <a:spcBef>
                <a:spcPct val="30000"/>
              </a:spcBef>
            </a:pPr>
            <a:endParaRPr lang="fr-FR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fr-FR" altLang="ko-KR" sz="1200" dirty="0">
                <a:latin typeface="맑은 고딕" pitchFamily="50" charset="-127"/>
                <a:ea typeface="맑은 고딕" pitchFamily="50" charset="-127"/>
              </a:rPr>
              <a:t>[hadoop@client ~]$ </a:t>
            </a:r>
            <a:r>
              <a:rPr lang="fr-FR" altLang="ko-KR" sz="1200" b="1" dirty="0">
                <a:latin typeface="맑은 고딕" pitchFamily="50" charset="-127"/>
                <a:ea typeface="맑은 고딕" pitchFamily="50" charset="-127"/>
              </a:rPr>
              <a:t>ls -al  .ssh</a:t>
            </a:r>
          </a:p>
          <a:p>
            <a:pPr marL="0" indent="0" latinLnBrk="0">
              <a:spcBef>
                <a:spcPct val="30000"/>
              </a:spcBef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합계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12</a:t>
            </a:r>
          </a:p>
          <a:p>
            <a:pPr marL="0" indent="0" latinLnBrk="0">
              <a:spcBef>
                <a:spcPct val="30000"/>
              </a:spcBef>
            </a:pPr>
            <a:r>
              <a:rPr lang="fr-FR" altLang="ko-KR" sz="1200" dirty="0">
                <a:latin typeface="맑은 고딕" pitchFamily="50" charset="-127"/>
                <a:ea typeface="맑은 고딕" pitchFamily="50" charset="-127"/>
              </a:rPr>
              <a:t>drwx------. 2 hadoop hadoop 4096 2017-05-06 16:50 .</a:t>
            </a:r>
          </a:p>
          <a:p>
            <a:pPr marL="0" indent="0" latinLnBrk="0">
              <a:spcBef>
                <a:spcPct val="30000"/>
              </a:spcBef>
            </a:pPr>
            <a:r>
              <a:rPr lang="fr-FR" altLang="ko-KR" sz="1200" dirty="0">
                <a:latin typeface="맑은 고딕" pitchFamily="50" charset="-127"/>
                <a:ea typeface="맑은 고딕" pitchFamily="50" charset="-127"/>
              </a:rPr>
              <a:t>drwx------. 3 hadoop hadoop 4096 2017-05-06 16:50 ..</a:t>
            </a:r>
          </a:p>
          <a:p>
            <a:pPr marL="0" indent="0" latinLnBrk="0">
              <a:spcBef>
                <a:spcPct val="30000"/>
              </a:spcBef>
            </a:pPr>
            <a:r>
              <a:rPr lang="fr-FR" altLang="ko-KR" sz="1200" dirty="0">
                <a:latin typeface="맑은 고딕" pitchFamily="50" charset="-127"/>
                <a:ea typeface="맑은 고딕" pitchFamily="50" charset="-127"/>
              </a:rPr>
              <a:t>-rw-r--r--. 1 hadoop hadoop  391 2017-05-06 16:50 </a:t>
            </a:r>
            <a:r>
              <a:rPr lang="fr-FR" altLang="ko-KR" sz="12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known_hosts</a:t>
            </a:r>
          </a:p>
          <a:p>
            <a:pPr marL="0" indent="0" latinLnBrk="0">
              <a:spcBef>
                <a:spcPct val="30000"/>
              </a:spcBef>
            </a:pPr>
            <a:endParaRPr lang="fr-FR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fr-FR" altLang="ko-KR" sz="1200" dirty="0">
                <a:latin typeface="맑은 고딕" pitchFamily="50" charset="-127"/>
                <a:ea typeface="맑은 고딕" pitchFamily="50" charset="-127"/>
              </a:rPr>
              <a:t>[hadoop@client ~]$ </a:t>
            </a:r>
            <a:r>
              <a:rPr lang="fr-FR" altLang="ko-KR" sz="1200" b="1" dirty="0">
                <a:latin typeface="맑은 고딕" pitchFamily="50" charset="-127"/>
                <a:ea typeface="맑은 고딕" pitchFamily="50" charset="-127"/>
              </a:rPr>
              <a:t>rm .ssh/known_hosts</a:t>
            </a:r>
            <a:endParaRPr lang="en-US" altLang="ko-KR" sz="1200" b="1" dirty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가로로 말린 두루마리 모양 7"/>
          <p:cNvSpPr/>
          <p:nvPr/>
        </p:nvSpPr>
        <p:spPr>
          <a:xfrm>
            <a:off x="4196916" y="1336691"/>
            <a:ext cx="5292588" cy="1548172"/>
          </a:xfrm>
          <a:prstGeom prst="horizontalScroll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클러스터의 수십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수백대의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머신에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접속하기 위해서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-&gt; </a:t>
            </a:r>
            <a:r>
              <a:rPr lang="ko-KR" altLang="en-US" sz="14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가상머신을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복제하여 총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대를 만든 후 </a:t>
            </a: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비밀번호 없이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SSH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접속이 가능하도록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설정</a:t>
            </a:r>
            <a:endParaRPr lang="en-US" altLang="ko-KR" sz="14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타원형 설명선 8"/>
          <p:cNvSpPr/>
          <p:nvPr/>
        </p:nvSpPr>
        <p:spPr>
          <a:xfrm>
            <a:off x="4936016" y="3645024"/>
            <a:ext cx="4716524" cy="1515428"/>
          </a:xfrm>
          <a:prstGeom prst="wedgeEllipseCallout">
            <a:avLst>
              <a:gd name="adj1" fmla="val -79605"/>
              <a:gd name="adj2" fmla="val -4861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[NOTE] </a:t>
            </a:r>
            <a:endParaRPr lang="en-US" altLang="ko-KR" sz="14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latinLnBrk="0">
              <a:spcBef>
                <a:spcPct val="30000"/>
              </a:spcBef>
            </a:pPr>
            <a:r>
              <a:rPr lang="ko-KR" altLang="en-US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처음 </a:t>
            </a: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 </a:t>
            </a:r>
            <a:r>
              <a:rPr lang="ko-KR" altLang="en-US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명령을 실행할 때 비밀번호를 물어보면 그냥 </a:t>
            </a: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Enter</a:t>
            </a:r>
            <a:r>
              <a:rPr lang="ko-KR" altLang="en-US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를 </a:t>
            </a: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</a:t>
            </a: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14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7495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4.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아파치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하둡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454565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>
                <a:solidFill>
                  <a:prstClr val="black"/>
                </a:solidFill>
              </a:rPr>
              <a:t>하둡 설정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3031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하둡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디렉터리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home/hadoop/hadoop/etc/Hadoop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다음에 나오는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7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개의 파일을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편집하세요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hadoop-env.sh</a:t>
            </a: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core-site.xml</a:t>
            </a: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hdfs-site.xml</a:t>
            </a: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mapred-site.xml</a:t>
            </a: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yarn-site.xml</a:t>
            </a: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log4j.properties</a:t>
            </a: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slaves</a:t>
            </a: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3791080" y="2240868"/>
            <a:ext cx="5330080" cy="2736304"/>
          </a:xfrm>
          <a:prstGeom prst="horizont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[NOTE] </a:t>
            </a:r>
            <a:endParaRPr lang="en-US" altLang="ko-KR" sz="16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342900" indent="-342900" latinLnBrk="0">
              <a:spcBef>
                <a:spcPct val="30000"/>
              </a:spcBef>
              <a:buAutoNum type="arabicPeriod"/>
            </a:pP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hadoop-env.sh 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파일 </a:t>
            </a: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맨 뒷부분에 추가</a:t>
            </a:r>
            <a:endParaRPr lang="en-US" altLang="ko-KR" sz="16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342900" indent="-342900" latinLnBrk="0">
              <a:spcBef>
                <a:spcPct val="30000"/>
              </a:spcBef>
              <a:buFontTx/>
              <a:buAutoNum type="arabicPeriod"/>
            </a:pP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log4j.properties 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파일 </a:t>
            </a: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INFO=&gt;ERROR 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변경</a:t>
            </a:r>
            <a:endParaRPr lang="en-US" altLang="ko-KR" sz="16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342900" indent="-342900" latinLnBrk="0">
              <a:spcBef>
                <a:spcPct val="30000"/>
              </a:spcBef>
              <a:buAutoNum type="arabicPeriod"/>
            </a:pP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나머지 </a:t>
            </a: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5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개 파일 </a:t>
            </a: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전체 변경</a:t>
            </a: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기존 내용 삭제</a:t>
            </a: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6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타원형 설명선 6"/>
          <p:cNvSpPr/>
          <p:nvPr/>
        </p:nvSpPr>
        <p:spPr>
          <a:xfrm>
            <a:off x="848544" y="4977172"/>
            <a:ext cx="4716524" cy="1515428"/>
          </a:xfrm>
          <a:prstGeom prst="wedgeEllipseCallout">
            <a:avLst>
              <a:gd name="adj1" fmla="val -39320"/>
              <a:gd name="adj2" fmla="val -8544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ko-KR" altLang="en-US" sz="14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의사모드와 다른 점은</a:t>
            </a:r>
            <a:endParaRPr lang="en-US" altLang="ko-KR" sz="14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en-US" altLang="ko-KR" sz="14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slaves </a:t>
            </a:r>
            <a:r>
              <a:rPr lang="ko-KR" altLang="en-US" sz="14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파일 설정</a:t>
            </a:r>
            <a:endParaRPr lang="ko-KR" altLang="en-US" sz="14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8771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4.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아파치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하둡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454565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>
                <a:solidFill>
                  <a:prstClr val="black"/>
                </a:solidFill>
              </a:rPr>
              <a:t>하둡 설정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3305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1.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하둡 환경 설정 파일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hadoop-env.sh</a:t>
            </a: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93367" y="1808820"/>
            <a:ext cx="8820980" cy="2444968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[hadoop@client 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~]$ </a:t>
            </a:r>
            <a:r>
              <a:rPr lang="en-US" altLang="ko-KR" sz="1200" b="1" smtClean="0">
                <a:latin typeface="맑은 고딕" pitchFamily="50" charset="-127"/>
                <a:ea typeface="맑은 고딕" pitchFamily="50" charset="-127"/>
              </a:rPr>
              <a:t>tail  hadoop-env.sh</a:t>
            </a:r>
            <a:endParaRPr lang="en-US" altLang="ko-KR" sz="1200" b="1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200" b="1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...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export JAVA_HOME=/usr/local/java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20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export HADOOP_PREFIX=${HADOOP_HOME}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20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export HADOOP_COMMON_LIB_NATIVE_DIR=${HADOOP_PREFIX}/lib/native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20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export HADOOP_OPTS="${HADOOP_OPTS} -XX:-PrintWarnings -Djava.library.path=${HADOOP_PREFIX}/lib/native"</a:t>
            </a:r>
          </a:p>
        </p:txBody>
      </p:sp>
      <p:sp>
        <p:nvSpPr>
          <p:cNvPr id="6" name="타원형 설명선 5"/>
          <p:cNvSpPr/>
          <p:nvPr/>
        </p:nvSpPr>
        <p:spPr>
          <a:xfrm>
            <a:off x="3836876" y="4869160"/>
            <a:ext cx="2556034" cy="1515428"/>
          </a:xfrm>
          <a:prstGeom prst="wedgeEllipseCallout">
            <a:avLst>
              <a:gd name="adj1" fmla="val -37645"/>
              <a:gd name="adj2" fmla="val -7552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[NOTE] </a:t>
            </a:r>
            <a:endParaRPr lang="en-US" altLang="ko-KR" sz="14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ko-KR" altLang="en-US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맨 뒤에 추가</a:t>
            </a:r>
            <a:endParaRPr lang="ko-KR" altLang="en-US" sz="14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7265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4.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아파치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하둡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454565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>
                <a:solidFill>
                  <a:prstClr val="black"/>
                </a:solidFill>
              </a:rPr>
              <a:t>하둡 설정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3305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2.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하둡 코어 설정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core-site.xml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93367" y="1808820"/>
            <a:ext cx="8820980" cy="3405231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[hadoop@client 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~]$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cat  </a:t>
            </a:r>
            <a:r>
              <a:rPr lang="en-US" altLang="ko-KR" sz="1200" b="1" smtClean="0">
                <a:latin typeface="맑은 고딕" pitchFamily="50" charset="-127"/>
                <a:ea typeface="맑은 고딕" pitchFamily="50" charset="-127"/>
              </a:rPr>
              <a:t>core-site.xml</a:t>
            </a:r>
            <a:endParaRPr lang="en-US" altLang="ko-KR" sz="1200" b="1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&lt;?xml version="1.0" encoding="UTF-8"?&gt;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&lt;?xml-stylesheet type="text/xsl" href="configuration.xsl"?&gt;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200" b="1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&lt;configuration&gt;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&lt;property&gt;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&lt;name&gt;fs.defaultFS&lt;/name&gt;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 &lt;value&gt;hdfs://namenode.hadoop.kr:8020/&lt;/value&gt;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&lt;/property&gt;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&lt;property&gt;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&lt;name&gt;io.file.buffer.size&lt;/name&gt;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 &lt;value&gt;131072&lt;/value&gt;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&lt;/property&gt;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&lt;/configuration&gt;</a:t>
            </a:r>
          </a:p>
        </p:txBody>
      </p:sp>
      <p:sp>
        <p:nvSpPr>
          <p:cNvPr id="6" name="타원형 설명선 5"/>
          <p:cNvSpPr/>
          <p:nvPr/>
        </p:nvSpPr>
        <p:spPr>
          <a:xfrm>
            <a:off x="3836876" y="4869160"/>
            <a:ext cx="4716524" cy="1728192"/>
          </a:xfrm>
          <a:prstGeom prst="wedgeEllipseCallout">
            <a:avLst>
              <a:gd name="adj1" fmla="val -37645"/>
              <a:gd name="adj2" fmla="val -7552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[NOTE] </a:t>
            </a:r>
            <a:endParaRPr lang="en-US" altLang="ko-KR" sz="14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ko-KR" altLang="en-US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첫번째 줄이 빈칸이면 절대 안됨</a:t>
            </a:r>
            <a:endParaRPr lang="ko-KR" altLang="en-US" sz="14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6440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4.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아파치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하둡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454565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>
                <a:solidFill>
                  <a:prstClr val="black"/>
                </a:solidFill>
              </a:rPr>
              <a:t>하둡 설정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3305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3. HDFS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hdfs-site.xml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93367" y="1808820"/>
            <a:ext cx="4603649" cy="4365493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[hadoop@client 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~]$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cat  </a:t>
            </a:r>
            <a:r>
              <a:rPr lang="en-US" altLang="ko-KR" sz="1200" b="1" smtClean="0">
                <a:latin typeface="맑은 고딕" pitchFamily="50" charset="-127"/>
                <a:ea typeface="맑은 고딕" pitchFamily="50" charset="-127"/>
              </a:rPr>
              <a:t>hdfs-site.xml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&lt;?xml version="1.0" encoding="UTF-8"?&gt;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&lt;?xml-stylesheet type="text/xsl" href="configuration.xsl"?&gt;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200" b="1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&lt;configuration&gt;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&lt;property&gt;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&lt;name&gt;dfs.replication&lt;/name&gt;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&lt;value&gt;1&lt;/value&gt;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&lt;/property&gt;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&lt;property&gt;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&lt;name&gt;dfs.namenode.http-address&lt;/name&gt;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&lt;value&gt;namenode.hadoop.kr:50070&lt;/value&gt;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&lt;/property&gt;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&lt;property&gt;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&lt;name&gt;dfs.namenode.secondary.http-address&lt;/name&gt;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&lt;value&gt;secondnode.hadoop.kr:50090&lt;/value&gt;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&lt;/property&gt;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</a:p>
        </p:txBody>
      </p:sp>
      <p:sp>
        <p:nvSpPr>
          <p:cNvPr id="6" name="타원형 설명선 5"/>
          <p:cNvSpPr/>
          <p:nvPr/>
        </p:nvSpPr>
        <p:spPr>
          <a:xfrm>
            <a:off x="4903857" y="860777"/>
            <a:ext cx="2461411" cy="1119353"/>
          </a:xfrm>
          <a:prstGeom prst="wedgeEllipseCallout">
            <a:avLst>
              <a:gd name="adj1" fmla="val -74335"/>
              <a:gd name="adj2" fmla="val 6045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[NOTE] </a:t>
            </a:r>
            <a:endParaRPr lang="en-US" altLang="ko-KR" sz="14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ko-KR" altLang="en-US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첫번째 줄이 </a:t>
            </a:r>
            <a:endParaRPr lang="en-US" altLang="ko-KR" sz="14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ko-KR" altLang="en-US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빈칸이면 절대 안됨</a:t>
            </a:r>
            <a:endParaRPr lang="ko-KR" altLang="en-US" sz="14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169024" y="2048885"/>
            <a:ext cx="4356484" cy="4125428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&lt;property&gt;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&lt;name&gt;dfs.datanode.http-address&lt;/name&gt;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&lt;value&gt;0.0.0.0:50010&lt;/value&gt;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&lt;/property&gt;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&lt;property&gt;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&lt;name&gt;dfs.namenode.name.dir&lt;/name&gt;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 &lt;value&gt;file:///data/name1,file:///data/name2&lt;/value&gt;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&lt;/property&gt;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&lt;property&gt;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&lt;name&gt;dfs.datanode.data.dir&lt;/name&gt;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 &lt;value&gt;file:///data/data&lt;/value&gt;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&lt;/property&gt;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&lt;property&gt;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&lt;name&gt;dfs.namenode.checkpoint.dir&lt;/name&gt;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 &lt;value&gt;file:///data/namesecondary&lt;/value&gt;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&lt;/property&gt;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&lt;/configuration&gt;</a:t>
            </a:r>
          </a:p>
        </p:txBody>
      </p:sp>
    </p:spTree>
    <p:extLst>
      <p:ext uri="{BB962C8B-B14F-4D97-AF65-F5344CB8AC3E}">
        <p14:creationId xmlns:p14="http://schemas.microsoft.com/office/powerpoint/2010/main" val="4262429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4.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아파치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하둡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454565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>
                <a:solidFill>
                  <a:prstClr val="black"/>
                </a:solidFill>
              </a:rPr>
              <a:t>하둡 설정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3305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4. MapReduce 2.0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mapred-site.xml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93367" y="1808820"/>
            <a:ext cx="8820980" cy="4365493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dirty="0" err="1" smtClean="0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~]$ 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cat  </a:t>
            </a: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mapred-site.xml</a:t>
            </a:r>
            <a:endParaRPr lang="en-US" altLang="ko-KR" sz="12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&lt;?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xml version="1.0" encoding="UTF-8"?&gt;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&lt;?xml-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stylesheet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type="text/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xsl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" 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href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="configuration.xsl"?&gt;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200" b="1" dirty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&lt;configuration&gt;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&lt;property&gt;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&lt;name&gt;mapreduce.framework.name&lt;/name&gt;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 &lt;value&gt;yarn&lt;/value&gt;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&lt;/property&gt;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&lt;property&gt;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&lt;name&gt;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mapreduce.jobhistory.address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&lt;/name&gt;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&lt;value&gt;namenode.hadoop.kr:10020&lt;/value&gt;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&lt;/property&gt;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&lt;property&gt;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&lt;name&gt;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mapreduce.jobhistory.webapp.address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&lt;/name&gt;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 &lt;value&gt;namenode.hadoop.kr:19888&lt;/value</a:t>
            </a:r>
            <a:r>
              <a:rPr lang="en-US" altLang="ko-KR" sz="12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&lt;/property&gt;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&lt;/configuration&gt;</a:t>
            </a:r>
          </a:p>
        </p:txBody>
      </p:sp>
      <p:sp>
        <p:nvSpPr>
          <p:cNvPr id="6" name="타원형 설명선 5"/>
          <p:cNvSpPr/>
          <p:nvPr/>
        </p:nvSpPr>
        <p:spPr>
          <a:xfrm>
            <a:off x="4911557" y="3753036"/>
            <a:ext cx="4716524" cy="1728192"/>
          </a:xfrm>
          <a:prstGeom prst="wedgeEllipseCallout">
            <a:avLst>
              <a:gd name="adj1" fmla="val -37645"/>
              <a:gd name="adj2" fmla="val -7552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[NOTE] </a:t>
            </a:r>
            <a:endParaRPr lang="en-US" altLang="ko-KR" sz="14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ko-KR" altLang="en-US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첫번째 줄이 빈칸이면 절대 안됨</a:t>
            </a:r>
            <a:endParaRPr lang="ko-KR" altLang="en-US" sz="14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826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4.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아파치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하둡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454565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>
                <a:solidFill>
                  <a:prstClr val="black"/>
                </a:solidFill>
              </a:rPr>
              <a:t>하둡 설정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3305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5. YARN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yarn-site.xml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93367" y="1700808"/>
            <a:ext cx="8820980" cy="5085691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[hadoop@client 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~]$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cat  </a:t>
            </a:r>
            <a:r>
              <a:rPr lang="en-US" altLang="ko-KR" sz="1200" b="1" smtClean="0">
                <a:latin typeface="맑은 고딕" pitchFamily="50" charset="-127"/>
                <a:ea typeface="맑은 고딕" pitchFamily="50" charset="-127"/>
              </a:rPr>
              <a:t>yarn-site.xml</a:t>
            </a:r>
            <a:endParaRPr lang="en-US" altLang="ko-KR" sz="1200" b="1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&lt;?xml version="1.0" encoding="UTF-8"?&gt;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&lt;?xml-stylesheet type="text/xsl" href="configuration.xsl"?&gt;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&lt;</a:t>
            </a: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configuration&gt;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&lt;property&gt;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&lt;name&gt;yarn.resourcemanager.hostname&lt;/name&gt;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  &lt;value&gt;secondnode.hadoop.kr&lt;/value&gt;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&lt;/property&gt;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&lt;property&gt;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&lt;name&gt;yarn.nodemanager.local-dirs&lt;/name&gt;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  &lt;value&gt;/data/nm&lt;/value&gt;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&lt;/property&gt;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&lt;property&gt;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&lt;name&gt;yarn.nodemanager.aux-services&lt;/name&gt;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  &lt;value&gt;mapreduce_shuffle&lt;/value&gt;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&lt;/property&gt;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&lt;property&gt;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&lt;name&gt;yarn.nodemanager.resource.cpu-vcores&lt;/name&gt;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  &lt;value&gt;2&lt;/value&gt;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&lt;/property&gt;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&lt;/configuration&gt;</a:t>
            </a:r>
          </a:p>
        </p:txBody>
      </p:sp>
      <p:sp>
        <p:nvSpPr>
          <p:cNvPr id="6" name="타원형 설명선 5"/>
          <p:cNvSpPr/>
          <p:nvPr/>
        </p:nvSpPr>
        <p:spPr>
          <a:xfrm>
            <a:off x="4911557" y="3753036"/>
            <a:ext cx="4716524" cy="1728192"/>
          </a:xfrm>
          <a:prstGeom prst="wedgeEllipseCallout">
            <a:avLst>
              <a:gd name="adj1" fmla="val -37645"/>
              <a:gd name="adj2" fmla="val -7552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[NOTE] </a:t>
            </a:r>
            <a:endParaRPr lang="en-US" altLang="ko-KR" sz="14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ko-KR" altLang="en-US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첫번째 줄이 빈칸이면 절대 안됨</a:t>
            </a:r>
            <a:endParaRPr lang="ko-KR" altLang="en-US" sz="14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9064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4.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아파치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하둡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454565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>
                <a:solidFill>
                  <a:prstClr val="black"/>
                </a:solidFill>
              </a:rPr>
              <a:t>하둡 설정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3305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6.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하둡 로그 설정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log4j.properties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93367" y="1808820"/>
            <a:ext cx="8820980" cy="1724771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[hadoop@client 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~]$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cat  </a:t>
            </a:r>
            <a:r>
              <a:rPr lang="en-US" altLang="ko-KR" sz="1200" b="1" smtClean="0">
                <a:latin typeface="맑은 고딕" pitchFamily="50" charset="-127"/>
                <a:ea typeface="맑은 고딕" pitchFamily="50" charset="-127"/>
              </a:rPr>
              <a:t>mapred-site.xml</a:t>
            </a:r>
            <a:endParaRPr lang="en-US" altLang="ko-KR" sz="1200" b="1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# hadoop.root.logger=INFO,console</a:t>
            </a:r>
            <a:endParaRPr lang="en-US" altLang="ko-KR" sz="1200" b="1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hadoop.root.logger=ERROR,console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…</a:t>
            </a:r>
            <a:endParaRPr lang="en-US" altLang="ko-KR" sz="1200" b="1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타원형 설명선 5"/>
          <p:cNvSpPr/>
          <p:nvPr/>
        </p:nvSpPr>
        <p:spPr>
          <a:xfrm>
            <a:off x="2612740" y="3526237"/>
            <a:ext cx="3240360" cy="1728192"/>
          </a:xfrm>
          <a:prstGeom prst="wedgeEllipseCallout">
            <a:avLst>
              <a:gd name="adj1" fmla="val -37645"/>
              <a:gd name="adj2" fmla="val -7552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[NOTE] </a:t>
            </a:r>
            <a:endParaRPr lang="en-US" altLang="ko-KR" sz="14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en-US" altLang="ko-KR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INFO</a:t>
            </a:r>
            <a:r>
              <a:rPr lang="ko-KR" altLang="en-US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를</a:t>
            </a:r>
            <a:endParaRPr lang="en-US" altLang="ko-KR" sz="14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en-US" altLang="ko-KR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ERROR</a:t>
            </a:r>
            <a:r>
              <a:rPr lang="ko-KR" altLang="en-US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 변경</a:t>
            </a:r>
            <a:endParaRPr lang="ko-KR" altLang="en-US" sz="14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1283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4.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아파치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하둡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454565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>
                <a:solidFill>
                  <a:prstClr val="black"/>
                </a:solidFill>
              </a:rPr>
              <a:t>하둡 설정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33054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7.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워커노드 설정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slaves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93367" y="1808820"/>
            <a:ext cx="8820980" cy="1004573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dirty="0" err="1" smtClean="0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~]$ 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cat  </a:t>
            </a: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slaves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datanode1.hadoop.kr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datanode2.hadoop.kr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dirty="0" err="1" smtClean="0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200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~]$</a:t>
            </a:r>
            <a:endParaRPr lang="en-US" altLang="ko-KR" sz="1200" b="1" dirty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타원형 설명선 5"/>
          <p:cNvSpPr/>
          <p:nvPr/>
        </p:nvSpPr>
        <p:spPr>
          <a:xfrm>
            <a:off x="3476836" y="3645024"/>
            <a:ext cx="3240360" cy="1728192"/>
          </a:xfrm>
          <a:prstGeom prst="wedgeEllipseCallout">
            <a:avLst>
              <a:gd name="adj1" fmla="val -85288"/>
              <a:gd name="adj2" fmla="val -116064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4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[NOTE] </a:t>
            </a:r>
            <a:endParaRPr lang="en-US" altLang="ko-KR" sz="14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ko-KR" altLang="en-US" sz="14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데이터 </a:t>
            </a:r>
            <a:r>
              <a:rPr lang="ko-KR" altLang="en-US" sz="14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노드는</a:t>
            </a:r>
            <a:endParaRPr lang="en-US" altLang="ko-KR" sz="14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en-US" altLang="ko-KR" sz="14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4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개</a:t>
            </a:r>
            <a:endParaRPr lang="ko-KR" altLang="en-US" sz="14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5955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4.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아파치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하둡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140651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>
                <a:solidFill>
                  <a:prstClr val="black"/>
                </a:solidFill>
              </a:rPr>
              <a:t>하둡 설정 </a:t>
            </a:r>
            <a:r>
              <a:rPr lang="en-US" altLang="ko-KR" b="1" smtClean="0">
                <a:solidFill>
                  <a:prstClr val="black"/>
                </a:solidFill>
              </a:rPr>
              <a:t>: </a:t>
            </a:r>
            <a:r>
              <a:rPr lang="ko-KR" altLang="en-US" b="1" smtClean="0">
                <a:solidFill>
                  <a:prstClr val="black"/>
                </a:solidFill>
              </a:rPr>
              <a:t>대안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51318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클러스터모드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하둡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설정 파일 다운로드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wget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http://www.db21.co.kr/hadoop/hdconf_2017.tgz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압축 풀기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[2]$ tar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xvzf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hdconf_2017.tgz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내려받은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설정 파일 확인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[3]$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ll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etc_hadoop_2017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 파일을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하둡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설정 디렉터리에 덮어쓰기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[4]$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etc_hadoop_2017/* 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[5]$ echo 'datanode1.hadoop.kr' &gt;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/slaves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echo 'datanode2.hadoop.kr' &gt;&gt;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/slaves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[6]$ cat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/slaves 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5889353" y="2300084"/>
            <a:ext cx="3240360" cy="1614384"/>
          </a:xfrm>
          <a:prstGeom prst="horizont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6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6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NOTE]</a:t>
            </a:r>
          </a:p>
          <a:p>
            <a:pPr algn="ctr" latinLnBrk="0">
              <a:spcBef>
                <a:spcPct val="30000"/>
              </a:spcBef>
            </a:pPr>
            <a:r>
              <a:rPr lang="ko-KR" altLang="en-US" sz="16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하둡 설정이 잘 안될 때</a:t>
            </a:r>
            <a:endParaRPr lang="ko-KR" altLang="en-US" sz="16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2129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4.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아파치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하둡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140651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>
                <a:solidFill>
                  <a:prstClr val="black"/>
                </a:solidFill>
              </a:rPr>
              <a:t>하둡 설정 </a:t>
            </a:r>
            <a:r>
              <a:rPr lang="en-US" altLang="ko-KR" b="1">
                <a:solidFill>
                  <a:prstClr val="black"/>
                </a:solidFill>
              </a:rPr>
              <a:t>: </a:t>
            </a:r>
            <a:r>
              <a:rPr lang="ko-KR" altLang="en-US" b="1">
                <a:solidFill>
                  <a:prstClr val="black"/>
                </a:solidFill>
              </a:rPr>
              <a:t>대안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60513" y="1412776"/>
            <a:ext cx="5220580" cy="4413968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wget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 http://www.db21.co.kr/hadoop/hdconf_2017.tgz</a:t>
            </a:r>
            <a:endParaRPr lang="en-US" altLang="ko-KR" sz="105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--2017-06-01 14:27:00--  http://www.db21.co.kr/hadoop/hdconf_2017.tgz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Resolving www.db21.co.kr (www.db21.co.kr)... 121.124.124.244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Connecting to www.db21.co.kr (www.db21.co.kr)|121.124.124.244|:80... connected.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HTTP request sent, awaiting response... 200 OK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Length: 4465 (4.4K) [application/x-tar]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Saving to: ‘hdconf_2017.tgz’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05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100%[======================================&gt;] 4,465       --.-K/s   in 0.006s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05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2017-06-01 14:27:00 (788 KB/s) - ‘hdconf_2017.tgz’ saved [4465/4465]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05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5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 ~]$  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tar 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xvzf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hdconf_2017.tgz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etc_hadoop_2017/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etc_hadoop_2017/hadoop-env.sh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etc_hadoop_2017/yarn-site.xml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etc_hadoop_2017/hdfs-site.xml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etc_hadoop_2017/core-site.xml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etc_hadoop_2017/log4j.properties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etc_hadoop_2017/mapred-site.xml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909132" y="2804033"/>
            <a:ext cx="5688383" cy="368530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ll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etc_hadoop_2017</a:t>
            </a:r>
          </a:p>
          <a:p>
            <a:pPr marL="0" indent="0" latinLnBrk="0">
              <a:spcBef>
                <a:spcPct val="30000"/>
              </a:spcBef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합계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32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rw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-r--r--. 1 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  321  5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25 16:56 core-site.xml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rw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-r--r--. 1 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 2737  5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25 16:57 hadoop-env.sh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rw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-r--r--. 1 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  862  5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25 16:56 hdfs-site.xml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rw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-r--r--. 1 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11292  5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25 16:57 log4j.properties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rw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rw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-r--. 1 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  453  6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월 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1 14:25 mapred-site.xml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rw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-r--r--. 1 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  545  5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25 16:56 yarn-site.xml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cp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etc_hadoop_2017/*  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/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echo 'datanode1.hadoop.kr' &gt; 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/slaves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echo 'datanode2.hadoop.kr' &gt;&gt; 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/slaves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0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cat 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/slaves                    </a:t>
            </a:r>
            <a:endParaRPr lang="en-US" altLang="ko-KR" sz="10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datanode1.hadoop.kr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datanode2.hadoop.kr</a:t>
            </a:r>
            <a:endParaRPr lang="en-US" altLang="ko-KR" sz="1800" b="1" dirty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3632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5.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가상 머신 복제하기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997983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dirty="0">
                <a:solidFill>
                  <a:prstClr val="black"/>
                </a:solidFill>
              </a:rPr>
              <a:t>가상 머신 </a:t>
            </a:r>
            <a:r>
              <a:rPr lang="ko-KR" altLang="en-US" b="1" dirty="0" smtClean="0">
                <a:solidFill>
                  <a:prstClr val="black"/>
                </a:solidFill>
              </a:rPr>
              <a:t>중단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18309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로그아웃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다시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root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계정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s-E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[1]$ </a:t>
            </a:r>
            <a:r>
              <a:rPr lang="es-E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exit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root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계정 확인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[2]$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whoami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가상머신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종료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[3]$ shutdown  -h  now</a:t>
            </a:r>
            <a:endParaRPr lang="en-US" altLang="ko-KR" sz="1300" b="1" dirty="0">
              <a:solidFill>
                <a:prstClr val="black"/>
              </a:solidFill>
            </a:endParaRPr>
          </a:p>
        </p:txBody>
      </p:sp>
      <p:sp>
        <p:nvSpPr>
          <p:cNvPr id="5" name="가로로 말린 두루마리 모양 4"/>
          <p:cNvSpPr/>
          <p:nvPr/>
        </p:nvSpPr>
        <p:spPr>
          <a:xfrm>
            <a:off x="595435" y="4408601"/>
            <a:ext cx="8616843" cy="1731850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[NOTE]</a:t>
            </a:r>
          </a:p>
          <a:p>
            <a:pPr>
              <a:lnSpc>
                <a:spcPct val="150000"/>
              </a:lnSpc>
            </a:pPr>
            <a:r>
              <a:rPr lang="ko-KR" altLang="en-US" sz="16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가상머신</a:t>
            </a: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shutdown</a:t>
            </a: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이 잘 안되면</a:t>
            </a:r>
            <a:endParaRPr lang="en-US" altLang="ko-KR" sz="16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Virtual Box</a:t>
            </a: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의 가상 </a:t>
            </a:r>
            <a:r>
              <a:rPr lang="ko-KR" altLang="en-US" sz="16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머신에서</a:t>
            </a: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[X] </a:t>
            </a: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종료 버튼 클릭하고 </a:t>
            </a: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가상 머신 전원 끄기</a:t>
            </a:r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선택</a:t>
            </a:r>
            <a:endParaRPr lang="en-US" altLang="ko-KR" sz="16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4666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5.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가상 머신 복제하기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997983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dirty="0">
                <a:solidFill>
                  <a:prstClr val="black"/>
                </a:solidFill>
              </a:rPr>
              <a:t>가상 머신 </a:t>
            </a:r>
            <a:r>
              <a:rPr lang="ko-KR" altLang="en-US" b="1" dirty="0" smtClean="0">
                <a:solidFill>
                  <a:prstClr val="black"/>
                </a:solidFill>
              </a:rPr>
              <a:t>복제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363144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클러스터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hd1-client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머신을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선택한 후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복제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]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를 통해서 가상 머신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대 만들기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클러스터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새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 이름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hd2-namenode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[v]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모든 네트워크 카드의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MAC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주소 초기화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복제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방식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연결된 복제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권장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vs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완전한 복제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권장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?)</a:t>
            </a: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클러스터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새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 이름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hd3-secondnode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[v]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모든 네트워크 카드의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MAC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주소 초기화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복제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방식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연결될 복제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vs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완전한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복제</a:t>
            </a:r>
            <a:endParaRPr lang="en-US" altLang="ko-KR" sz="1300" b="1" dirty="0">
              <a:solidFill>
                <a:prstClr val="black"/>
              </a:solidFill>
            </a:endParaRPr>
          </a:p>
        </p:txBody>
      </p:sp>
      <p:sp>
        <p:nvSpPr>
          <p:cNvPr id="5" name="가로로 말린 두루마리 모양 4"/>
          <p:cNvSpPr/>
          <p:nvPr/>
        </p:nvSpPr>
        <p:spPr>
          <a:xfrm>
            <a:off x="2278701" y="5085184"/>
            <a:ext cx="7138795" cy="1476164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[NOTE]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복제된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번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,3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번 </a:t>
            </a:r>
            <a:r>
              <a:rPr lang="ko-KR" altLang="en-US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머신의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네트워크 설정은 추가로 할 필요가 없음</a:t>
            </a:r>
          </a:p>
          <a:p>
            <a:pPr>
              <a:lnSpc>
                <a:spcPct val="150000"/>
              </a:lnSpc>
            </a:pP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</a:t>
            </a:r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- MAC 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주소 </a:t>
            </a:r>
            <a:r>
              <a:rPr lang="ko-KR" altLang="en-US" sz="16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신경쓰지</a:t>
            </a:r>
            <a:r>
              <a: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마세요</a:t>
            </a:r>
            <a:endParaRPr lang="en-US" altLang="ko-KR" sz="16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6177435" y="1016757"/>
            <a:ext cx="3240360" cy="1614384"/>
          </a:xfrm>
          <a:prstGeom prst="horizont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이제부터는</a:t>
            </a:r>
            <a:endParaRPr lang="en-US" altLang="ko-KR" sz="16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en-US" altLang="ko-KR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Virtual Box</a:t>
            </a:r>
            <a:r>
              <a:rPr lang="ko-KR" altLang="en-US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에서 작업합니다</a:t>
            </a:r>
            <a:r>
              <a:rPr lang="en-US" altLang="ko-KR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16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구름 모양 설명선 6"/>
          <p:cNvSpPr/>
          <p:nvPr/>
        </p:nvSpPr>
        <p:spPr>
          <a:xfrm>
            <a:off x="6236160" y="3156490"/>
            <a:ext cx="3001316" cy="1676665"/>
          </a:xfrm>
          <a:prstGeom prst="cloudCallout">
            <a:avLst>
              <a:gd name="adj1" fmla="val -90486"/>
              <a:gd name="adj2" fmla="val -38714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b="1" smtClean="0">
                <a:solidFill>
                  <a:schemeClr val="tx1"/>
                </a:solidFill>
              </a:rPr>
              <a:t>[ </a:t>
            </a:r>
            <a:r>
              <a:rPr lang="ko-KR" altLang="en-US" sz="1400" b="1" smtClean="0">
                <a:solidFill>
                  <a:schemeClr val="tx1"/>
                </a:solidFill>
              </a:rPr>
              <a:t>복제 방식 </a:t>
            </a:r>
            <a:r>
              <a:rPr lang="en-US" altLang="ko-KR" sz="1400" b="1" smtClean="0">
                <a:solidFill>
                  <a:schemeClr val="tx1"/>
                </a:solidFill>
              </a:rPr>
              <a:t>]</a:t>
            </a:r>
          </a:p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en-US" altLang="ko-KR" sz="1400" b="1" smtClean="0">
                <a:solidFill>
                  <a:schemeClr val="tx1"/>
                </a:solidFill>
              </a:rPr>
              <a:t>Disk </a:t>
            </a:r>
            <a:r>
              <a:rPr lang="ko-KR" altLang="en-US" sz="1400" b="1" smtClean="0">
                <a:solidFill>
                  <a:schemeClr val="tx1"/>
                </a:solidFill>
              </a:rPr>
              <a:t>용량이 충분하면</a:t>
            </a:r>
            <a:endParaRPr lang="en-US" altLang="ko-KR" sz="1400" b="1" smtClean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ko-KR" altLang="en-US" sz="1400" b="1" smtClean="0">
                <a:solidFill>
                  <a:schemeClr val="tx1"/>
                </a:solidFill>
              </a:rPr>
              <a:t>완전한 복제 권장</a:t>
            </a:r>
            <a:endParaRPr lang="ko-KR" altLang="en-US" sz="14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741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schemeClr val="bg1"/>
                </a:solidFill>
              </a:rPr>
              <a:t>6. </a:t>
            </a:r>
            <a:r>
              <a:rPr kumimoji="0" lang="ko-KR" altLang="en-US" sz="3000" b="1" dirty="0" smtClean="0">
                <a:solidFill>
                  <a:schemeClr val="bg1"/>
                </a:solidFill>
              </a:rPr>
              <a:t>가상 </a:t>
            </a:r>
            <a:r>
              <a:rPr kumimoji="0" lang="ko-KR" altLang="en-US" sz="3000" b="1" dirty="0">
                <a:solidFill>
                  <a:schemeClr val="bg1"/>
                </a:solidFill>
              </a:rPr>
              <a:t>머신 고정 </a:t>
            </a:r>
            <a:r>
              <a:rPr kumimoji="0" lang="en-US" altLang="ko-KR" sz="3000" b="1" dirty="0">
                <a:solidFill>
                  <a:schemeClr val="bg1"/>
                </a:solidFill>
              </a:rPr>
              <a:t>IP </a:t>
            </a:r>
            <a:r>
              <a:rPr kumimoji="0" lang="ko-KR" altLang="en-US" sz="3000" b="1" dirty="0">
                <a:solidFill>
                  <a:schemeClr val="bg1"/>
                </a:solidFill>
              </a:rPr>
              <a:t>설정</a:t>
            </a:r>
            <a:r>
              <a:rPr kumimoji="0" lang="en-US" altLang="ko-KR" sz="3000" b="1" dirty="0">
                <a:solidFill>
                  <a:schemeClr val="bg1"/>
                </a:solidFill>
              </a:rPr>
              <a:t>(</a:t>
            </a:r>
            <a:r>
              <a:rPr kumimoji="0" lang="ko-KR" altLang="en-US" sz="3000" b="1" dirty="0">
                <a:solidFill>
                  <a:schemeClr val="bg1"/>
                </a:solidFill>
              </a:rPr>
              <a:t>콘솔에서</a:t>
            </a:r>
            <a:r>
              <a:rPr kumimoji="0" lang="en-US" altLang="ko-KR" sz="3000" b="1" dirty="0">
                <a:solidFill>
                  <a:schemeClr val="bg1"/>
                </a:solidFill>
              </a:rPr>
              <a:t>)</a:t>
            </a:r>
            <a:endParaRPr kumimoji="0" lang="ko-KR" altLang="en-US" sz="3000" b="1" dirty="0">
              <a:solidFill>
                <a:schemeClr val="bg1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412105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dirty="0" smtClean="0"/>
              <a:t>가상 </a:t>
            </a:r>
            <a:r>
              <a:rPr lang="ko-KR" altLang="en-US" b="1" dirty="0"/>
              <a:t>머신 </a:t>
            </a:r>
            <a:r>
              <a:rPr lang="en-US" altLang="ko-KR" b="1" dirty="0"/>
              <a:t>3</a:t>
            </a:r>
            <a:r>
              <a:rPr lang="ko-KR" altLang="en-US" b="1" dirty="0"/>
              <a:t>대를 모두 시작</a:t>
            </a:r>
            <a:r>
              <a:rPr lang="en-US" altLang="ko-KR" b="1" dirty="0"/>
              <a:t>( </a:t>
            </a:r>
            <a:r>
              <a:rPr lang="ko-KR" altLang="en-US" b="1" dirty="0"/>
              <a:t>전원 </a:t>
            </a:r>
            <a:r>
              <a:rPr lang="en-US" altLang="ko-KR" b="1" dirty="0"/>
              <a:t>On )</a:t>
            </a:r>
            <a:endParaRPr lang="ko-KR" altLang="en-US" b="1" dirty="0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51318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클러스터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 hd1-client ] 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가상 머신 콘솔에서 직접 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a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ifconfig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enp0s8 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192.168.56.21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a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클러스터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 hd2-namenode ] 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가상 머신 콘솔에서 직접 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a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[2]$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ifconfig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enp0s8 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192.168.56.31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a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클러스터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 hd3-secondnode ] 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가상 머신 콘솔에서 직접 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a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ifconfig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enp0s8 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192.168.56.41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a</a:t>
            </a:r>
            <a:endParaRPr lang="en-US" altLang="ko-KR" sz="1300" b="1" dirty="0">
              <a:latin typeface="+mn-ea"/>
              <a:ea typeface="+mn-ea"/>
            </a:endParaRPr>
          </a:p>
        </p:txBody>
      </p:sp>
      <p:sp>
        <p:nvSpPr>
          <p:cNvPr id="2" name="빗면 1"/>
          <p:cNvSpPr/>
          <p:nvPr/>
        </p:nvSpPr>
        <p:spPr>
          <a:xfrm>
            <a:off x="6025287" y="1369456"/>
            <a:ext cx="2535945" cy="73642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Virtual-Box</a:t>
            </a:r>
            <a:endParaRPr lang="ko-KR" altLang="en-US" sz="24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513" y="2312876"/>
            <a:ext cx="2428678" cy="159382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144" y="3717032"/>
            <a:ext cx="2428678" cy="159382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003" y="5157192"/>
            <a:ext cx="2428678" cy="159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244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7. 3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대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머신에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개별 네트워크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459648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dirty="0" smtClean="0">
                <a:solidFill>
                  <a:prstClr val="black"/>
                </a:solidFill>
              </a:rPr>
              <a:t>개별 네트워크 설정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2731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putty.exe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 클러스터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 hd1-client ]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에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접속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IP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192.168.56.21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자신의 호스트 이름 설정 및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부팅시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고정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IP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사용하기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설정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클러스터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 hd1-client ]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1]$ hostname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2]$ echo '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ifconfig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enp0s8 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192.168.56.21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 &gt;&gt; 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rc.d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rc.local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chmod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+x  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rc.d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rc.local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6846597" y="2077196"/>
            <a:ext cx="2556284" cy="1614384"/>
          </a:xfrm>
          <a:prstGeom prst="horizont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 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접속은</a:t>
            </a:r>
            <a:endParaRPr lang="en-US" altLang="ko-KR" sz="16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hd1-client 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로만</a:t>
            </a:r>
            <a:endParaRPr lang="ko-KR" altLang="en-US" sz="16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빗면 6"/>
          <p:cNvSpPr/>
          <p:nvPr/>
        </p:nvSpPr>
        <p:spPr>
          <a:xfrm>
            <a:off x="6874889" y="1297060"/>
            <a:ext cx="2535945" cy="73642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HD1-Client</a:t>
            </a:r>
            <a:endParaRPr lang="ko-KR" altLang="en-US" sz="2400" dirty="0"/>
          </a:p>
        </p:txBody>
      </p:sp>
      <p:sp>
        <p:nvSpPr>
          <p:cNvPr id="8" name="가로로 말린 두루마리 모양 7"/>
          <p:cNvSpPr/>
          <p:nvPr/>
        </p:nvSpPr>
        <p:spPr>
          <a:xfrm>
            <a:off x="1510542" y="5121188"/>
            <a:ext cx="7138795" cy="1476164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 latinLnBrk="0">
              <a:spcBef>
                <a:spcPct val="30000"/>
              </a:spcBef>
            </a:pPr>
            <a:r>
              <a:rPr lang="en-US" altLang="ko-KR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[NOTE] </a:t>
            </a:r>
            <a:endParaRPr lang="en-US" altLang="ko-KR" sz="16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algn="ctr" latinLnBrk="0">
              <a:spcBef>
                <a:spcPct val="30000"/>
              </a:spcBef>
            </a:pP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6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6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rc.d</a:t>
            </a:r>
            <a:r>
              <a:rPr lang="en-US" altLang="ko-KR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6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rc.local</a:t>
            </a:r>
            <a:r>
              <a:rPr lang="en-US" altLang="ko-KR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파일에 </a:t>
            </a:r>
            <a:r>
              <a:rPr lang="ko-KR" altLang="en-US" sz="16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부팅시</a:t>
            </a:r>
            <a:r>
              <a:rPr lang="ko-KR" altLang="en-US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자동으로 실행할 명령어를 추가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222296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7. 3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대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머신에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개별 네트워크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459648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dirty="0" smtClean="0">
                <a:solidFill>
                  <a:prstClr val="black"/>
                </a:solidFill>
              </a:rPr>
              <a:t>개별 네트워크 설정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54319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클러스터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 hd2-namenode ] 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client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에서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</a:t>
            </a:r>
            <a:r>
              <a:rPr lang="ko-KR" altLang="en-US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머신으로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접속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4]$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namenode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호스트명을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변경하고 확인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5]$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'namenode.hadoop.kr' &gt; 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/hostname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6]$ hostname namenode.hadoop.kr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7]$ hostname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부팅시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고정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IP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사용하기 설정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8]$ echo '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ifconfig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enp0s8 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192.168.56.31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 &gt;&gt; 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rc.d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rc.local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9]$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chmod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+x  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rc.d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rc.local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10]$ w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11]$ exit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다시 들어가서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Prompt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가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root@namenode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~]#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으로 변경된 것을 확인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12]$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namenode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13]$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exit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</a:t>
            </a:r>
            <a:r>
              <a:rPr lang="ko-KR" altLang="en-US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머신에서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로그아웃하여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client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 돌아감</a:t>
            </a: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6846597" y="2077196"/>
            <a:ext cx="2556284" cy="1614384"/>
          </a:xfrm>
          <a:prstGeom prst="horizont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 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접속은</a:t>
            </a:r>
            <a:endParaRPr lang="en-US" altLang="ko-KR" sz="16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hd1-client 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로만</a:t>
            </a:r>
            <a:endParaRPr lang="ko-KR" altLang="en-US" sz="16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빗면 6"/>
          <p:cNvSpPr/>
          <p:nvPr/>
        </p:nvSpPr>
        <p:spPr>
          <a:xfrm>
            <a:off x="6213141" y="1232756"/>
            <a:ext cx="3197694" cy="800732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/>
              <a:t>HD2-Namenode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695521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7. 3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대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머신에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개별 네트워크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48712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# </a:t>
            </a:r>
            <a:r>
              <a:rPr lang="ko-KR" altLang="en-US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클러스터 </a:t>
            </a:r>
            <a:r>
              <a:rPr lang="en-US" altLang="ko-KR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2</a:t>
            </a:r>
            <a:r>
              <a:rPr lang="ko-KR" altLang="en-US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번 머신 </a:t>
            </a:r>
            <a:r>
              <a:rPr lang="en-US" altLang="ko-KR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[ hd2-namenode ] </a:t>
            </a:r>
            <a:endParaRPr lang="en-US" altLang="ko-KR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673256" y="1414392"/>
            <a:ext cx="8425507" cy="5230346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root@client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~]# 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namenode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Warning: Permanently added 'namenode,192.168.56.31' (ECDSA) to the list of known hosts.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root@namenode's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password: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Last login: Thu Jun  1 16:46:31 2017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root@client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~]# 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echo 'namenode.hadoop.kr' &gt; /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/hostname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root@client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~]# 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hostname namenode.hadoop.kr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root@client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~]# 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hostname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namenode.hadoop.kr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root@client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~]# </a:t>
            </a:r>
            <a:r>
              <a:rPr lang="en-US" altLang="ko-KR" sz="11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echo '</a:t>
            </a:r>
            <a:r>
              <a:rPr lang="en-US" altLang="ko-KR" sz="1100" b="1" dirty="0" err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ifconfig</a:t>
            </a:r>
            <a:r>
              <a:rPr lang="en-US" altLang="ko-KR" sz="11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enp0s8  192.168.56.31' &gt;&gt; /</a:t>
            </a:r>
            <a:r>
              <a:rPr lang="en-US" altLang="ko-KR" sz="1100" b="1" dirty="0" err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1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100" b="1" dirty="0" err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rc.d</a:t>
            </a:r>
            <a:r>
              <a:rPr lang="en-US" altLang="ko-KR" sz="11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100" b="1" dirty="0" err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rc.local</a:t>
            </a:r>
            <a:endParaRPr lang="en-US" altLang="ko-KR" sz="1100" b="1" dirty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root@client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~]# 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chmod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  +x  /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rc.d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rc.local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root@client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~]# 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w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17:00:25 up 15 min,  2 users,  load average: 0.00, 0.01, 0.04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USER     TTY      FROM             LOGIN@   IDLE   JCPU   PCPU WHAT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root     tty1                      16:46   13:37   0.04s  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0.04s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-bash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root     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pts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/0    client.hadoop.kr 16:57    1.00s  0.02s  0.01s w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root@client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~]# 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exit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logout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Connection to 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namenode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closed.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root@client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~]# 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namenode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root@namenode's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password: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Last login: Thu Jun  1 16:57:28 2017 from client.hadoop.kr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b="1" dirty="0" err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root@namenode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~]# 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exit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logout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Connection to 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namenode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closed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en-US" altLang="ko-KR" sz="800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800" dirty="0" smtClean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800" dirty="0" err="1" smtClean="0">
                <a:latin typeface="맑은 고딕" pitchFamily="50" charset="-127"/>
                <a:ea typeface="맑은 고딕" pitchFamily="50" charset="-127"/>
              </a:rPr>
              <a:t>root@client</a:t>
            </a:r>
            <a:r>
              <a:rPr lang="en-US" altLang="ko-KR" sz="800" dirty="0" smtClean="0">
                <a:latin typeface="맑은 고딕" pitchFamily="50" charset="-127"/>
                <a:ea typeface="맑은 고딕" pitchFamily="50" charset="-127"/>
              </a:rPr>
              <a:t> ~]#</a:t>
            </a:r>
            <a:endParaRPr lang="en-US" altLang="ko-KR" sz="1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빗면 4"/>
          <p:cNvSpPr/>
          <p:nvPr/>
        </p:nvSpPr>
        <p:spPr>
          <a:xfrm>
            <a:off x="6213141" y="1232756"/>
            <a:ext cx="3197694" cy="800732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/>
              <a:t>HD2-Namenode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69005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7. 3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대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머신에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개별 네트워크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459648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dirty="0" smtClean="0">
                <a:solidFill>
                  <a:prstClr val="black"/>
                </a:solidFill>
              </a:rPr>
              <a:t>개별 네트워크 설정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54319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클러스터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 hd3-secondnode ] 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client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에서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</a:t>
            </a:r>
            <a:r>
              <a:rPr lang="ko-KR" altLang="en-US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머신으로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접속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[14]$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secondnode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호스트명을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변경하고 확인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15]$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'secondnode.hadoop.kr' &gt; 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/hostname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16]$ hostname secondnode.hadoop.kr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17]$ hostname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ko-KR" altLang="en-US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부팅시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고정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IP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사용하기 설정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18]$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ifconfig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enp0s8  192.168.56.41' &gt;&gt; 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rc.d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rc.local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C00000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19]$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chmod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+x  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rc.d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rc.local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20]$ w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21]$ exit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다시 들어가서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Prompt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가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root@secondnode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~]#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으로 변경된 것을 확인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22]$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secondnode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[23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]$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exit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</a:t>
            </a:r>
            <a:r>
              <a:rPr lang="ko-KR" altLang="en-US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머신에서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로그아웃하여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client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 돌아감</a:t>
            </a: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6846597" y="2077196"/>
            <a:ext cx="2556284" cy="1614384"/>
          </a:xfrm>
          <a:prstGeom prst="horizont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 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접속은</a:t>
            </a:r>
            <a:endParaRPr lang="en-US" altLang="ko-KR" sz="16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hd1-client 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로만</a:t>
            </a:r>
            <a:endParaRPr lang="ko-KR" altLang="en-US" sz="16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빗면 6"/>
          <p:cNvSpPr/>
          <p:nvPr/>
        </p:nvSpPr>
        <p:spPr>
          <a:xfrm>
            <a:off x="6874889" y="1297060"/>
            <a:ext cx="2535945" cy="736428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/>
              <a:t>HD3-Second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8762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7. 3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대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머신에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개별 네트워크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65544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# </a:t>
            </a:r>
            <a:r>
              <a:rPr lang="ko-KR" altLang="en-US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클러스터 </a:t>
            </a:r>
            <a:r>
              <a:rPr lang="en-US" altLang="ko-KR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3</a:t>
            </a:r>
            <a:r>
              <a:rPr lang="ko-KR" altLang="en-US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번 머신 </a:t>
            </a:r>
            <a:r>
              <a:rPr lang="en-US" altLang="ko-KR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[ hd3-secondnode ] </a:t>
            </a:r>
            <a:endParaRPr lang="en-US" altLang="ko-KR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673256" y="1414392"/>
            <a:ext cx="8425507" cy="5230346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root@client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~]# 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secondnode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Warning: Permanently added 'secondnode,192.168.56.41' (ECDSA) to the list of known hosts.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root@secondnode's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password: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Last login: Thu Jun  1 16:47:23 2017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root@client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~]# 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echo 'secondnode.hadoop.kr' &gt; /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/hostname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root@client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~]# 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hostname secondnode.hadoop.kr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root@client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~]# 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hostname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secondnode.hadoop.kr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root@client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~]# </a:t>
            </a:r>
            <a:r>
              <a:rPr lang="en-US" altLang="ko-KR" sz="11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echo '</a:t>
            </a:r>
            <a:r>
              <a:rPr lang="en-US" altLang="ko-KR" sz="1100" b="1" dirty="0" err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ifconfig</a:t>
            </a:r>
            <a:r>
              <a:rPr lang="en-US" altLang="ko-KR" sz="11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 enp0s8  192.168.56.41' &gt;&gt; /</a:t>
            </a:r>
            <a:r>
              <a:rPr lang="en-US" altLang="ko-KR" sz="1100" b="1" dirty="0" err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1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100" b="1" dirty="0" err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rc.d</a:t>
            </a:r>
            <a:r>
              <a:rPr lang="en-US" altLang="ko-KR" sz="11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100" b="1" dirty="0" err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rc.local</a:t>
            </a:r>
            <a:endParaRPr lang="en-US" altLang="ko-KR" sz="1100" b="1" dirty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root@client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~]# 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chmod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  +x  /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etc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rc.d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rc.local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root@client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~]# 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w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17:10:32 up 23 min,  2 users,  load average: 0.00, 0.01, 0.05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USER     TTY      FROM             LOGIN@   IDLE   JCPU   PCPU WHAT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root     tty1                      16:47   22:56   0.04s  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0.04s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-bash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root     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pts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/0    client.hadoop.kr 17:08    0.00s  0.02s  0.01s w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root@client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~]# 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exit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logout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Connection to 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secondnode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closed.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root@client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~]# 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100" b="1" dirty="0" err="1">
                <a:latin typeface="맑은 고딕" pitchFamily="50" charset="-127"/>
                <a:ea typeface="맑은 고딕" pitchFamily="50" charset="-127"/>
              </a:rPr>
              <a:t>secondnode</a:t>
            </a:r>
            <a:endParaRPr lang="en-US" altLang="ko-KR" sz="11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root@secondnode's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password: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Last login: Thu Jun  1 17:08:50 2017 from client.hadoop.kr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b="1" dirty="0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 b="1" dirty="0" err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root@secondnode</a:t>
            </a:r>
            <a:r>
              <a:rPr lang="en-US" altLang="ko-KR" sz="11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 ~]# </a:t>
            </a:r>
            <a:r>
              <a:rPr lang="en-US" altLang="ko-KR" sz="1100" b="1" dirty="0">
                <a:latin typeface="맑은 고딕" pitchFamily="50" charset="-127"/>
                <a:ea typeface="맑은 고딕" pitchFamily="50" charset="-127"/>
              </a:rPr>
              <a:t>exit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logout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Connection to 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secondnode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closed.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 dirty="0" err="1">
                <a:latin typeface="맑은 고딕" pitchFamily="50" charset="-127"/>
                <a:ea typeface="맑은 고딕" pitchFamily="50" charset="-127"/>
              </a:rPr>
              <a:t>root@client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dirty="0" smtClean="0">
                <a:latin typeface="맑은 고딕" pitchFamily="50" charset="-127"/>
                <a:ea typeface="맑은 고딕" pitchFamily="50" charset="-127"/>
              </a:rPr>
              <a:t>~]#</a:t>
            </a:r>
          </a:p>
        </p:txBody>
      </p:sp>
      <p:sp>
        <p:nvSpPr>
          <p:cNvPr id="5" name="빗면 4"/>
          <p:cNvSpPr/>
          <p:nvPr/>
        </p:nvSpPr>
        <p:spPr>
          <a:xfrm>
            <a:off x="6874889" y="1297060"/>
            <a:ext cx="2535945" cy="736428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/>
              <a:t>HD3-Second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17218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8.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비밀번호 없이 </a:t>
            </a:r>
            <a:r>
              <a:rPr kumimoji="0" lang="ko-KR" altLang="en-US" sz="3000" b="1" dirty="0" smtClean="0">
                <a:solidFill>
                  <a:prstClr val="white"/>
                </a:solidFill>
              </a:rPr>
              <a:t>다른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머신에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접속하기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430520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>
                <a:solidFill>
                  <a:prstClr val="black"/>
                </a:solidFill>
              </a:rPr>
              <a:t>SSH </a:t>
            </a:r>
            <a:r>
              <a:rPr lang="ko-KR" altLang="en-US" b="1">
                <a:solidFill>
                  <a:prstClr val="black"/>
                </a:solidFill>
              </a:rPr>
              <a:t>설정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123078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=---&gt;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이제부터는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계정으로 하는 작업입니다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su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- 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whoami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3]$ hostname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60065" y="2624767"/>
            <a:ext cx="8425507" cy="1964836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root@client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~]# 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su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- 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hadoop</a:t>
            </a:r>
            <a:endParaRPr lang="en-US" altLang="ko-KR" sz="12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마지막 로그인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목 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6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월 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1 16:18:07 KST 2017 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일시 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pts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/0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200" b="1" dirty="0" err="1">
                <a:latin typeface="맑은 고딕" pitchFamily="50" charset="-127"/>
                <a:ea typeface="맑은 고딕" pitchFamily="50" charset="-127"/>
              </a:rPr>
              <a:t>whoami</a:t>
            </a:r>
            <a:endParaRPr lang="en-US" altLang="ko-KR" sz="1200" b="1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hadoop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~]$ 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hostname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client.hadoop.kr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dirty="0" err="1">
                <a:latin typeface="맑은 고딕" pitchFamily="50" charset="-127"/>
                <a:ea typeface="맑은 고딕" pitchFamily="50" charset="-127"/>
              </a:rPr>
              <a:t>hadoop@client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~]$</a:t>
            </a:r>
            <a:endParaRPr lang="en-US" altLang="ko-KR" sz="3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995978" y="4473116"/>
            <a:ext cx="8133735" cy="2258495"/>
          </a:xfrm>
          <a:prstGeom prst="horizont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atinLnBrk="0">
              <a:spcBef>
                <a:spcPct val="30000"/>
              </a:spcBef>
            </a:pPr>
            <a:r>
              <a:rPr lang="ko-KR" altLang="en-US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* </a:t>
            </a:r>
            <a:r>
              <a:rPr lang="ko-KR" altLang="en-US" sz="16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개인키와</a:t>
            </a:r>
            <a:r>
              <a:rPr lang="ko-KR" altLang="en-US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공개키를</a:t>
            </a:r>
            <a:r>
              <a:rPr lang="ko-KR" altLang="en-US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만들고 접속대상 </a:t>
            </a:r>
            <a:r>
              <a:rPr lang="ko-KR" altLang="en-US" sz="16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머신의</a:t>
            </a:r>
            <a:r>
              <a:rPr lang="ko-KR" altLang="en-US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키박스에</a:t>
            </a:r>
            <a:r>
              <a:rPr lang="ko-KR" altLang="en-US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공개키를</a:t>
            </a:r>
            <a:r>
              <a:rPr lang="ko-KR" altLang="en-US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등록</a:t>
            </a:r>
          </a:p>
          <a:p>
            <a:pPr latinLnBrk="0">
              <a:spcBef>
                <a:spcPct val="30000"/>
              </a:spcBef>
            </a:pP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</a:t>
            </a:r>
            <a:r>
              <a:rPr lang="ko-KR" altLang="en-US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개인키</a:t>
            </a:r>
            <a:r>
              <a:rPr lang="en-US" altLang="ko-KR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열쇠</a:t>
            </a:r>
            <a:r>
              <a:rPr lang="en-US" altLang="ko-KR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) - </a:t>
            </a:r>
            <a:r>
              <a:rPr lang="ko-KR" altLang="en-US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공개키</a:t>
            </a:r>
            <a:r>
              <a:rPr lang="en-US" altLang="ko-KR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자물쇠</a:t>
            </a:r>
            <a:r>
              <a:rPr lang="en-US" altLang="ko-KR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) : </a:t>
            </a:r>
            <a:r>
              <a:rPr lang="en-US" altLang="ko-KR" sz="16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id_dsa</a:t>
            </a:r>
            <a:r>
              <a:rPr lang="en-US" altLang="ko-KR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- id_dsa.pub</a:t>
            </a:r>
          </a:p>
          <a:p>
            <a:pPr latinLnBrk="0">
              <a:spcBef>
                <a:spcPct val="30000"/>
              </a:spcBef>
            </a:pP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</a:t>
            </a:r>
            <a:r>
              <a:rPr lang="ko-KR" altLang="en-US" sz="16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키박스에</a:t>
            </a:r>
            <a:r>
              <a:rPr lang="ko-KR" altLang="en-US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다수의 </a:t>
            </a:r>
            <a:r>
              <a:rPr lang="ko-KR" altLang="en-US" sz="16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공개키를</a:t>
            </a:r>
            <a:r>
              <a:rPr lang="ko-KR" altLang="en-US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등록할 수 있음 </a:t>
            </a:r>
            <a:r>
              <a:rPr lang="en-US" altLang="ko-KR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16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authorized_keys</a:t>
            </a:r>
            <a:endParaRPr lang="ko-KR" altLang="en-US" sz="16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빗면 6"/>
          <p:cNvSpPr/>
          <p:nvPr/>
        </p:nvSpPr>
        <p:spPr>
          <a:xfrm>
            <a:off x="6874889" y="1297060"/>
            <a:ext cx="2535945" cy="73642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HD1-Client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27686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8.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비밀번호 없이 다른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머신에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접속하기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5473293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 smtClean="0">
                <a:solidFill>
                  <a:prstClr val="black"/>
                </a:solidFill>
              </a:rPr>
              <a:t>1</a:t>
            </a:r>
            <a:r>
              <a:rPr lang="ko-KR" altLang="en-US" b="1" dirty="0" smtClean="0">
                <a:solidFill>
                  <a:prstClr val="black"/>
                </a:solidFill>
              </a:rPr>
              <a:t>단계 </a:t>
            </a:r>
            <a:r>
              <a:rPr lang="en-US" altLang="ko-KR" b="1" dirty="0" smtClean="0">
                <a:solidFill>
                  <a:prstClr val="black"/>
                </a:solidFill>
              </a:rPr>
              <a:t>: </a:t>
            </a:r>
            <a:r>
              <a:rPr lang="ko-KR" altLang="en-US" b="1" dirty="0" smtClean="0">
                <a:solidFill>
                  <a:prstClr val="black"/>
                </a:solidFill>
              </a:rPr>
              <a:t>각 </a:t>
            </a:r>
            <a:r>
              <a:rPr lang="ko-KR" altLang="en-US" b="1" dirty="0" err="1" smtClean="0">
                <a:solidFill>
                  <a:prstClr val="black"/>
                </a:solidFill>
              </a:rPr>
              <a:t>머신에</a:t>
            </a:r>
            <a:r>
              <a:rPr lang="ko-KR" altLang="en-US" b="1" dirty="0" smtClean="0">
                <a:solidFill>
                  <a:prstClr val="black"/>
                </a:solidFill>
              </a:rPr>
              <a:t> </a:t>
            </a:r>
            <a:r>
              <a:rPr lang="en-US" altLang="ko-KR" b="1" dirty="0" smtClean="0">
                <a:solidFill>
                  <a:prstClr val="black"/>
                </a:solidFill>
              </a:rPr>
              <a:t>[</a:t>
            </a:r>
            <a:r>
              <a:rPr lang="ko-KR" altLang="en-US" b="1" dirty="0" smtClean="0">
                <a:solidFill>
                  <a:prstClr val="black"/>
                </a:solidFill>
              </a:rPr>
              <a:t>개인키</a:t>
            </a:r>
            <a:r>
              <a:rPr lang="en-US" altLang="ko-KR" b="1" dirty="0" smtClean="0">
                <a:solidFill>
                  <a:prstClr val="black"/>
                </a:solidFill>
              </a:rPr>
              <a:t>] [</a:t>
            </a:r>
            <a:r>
              <a:rPr lang="ko-KR" altLang="en-US" b="1" dirty="0" smtClean="0">
                <a:solidFill>
                  <a:prstClr val="black"/>
                </a:solidFill>
              </a:rPr>
              <a:t>공개키</a:t>
            </a:r>
            <a:r>
              <a:rPr lang="en-US" altLang="ko-KR" b="1" dirty="0" smtClean="0">
                <a:solidFill>
                  <a:prstClr val="black"/>
                </a:solidFill>
              </a:rPr>
              <a:t>] </a:t>
            </a:r>
            <a:r>
              <a:rPr lang="ko-KR" altLang="en-US" b="1" dirty="0" smtClean="0">
                <a:solidFill>
                  <a:prstClr val="black"/>
                </a:solidFill>
              </a:rPr>
              <a:t>쌍 생성하기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739515" y="1502786"/>
            <a:ext cx="4066608" cy="2340260"/>
            <a:chOff x="346332" y="1448780"/>
            <a:chExt cx="4066608" cy="2340260"/>
          </a:xfrm>
        </p:grpSpPr>
        <p:sp>
          <p:nvSpPr>
            <p:cNvPr id="6" name="빗면 5"/>
            <p:cNvSpPr/>
            <p:nvPr/>
          </p:nvSpPr>
          <p:spPr>
            <a:xfrm>
              <a:off x="346332" y="1448780"/>
              <a:ext cx="4066608" cy="2340260"/>
            </a:xfrm>
            <a:prstGeom prst="bevel">
              <a:avLst>
                <a:gd name="adj" fmla="val 350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순서도: 문서 1"/>
            <p:cNvSpPr/>
            <p:nvPr/>
          </p:nvSpPr>
          <p:spPr>
            <a:xfrm>
              <a:off x="524507" y="1628800"/>
              <a:ext cx="1565142" cy="648072"/>
            </a:xfrm>
            <a:prstGeom prst="flowChartDocumen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[ </a:t>
              </a:r>
              <a:r>
                <a:rPr lang="ko-KR" altLang="en-US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개인키 </a:t>
              </a:r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algn="ctr"/>
              <a:r>
                <a:rPr lang="en-US" altLang="ko-KR" sz="1400" dirty="0" err="1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id_dsa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" name="순서도: 문서 8"/>
            <p:cNvSpPr/>
            <p:nvPr/>
          </p:nvSpPr>
          <p:spPr>
            <a:xfrm>
              <a:off x="524508" y="2672916"/>
              <a:ext cx="1656184" cy="684076"/>
            </a:xfrm>
            <a:prstGeom prst="flowChartDocumen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[ </a:t>
              </a:r>
              <a:r>
                <a:rPr lang="ko-KR" altLang="en-US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공개키 </a:t>
              </a:r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client.pub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위쪽/아래쪽 화살표 6"/>
            <p:cNvSpPr/>
            <p:nvPr/>
          </p:nvSpPr>
          <p:spPr>
            <a:xfrm>
              <a:off x="995978" y="2150858"/>
              <a:ext cx="608650" cy="522058"/>
            </a:xfrm>
            <a:prstGeom prst="upDownArrow">
              <a:avLst>
                <a:gd name="adj1" fmla="val 30489"/>
                <a:gd name="adj2" fmla="val 29528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순서도: 다중 문서 15"/>
            <p:cNvSpPr/>
            <p:nvPr/>
          </p:nvSpPr>
          <p:spPr>
            <a:xfrm>
              <a:off x="2369049" y="1628800"/>
              <a:ext cx="1885744" cy="1908212"/>
            </a:xfrm>
            <a:prstGeom prst="flowChartMultidocumen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1400" dirty="0" smtClean="0">
                  <a:latin typeface="맑은 고딕" pitchFamily="50" charset="-127"/>
                  <a:ea typeface="맑은 고딕" pitchFamily="50" charset="-127"/>
                </a:rPr>
                <a:t>[ </a:t>
              </a:r>
              <a:r>
                <a:rPr lang="ko-KR" altLang="en-US" sz="1400" dirty="0" err="1" smtClean="0">
                  <a:latin typeface="맑은 고딕" pitchFamily="50" charset="-127"/>
                  <a:ea typeface="맑은 고딕" pitchFamily="50" charset="-127"/>
                </a:rPr>
                <a:t>키박스</a:t>
              </a:r>
              <a:r>
                <a:rPr lang="ko-KR" altLang="en-US" sz="1400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400" dirty="0" smtClean="0">
                  <a:latin typeface="맑은 고딕" pitchFamily="50" charset="-127"/>
                  <a:ea typeface="맑은 고딕" pitchFamily="50" charset="-127"/>
                </a:rPr>
                <a:t>]</a:t>
              </a:r>
              <a:endParaRPr lang="ko-KR" altLang="en-US" sz="14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514683" y="4257092"/>
            <a:ext cx="4066608" cy="2340260"/>
            <a:chOff x="346332" y="1448780"/>
            <a:chExt cx="4066608" cy="2340260"/>
          </a:xfrm>
        </p:grpSpPr>
        <p:sp>
          <p:nvSpPr>
            <p:cNvPr id="19" name="빗면 18"/>
            <p:cNvSpPr/>
            <p:nvPr/>
          </p:nvSpPr>
          <p:spPr>
            <a:xfrm>
              <a:off x="346332" y="1448780"/>
              <a:ext cx="4066608" cy="2340260"/>
            </a:xfrm>
            <a:prstGeom prst="bevel">
              <a:avLst>
                <a:gd name="adj" fmla="val 350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순서도: 문서 19"/>
            <p:cNvSpPr/>
            <p:nvPr/>
          </p:nvSpPr>
          <p:spPr>
            <a:xfrm>
              <a:off x="524507" y="1628800"/>
              <a:ext cx="1565142" cy="648072"/>
            </a:xfrm>
            <a:prstGeom prst="flowChartDocumen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[ </a:t>
              </a:r>
              <a:r>
                <a:rPr lang="ko-KR" altLang="en-US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개인키 </a:t>
              </a:r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algn="ctr"/>
              <a:r>
                <a:rPr lang="en-US" altLang="ko-KR" sz="1400" dirty="0" err="1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id_dsa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" name="순서도: 문서 20"/>
            <p:cNvSpPr/>
            <p:nvPr/>
          </p:nvSpPr>
          <p:spPr>
            <a:xfrm>
              <a:off x="524508" y="2672916"/>
              <a:ext cx="1656184" cy="684076"/>
            </a:xfrm>
            <a:prstGeom prst="flowChartDocumen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[ </a:t>
              </a:r>
              <a:r>
                <a:rPr lang="ko-KR" altLang="en-US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공개키 </a:t>
              </a:r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namenode.pub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" name="위쪽/아래쪽 화살표 21"/>
            <p:cNvSpPr/>
            <p:nvPr/>
          </p:nvSpPr>
          <p:spPr>
            <a:xfrm>
              <a:off x="995978" y="2150858"/>
              <a:ext cx="608650" cy="522058"/>
            </a:xfrm>
            <a:prstGeom prst="upDownArrow">
              <a:avLst>
                <a:gd name="adj1" fmla="val 30489"/>
                <a:gd name="adj2" fmla="val 29528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순서도: 다중 문서 22"/>
            <p:cNvSpPr/>
            <p:nvPr/>
          </p:nvSpPr>
          <p:spPr>
            <a:xfrm>
              <a:off x="2369049" y="1628800"/>
              <a:ext cx="1885744" cy="1908212"/>
            </a:xfrm>
            <a:prstGeom prst="flowChartMultidocumen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1400" dirty="0" smtClean="0">
                  <a:latin typeface="맑은 고딕" pitchFamily="50" charset="-127"/>
                  <a:ea typeface="맑은 고딕" pitchFamily="50" charset="-127"/>
                </a:rPr>
                <a:t>[ </a:t>
              </a:r>
              <a:r>
                <a:rPr lang="ko-KR" altLang="en-US" sz="1400" dirty="0" err="1" smtClean="0">
                  <a:latin typeface="맑은 고딕" pitchFamily="50" charset="-127"/>
                  <a:ea typeface="맑은 고딕" pitchFamily="50" charset="-127"/>
                </a:rPr>
                <a:t>키박스</a:t>
              </a:r>
              <a:r>
                <a:rPr lang="ko-KR" altLang="en-US" sz="1400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400" dirty="0" smtClean="0">
                  <a:latin typeface="맑은 고딕" pitchFamily="50" charset="-127"/>
                  <a:ea typeface="맑은 고딕" pitchFamily="50" charset="-127"/>
                </a:rPr>
                <a:t>]</a:t>
              </a:r>
              <a:endParaRPr lang="ko-KR" altLang="en-US" sz="14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5205028" y="4257092"/>
            <a:ext cx="4066608" cy="2340260"/>
            <a:chOff x="346332" y="1448780"/>
            <a:chExt cx="4066608" cy="2340260"/>
          </a:xfrm>
        </p:grpSpPr>
        <p:sp>
          <p:nvSpPr>
            <p:cNvPr id="25" name="빗면 24"/>
            <p:cNvSpPr/>
            <p:nvPr/>
          </p:nvSpPr>
          <p:spPr>
            <a:xfrm>
              <a:off x="346332" y="1448780"/>
              <a:ext cx="4066608" cy="2340260"/>
            </a:xfrm>
            <a:prstGeom prst="bevel">
              <a:avLst>
                <a:gd name="adj" fmla="val 350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순서도: 문서 25"/>
            <p:cNvSpPr/>
            <p:nvPr/>
          </p:nvSpPr>
          <p:spPr>
            <a:xfrm>
              <a:off x="524507" y="1628800"/>
              <a:ext cx="1565142" cy="648072"/>
            </a:xfrm>
            <a:prstGeom prst="flowChartDocumen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[ </a:t>
              </a:r>
              <a:r>
                <a:rPr lang="ko-KR" altLang="en-US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개인키 </a:t>
              </a:r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algn="ctr"/>
              <a:r>
                <a:rPr lang="en-US" altLang="ko-KR" sz="1400" dirty="0" err="1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id_dsa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순서도: 문서 26"/>
            <p:cNvSpPr/>
            <p:nvPr/>
          </p:nvSpPr>
          <p:spPr>
            <a:xfrm>
              <a:off x="524508" y="2672916"/>
              <a:ext cx="1656184" cy="684076"/>
            </a:xfrm>
            <a:prstGeom prst="flowChartDocumen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[ </a:t>
              </a:r>
              <a:r>
                <a:rPr lang="ko-KR" altLang="en-US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공개키 </a:t>
              </a:r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secondnode.pub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8" name="위쪽/아래쪽 화살표 27"/>
            <p:cNvSpPr/>
            <p:nvPr/>
          </p:nvSpPr>
          <p:spPr>
            <a:xfrm>
              <a:off x="995978" y="2150858"/>
              <a:ext cx="608650" cy="522058"/>
            </a:xfrm>
            <a:prstGeom prst="upDownArrow">
              <a:avLst>
                <a:gd name="adj1" fmla="val 30489"/>
                <a:gd name="adj2" fmla="val 29528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순서도: 다중 문서 28"/>
            <p:cNvSpPr/>
            <p:nvPr/>
          </p:nvSpPr>
          <p:spPr>
            <a:xfrm>
              <a:off x="2369049" y="1628800"/>
              <a:ext cx="1885744" cy="1908212"/>
            </a:xfrm>
            <a:prstGeom prst="flowChartMultidocumen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1400" dirty="0" smtClean="0">
                  <a:latin typeface="맑은 고딕" pitchFamily="50" charset="-127"/>
                  <a:ea typeface="맑은 고딕" pitchFamily="50" charset="-127"/>
                </a:rPr>
                <a:t>[ </a:t>
              </a:r>
              <a:r>
                <a:rPr lang="ko-KR" altLang="en-US" sz="1400" dirty="0" err="1" smtClean="0">
                  <a:latin typeface="맑은 고딕" pitchFamily="50" charset="-127"/>
                  <a:ea typeface="맑은 고딕" pitchFamily="50" charset="-127"/>
                </a:rPr>
                <a:t>키박스</a:t>
              </a:r>
              <a:r>
                <a:rPr lang="ko-KR" altLang="en-US" sz="1400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400" dirty="0" smtClean="0">
                  <a:latin typeface="맑은 고딕" pitchFamily="50" charset="-127"/>
                  <a:ea typeface="맑은 고딕" pitchFamily="50" charset="-127"/>
                </a:rPr>
                <a:t>]</a:t>
              </a:r>
              <a:endParaRPr lang="ko-KR" altLang="en-US" sz="14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7813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8.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비밀번호 없이 다른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머신에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접속하기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6627455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 smtClean="0">
                <a:solidFill>
                  <a:prstClr val="black"/>
                </a:solidFill>
              </a:rPr>
              <a:t>2</a:t>
            </a:r>
            <a:r>
              <a:rPr lang="ko-KR" altLang="en-US" b="1" dirty="0" smtClean="0">
                <a:solidFill>
                  <a:prstClr val="black"/>
                </a:solidFill>
              </a:rPr>
              <a:t>단계 </a:t>
            </a:r>
            <a:r>
              <a:rPr lang="en-US" altLang="ko-KR" b="1" dirty="0" smtClean="0">
                <a:solidFill>
                  <a:prstClr val="black"/>
                </a:solidFill>
              </a:rPr>
              <a:t>: [</a:t>
            </a:r>
            <a:r>
              <a:rPr lang="ko-KR" altLang="en-US" b="1" dirty="0" smtClean="0">
                <a:solidFill>
                  <a:prstClr val="black"/>
                </a:solidFill>
              </a:rPr>
              <a:t>공개키</a:t>
            </a:r>
            <a:r>
              <a:rPr lang="en-US" altLang="ko-KR" b="1" dirty="0" smtClean="0">
                <a:solidFill>
                  <a:prstClr val="black"/>
                </a:solidFill>
              </a:rPr>
              <a:t>]</a:t>
            </a:r>
            <a:r>
              <a:rPr lang="ko-KR" altLang="en-US" b="1" dirty="0" smtClean="0">
                <a:solidFill>
                  <a:prstClr val="black"/>
                </a:solidFill>
              </a:rPr>
              <a:t>를 접속을 원하는 </a:t>
            </a:r>
            <a:r>
              <a:rPr lang="ko-KR" altLang="en-US" b="1" dirty="0" err="1" smtClean="0">
                <a:solidFill>
                  <a:prstClr val="black"/>
                </a:solidFill>
              </a:rPr>
              <a:t>머신의</a:t>
            </a:r>
            <a:r>
              <a:rPr lang="ko-KR" altLang="en-US" b="1" dirty="0" smtClean="0">
                <a:solidFill>
                  <a:prstClr val="black"/>
                </a:solidFill>
              </a:rPr>
              <a:t> </a:t>
            </a:r>
            <a:r>
              <a:rPr lang="en-US" altLang="ko-KR" b="1" dirty="0" smtClean="0">
                <a:solidFill>
                  <a:prstClr val="black"/>
                </a:solidFill>
              </a:rPr>
              <a:t>[</a:t>
            </a:r>
            <a:r>
              <a:rPr lang="ko-KR" altLang="en-US" b="1" dirty="0" err="1" smtClean="0">
                <a:solidFill>
                  <a:prstClr val="black"/>
                </a:solidFill>
              </a:rPr>
              <a:t>키박스</a:t>
            </a:r>
            <a:r>
              <a:rPr lang="en-US" altLang="ko-KR" b="1" dirty="0" smtClean="0">
                <a:solidFill>
                  <a:prstClr val="black"/>
                </a:solidFill>
              </a:rPr>
              <a:t>]</a:t>
            </a:r>
            <a:r>
              <a:rPr lang="ko-KR" altLang="en-US" b="1" dirty="0" smtClean="0">
                <a:solidFill>
                  <a:prstClr val="black"/>
                </a:solidFill>
              </a:rPr>
              <a:t>에 추가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739515" y="1502786"/>
            <a:ext cx="4066608" cy="2340260"/>
            <a:chOff x="346332" y="1448780"/>
            <a:chExt cx="4066608" cy="2340260"/>
          </a:xfrm>
        </p:grpSpPr>
        <p:sp>
          <p:nvSpPr>
            <p:cNvPr id="6" name="빗면 5"/>
            <p:cNvSpPr/>
            <p:nvPr/>
          </p:nvSpPr>
          <p:spPr>
            <a:xfrm>
              <a:off x="346332" y="1448780"/>
              <a:ext cx="4066608" cy="2340260"/>
            </a:xfrm>
            <a:prstGeom prst="bevel">
              <a:avLst>
                <a:gd name="adj" fmla="val 350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순서도: 문서 1"/>
            <p:cNvSpPr/>
            <p:nvPr/>
          </p:nvSpPr>
          <p:spPr>
            <a:xfrm>
              <a:off x="524507" y="1628800"/>
              <a:ext cx="1565142" cy="648072"/>
            </a:xfrm>
            <a:prstGeom prst="flowChartDocumen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[ </a:t>
              </a:r>
              <a:r>
                <a:rPr lang="ko-KR" altLang="en-US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개인키 </a:t>
              </a:r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algn="ctr"/>
              <a:r>
                <a:rPr lang="en-US" altLang="ko-KR" sz="1400" dirty="0" err="1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id_dsa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" name="순서도: 문서 8"/>
            <p:cNvSpPr/>
            <p:nvPr/>
          </p:nvSpPr>
          <p:spPr>
            <a:xfrm>
              <a:off x="524508" y="2672916"/>
              <a:ext cx="1656184" cy="684076"/>
            </a:xfrm>
            <a:prstGeom prst="flowChartDocumen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[ </a:t>
              </a:r>
              <a:r>
                <a:rPr lang="ko-KR" altLang="en-US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공개키 </a:t>
              </a:r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client.pub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위쪽/아래쪽 화살표 6"/>
            <p:cNvSpPr/>
            <p:nvPr/>
          </p:nvSpPr>
          <p:spPr>
            <a:xfrm>
              <a:off x="995978" y="2150858"/>
              <a:ext cx="608650" cy="522058"/>
            </a:xfrm>
            <a:prstGeom prst="upDownArrow">
              <a:avLst>
                <a:gd name="adj1" fmla="val 30489"/>
                <a:gd name="adj2" fmla="val 29528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순서도: 다중 문서 15"/>
            <p:cNvSpPr/>
            <p:nvPr/>
          </p:nvSpPr>
          <p:spPr>
            <a:xfrm>
              <a:off x="2369049" y="1628800"/>
              <a:ext cx="1885744" cy="1908212"/>
            </a:xfrm>
            <a:prstGeom prst="flowChartMultidocumen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1400" dirty="0" smtClean="0">
                  <a:latin typeface="맑은 고딕" pitchFamily="50" charset="-127"/>
                  <a:ea typeface="맑은 고딕" pitchFamily="50" charset="-127"/>
                </a:rPr>
                <a:t>[ </a:t>
              </a:r>
              <a:r>
                <a:rPr lang="ko-KR" altLang="en-US" sz="1400" dirty="0" err="1" smtClean="0">
                  <a:latin typeface="맑은 고딕" pitchFamily="50" charset="-127"/>
                  <a:ea typeface="맑은 고딕" pitchFamily="50" charset="-127"/>
                </a:rPr>
                <a:t>키박스</a:t>
              </a:r>
              <a:r>
                <a:rPr lang="ko-KR" altLang="en-US" sz="1400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400" dirty="0" smtClean="0">
                  <a:latin typeface="맑은 고딕" pitchFamily="50" charset="-127"/>
                  <a:ea typeface="맑은 고딕" pitchFamily="50" charset="-127"/>
                </a:rPr>
                <a:t>]</a:t>
              </a:r>
              <a:endParaRPr lang="ko-KR" altLang="en-US" sz="14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514683" y="4257092"/>
            <a:ext cx="4066608" cy="2340260"/>
            <a:chOff x="346332" y="1448780"/>
            <a:chExt cx="4066608" cy="2340260"/>
          </a:xfrm>
        </p:grpSpPr>
        <p:sp>
          <p:nvSpPr>
            <p:cNvPr id="19" name="빗면 18"/>
            <p:cNvSpPr/>
            <p:nvPr/>
          </p:nvSpPr>
          <p:spPr>
            <a:xfrm>
              <a:off x="346332" y="1448780"/>
              <a:ext cx="4066608" cy="2340260"/>
            </a:xfrm>
            <a:prstGeom prst="bevel">
              <a:avLst>
                <a:gd name="adj" fmla="val 350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순서도: 문서 19"/>
            <p:cNvSpPr/>
            <p:nvPr/>
          </p:nvSpPr>
          <p:spPr>
            <a:xfrm>
              <a:off x="524507" y="1628800"/>
              <a:ext cx="1565142" cy="648072"/>
            </a:xfrm>
            <a:prstGeom prst="flowChartDocumen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[ </a:t>
              </a:r>
              <a:r>
                <a:rPr lang="ko-KR" altLang="en-US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개인키 </a:t>
              </a:r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algn="ctr"/>
              <a:r>
                <a:rPr lang="en-US" altLang="ko-KR" sz="1400" dirty="0" err="1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id_dsa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" name="순서도: 문서 20"/>
            <p:cNvSpPr/>
            <p:nvPr/>
          </p:nvSpPr>
          <p:spPr>
            <a:xfrm>
              <a:off x="524508" y="2672916"/>
              <a:ext cx="1656184" cy="684076"/>
            </a:xfrm>
            <a:prstGeom prst="flowChartDocumen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[ </a:t>
              </a:r>
              <a:r>
                <a:rPr lang="ko-KR" altLang="en-US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공개키 </a:t>
              </a:r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namenode.pub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" name="위쪽/아래쪽 화살표 21"/>
            <p:cNvSpPr/>
            <p:nvPr/>
          </p:nvSpPr>
          <p:spPr>
            <a:xfrm>
              <a:off x="995978" y="2150858"/>
              <a:ext cx="608650" cy="522058"/>
            </a:xfrm>
            <a:prstGeom prst="upDownArrow">
              <a:avLst>
                <a:gd name="adj1" fmla="val 30489"/>
                <a:gd name="adj2" fmla="val 29528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순서도: 다중 문서 22"/>
            <p:cNvSpPr/>
            <p:nvPr/>
          </p:nvSpPr>
          <p:spPr>
            <a:xfrm>
              <a:off x="2369049" y="1628800"/>
              <a:ext cx="1885744" cy="1908212"/>
            </a:xfrm>
            <a:prstGeom prst="flowChartMultidocumen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1400" dirty="0" smtClean="0">
                  <a:latin typeface="맑은 고딕" pitchFamily="50" charset="-127"/>
                  <a:ea typeface="맑은 고딕" pitchFamily="50" charset="-127"/>
                </a:rPr>
                <a:t>[ </a:t>
              </a:r>
              <a:r>
                <a:rPr lang="ko-KR" altLang="en-US" sz="1400" dirty="0" err="1" smtClean="0">
                  <a:latin typeface="맑은 고딕" pitchFamily="50" charset="-127"/>
                  <a:ea typeface="맑은 고딕" pitchFamily="50" charset="-127"/>
                </a:rPr>
                <a:t>키박스</a:t>
              </a:r>
              <a:r>
                <a:rPr lang="ko-KR" altLang="en-US" sz="1400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400" dirty="0" smtClean="0">
                  <a:latin typeface="맑은 고딕" pitchFamily="50" charset="-127"/>
                  <a:ea typeface="맑은 고딕" pitchFamily="50" charset="-127"/>
                </a:rPr>
                <a:t>]</a:t>
              </a:r>
              <a:endParaRPr lang="ko-KR" altLang="en-US" sz="14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5205028" y="4257092"/>
            <a:ext cx="4066608" cy="2340260"/>
            <a:chOff x="346332" y="1448780"/>
            <a:chExt cx="4066608" cy="2340260"/>
          </a:xfrm>
        </p:grpSpPr>
        <p:sp>
          <p:nvSpPr>
            <p:cNvPr id="25" name="빗면 24"/>
            <p:cNvSpPr/>
            <p:nvPr/>
          </p:nvSpPr>
          <p:spPr>
            <a:xfrm>
              <a:off x="346332" y="1448780"/>
              <a:ext cx="4066608" cy="2340260"/>
            </a:xfrm>
            <a:prstGeom prst="bevel">
              <a:avLst>
                <a:gd name="adj" fmla="val 350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순서도: 문서 25"/>
            <p:cNvSpPr/>
            <p:nvPr/>
          </p:nvSpPr>
          <p:spPr>
            <a:xfrm>
              <a:off x="524507" y="1628800"/>
              <a:ext cx="1565142" cy="648072"/>
            </a:xfrm>
            <a:prstGeom prst="flowChartDocumen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[ </a:t>
              </a:r>
              <a:r>
                <a:rPr lang="ko-KR" altLang="en-US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개인키 </a:t>
              </a:r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algn="ctr"/>
              <a:r>
                <a:rPr lang="en-US" altLang="ko-KR" sz="1400" dirty="0" err="1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id_dsa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순서도: 문서 26"/>
            <p:cNvSpPr/>
            <p:nvPr/>
          </p:nvSpPr>
          <p:spPr>
            <a:xfrm>
              <a:off x="524508" y="2672916"/>
              <a:ext cx="1656184" cy="684076"/>
            </a:xfrm>
            <a:prstGeom prst="flowChartDocumen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[ </a:t>
              </a:r>
              <a:r>
                <a:rPr lang="ko-KR" altLang="en-US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공개키 </a:t>
              </a:r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secondnode.pub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8" name="위쪽/아래쪽 화살표 27"/>
            <p:cNvSpPr/>
            <p:nvPr/>
          </p:nvSpPr>
          <p:spPr>
            <a:xfrm>
              <a:off x="995978" y="2150858"/>
              <a:ext cx="608650" cy="522058"/>
            </a:xfrm>
            <a:prstGeom prst="upDownArrow">
              <a:avLst>
                <a:gd name="adj1" fmla="val 30489"/>
                <a:gd name="adj2" fmla="val 29528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순서도: 다중 문서 28"/>
            <p:cNvSpPr/>
            <p:nvPr/>
          </p:nvSpPr>
          <p:spPr>
            <a:xfrm>
              <a:off x="2369049" y="1628800"/>
              <a:ext cx="1885744" cy="1908212"/>
            </a:xfrm>
            <a:prstGeom prst="flowChartMultidocumen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1400" dirty="0" smtClean="0">
                  <a:latin typeface="맑은 고딕" pitchFamily="50" charset="-127"/>
                  <a:ea typeface="맑은 고딕" pitchFamily="50" charset="-127"/>
                </a:rPr>
                <a:t>[ </a:t>
              </a:r>
              <a:r>
                <a:rPr lang="ko-KR" altLang="en-US" sz="1400" dirty="0" err="1" smtClean="0">
                  <a:latin typeface="맑은 고딕" pitchFamily="50" charset="-127"/>
                  <a:ea typeface="맑은 고딕" pitchFamily="50" charset="-127"/>
                </a:rPr>
                <a:t>키박스</a:t>
              </a:r>
              <a:r>
                <a:rPr lang="ko-KR" altLang="en-US" sz="1400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400" dirty="0" smtClean="0">
                  <a:latin typeface="맑은 고딕" pitchFamily="50" charset="-127"/>
                  <a:ea typeface="맑은 고딕" pitchFamily="50" charset="-127"/>
                </a:rPr>
                <a:t>]</a:t>
              </a:r>
              <a:endParaRPr lang="ko-KR" altLang="en-US" sz="14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30" name="순서도: 문서 29"/>
          <p:cNvSpPr/>
          <p:nvPr/>
        </p:nvSpPr>
        <p:spPr>
          <a:xfrm>
            <a:off x="4877012" y="2330878"/>
            <a:ext cx="1656184" cy="684076"/>
          </a:xfrm>
          <a:prstGeom prst="flowChart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공개키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client.pub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순서도: 문서 30"/>
          <p:cNvSpPr/>
          <p:nvPr/>
        </p:nvSpPr>
        <p:spPr>
          <a:xfrm>
            <a:off x="2813081" y="5114674"/>
            <a:ext cx="1656184" cy="684076"/>
          </a:xfrm>
          <a:prstGeom prst="flowChart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공개키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client.pub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순서도: 문서 31"/>
          <p:cNvSpPr/>
          <p:nvPr/>
        </p:nvSpPr>
        <p:spPr>
          <a:xfrm>
            <a:off x="7457305" y="5139190"/>
            <a:ext cx="1656184" cy="684076"/>
          </a:xfrm>
          <a:prstGeom prst="flowChart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공개키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client.pub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4921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8.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비밀번호 없이 다른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머신에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접속하기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6627455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 smtClean="0">
                <a:solidFill>
                  <a:prstClr val="black"/>
                </a:solidFill>
              </a:rPr>
              <a:t>2</a:t>
            </a:r>
            <a:r>
              <a:rPr lang="ko-KR" altLang="en-US" b="1" dirty="0" smtClean="0">
                <a:solidFill>
                  <a:prstClr val="black"/>
                </a:solidFill>
              </a:rPr>
              <a:t>단계 </a:t>
            </a:r>
            <a:r>
              <a:rPr lang="en-US" altLang="ko-KR" b="1" dirty="0" smtClean="0">
                <a:solidFill>
                  <a:prstClr val="black"/>
                </a:solidFill>
              </a:rPr>
              <a:t>: [</a:t>
            </a:r>
            <a:r>
              <a:rPr lang="ko-KR" altLang="en-US" b="1" dirty="0" smtClean="0">
                <a:solidFill>
                  <a:prstClr val="black"/>
                </a:solidFill>
              </a:rPr>
              <a:t>공개키</a:t>
            </a:r>
            <a:r>
              <a:rPr lang="en-US" altLang="ko-KR" b="1" dirty="0" smtClean="0">
                <a:solidFill>
                  <a:prstClr val="black"/>
                </a:solidFill>
              </a:rPr>
              <a:t>]</a:t>
            </a:r>
            <a:r>
              <a:rPr lang="ko-KR" altLang="en-US" b="1" dirty="0" smtClean="0">
                <a:solidFill>
                  <a:prstClr val="black"/>
                </a:solidFill>
              </a:rPr>
              <a:t>를 접속을 원하는 </a:t>
            </a:r>
            <a:r>
              <a:rPr lang="ko-KR" altLang="en-US" b="1" dirty="0" err="1" smtClean="0">
                <a:solidFill>
                  <a:prstClr val="black"/>
                </a:solidFill>
              </a:rPr>
              <a:t>머신의</a:t>
            </a:r>
            <a:r>
              <a:rPr lang="ko-KR" altLang="en-US" b="1" dirty="0" smtClean="0">
                <a:solidFill>
                  <a:prstClr val="black"/>
                </a:solidFill>
              </a:rPr>
              <a:t> </a:t>
            </a:r>
            <a:r>
              <a:rPr lang="en-US" altLang="ko-KR" b="1" dirty="0" smtClean="0">
                <a:solidFill>
                  <a:prstClr val="black"/>
                </a:solidFill>
              </a:rPr>
              <a:t>[</a:t>
            </a:r>
            <a:r>
              <a:rPr lang="ko-KR" altLang="en-US" b="1" dirty="0" err="1" smtClean="0">
                <a:solidFill>
                  <a:prstClr val="black"/>
                </a:solidFill>
              </a:rPr>
              <a:t>키박스</a:t>
            </a:r>
            <a:r>
              <a:rPr lang="en-US" altLang="ko-KR" b="1" dirty="0" smtClean="0">
                <a:solidFill>
                  <a:prstClr val="black"/>
                </a:solidFill>
              </a:rPr>
              <a:t>]</a:t>
            </a:r>
            <a:r>
              <a:rPr lang="ko-KR" altLang="en-US" b="1" dirty="0" smtClean="0">
                <a:solidFill>
                  <a:prstClr val="black"/>
                </a:solidFill>
              </a:rPr>
              <a:t>에 추가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739515" y="1502786"/>
            <a:ext cx="4066608" cy="2340260"/>
            <a:chOff x="346332" y="1448780"/>
            <a:chExt cx="4066608" cy="2340260"/>
          </a:xfrm>
        </p:grpSpPr>
        <p:sp>
          <p:nvSpPr>
            <p:cNvPr id="6" name="빗면 5"/>
            <p:cNvSpPr/>
            <p:nvPr/>
          </p:nvSpPr>
          <p:spPr>
            <a:xfrm>
              <a:off x="346332" y="1448780"/>
              <a:ext cx="4066608" cy="2340260"/>
            </a:xfrm>
            <a:prstGeom prst="bevel">
              <a:avLst>
                <a:gd name="adj" fmla="val 350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순서도: 문서 1"/>
            <p:cNvSpPr/>
            <p:nvPr/>
          </p:nvSpPr>
          <p:spPr>
            <a:xfrm>
              <a:off x="524507" y="1628800"/>
              <a:ext cx="1565142" cy="648072"/>
            </a:xfrm>
            <a:prstGeom prst="flowChartDocumen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[ </a:t>
              </a:r>
              <a:r>
                <a:rPr lang="ko-KR" altLang="en-US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개인키 </a:t>
              </a:r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algn="ctr"/>
              <a:r>
                <a:rPr lang="en-US" altLang="ko-KR" sz="1400" dirty="0" err="1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id_dsa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" name="순서도: 문서 8"/>
            <p:cNvSpPr/>
            <p:nvPr/>
          </p:nvSpPr>
          <p:spPr>
            <a:xfrm>
              <a:off x="524508" y="2672916"/>
              <a:ext cx="1656184" cy="684076"/>
            </a:xfrm>
            <a:prstGeom prst="flowChartDocumen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[ </a:t>
              </a:r>
              <a:r>
                <a:rPr lang="ko-KR" altLang="en-US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공개키 </a:t>
              </a:r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client.pub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위쪽/아래쪽 화살표 6"/>
            <p:cNvSpPr/>
            <p:nvPr/>
          </p:nvSpPr>
          <p:spPr>
            <a:xfrm>
              <a:off x="995978" y="2150858"/>
              <a:ext cx="608650" cy="522058"/>
            </a:xfrm>
            <a:prstGeom prst="upDownArrow">
              <a:avLst>
                <a:gd name="adj1" fmla="val 30489"/>
                <a:gd name="adj2" fmla="val 29528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순서도: 다중 문서 15"/>
            <p:cNvSpPr/>
            <p:nvPr/>
          </p:nvSpPr>
          <p:spPr>
            <a:xfrm>
              <a:off x="2369049" y="1628800"/>
              <a:ext cx="1885744" cy="1908212"/>
            </a:xfrm>
            <a:prstGeom prst="flowChartMultidocumen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1400" dirty="0" smtClean="0">
                  <a:latin typeface="맑은 고딕" pitchFamily="50" charset="-127"/>
                  <a:ea typeface="맑은 고딕" pitchFamily="50" charset="-127"/>
                </a:rPr>
                <a:t>[ </a:t>
              </a:r>
              <a:r>
                <a:rPr lang="ko-KR" altLang="en-US" sz="1400" dirty="0" err="1" smtClean="0">
                  <a:latin typeface="맑은 고딕" pitchFamily="50" charset="-127"/>
                  <a:ea typeface="맑은 고딕" pitchFamily="50" charset="-127"/>
                </a:rPr>
                <a:t>키박스</a:t>
              </a:r>
              <a:r>
                <a:rPr lang="ko-KR" altLang="en-US" sz="1400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400" dirty="0" smtClean="0">
                  <a:latin typeface="맑은 고딕" pitchFamily="50" charset="-127"/>
                  <a:ea typeface="맑은 고딕" pitchFamily="50" charset="-127"/>
                </a:rPr>
                <a:t>]</a:t>
              </a:r>
              <a:endParaRPr lang="ko-KR" altLang="en-US" sz="14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514683" y="4257092"/>
            <a:ext cx="4066608" cy="2340260"/>
            <a:chOff x="346332" y="1448780"/>
            <a:chExt cx="4066608" cy="2340260"/>
          </a:xfrm>
        </p:grpSpPr>
        <p:sp>
          <p:nvSpPr>
            <p:cNvPr id="19" name="빗면 18"/>
            <p:cNvSpPr/>
            <p:nvPr/>
          </p:nvSpPr>
          <p:spPr>
            <a:xfrm>
              <a:off x="346332" y="1448780"/>
              <a:ext cx="4066608" cy="2340260"/>
            </a:xfrm>
            <a:prstGeom prst="bevel">
              <a:avLst>
                <a:gd name="adj" fmla="val 350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순서도: 문서 19"/>
            <p:cNvSpPr/>
            <p:nvPr/>
          </p:nvSpPr>
          <p:spPr>
            <a:xfrm>
              <a:off x="524507" y="1628800"/>
              <a:ext cx="1565142" cy="648072"/>
            </a:xfrm>
            <a:prstGeom prst="flowChartDocumen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[ </a:t>
              </a:r>
              <a:r>
                <a:rPr lang="ko-KR" altLang="en-US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개인키 </a:t>
              </a:r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algn="ctr"/>
              <a:r>
                <a:rPr lang="en-US" altLang="ko-KR" sz="1400" dirty="0" err="1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id_dsa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" name="순서도: 문서 20"/>
            <p:cNvSpPr/>
            <p:nvPr/>
          </p:nvSpPr>
          <p:spPr>
            <a:xfrm>
              <a:off x="524508" y="2672916"/>
              <a:ext cx="1656184" cy="684076"/>
            </a:xfrm>
            <a:prstGeom prst="flowChartDocumen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[ </a:t>
              </a:r>
              <a:r>
                <a:rPr lang="ko-KR" altLang="en-US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공개키 </a:t>
              </a:r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namenode.pub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" name="위쪽/아래쪽 화살표 21"/>
            <p:cNvSpPr/>
            <p:nvPr/>
          </p:nvSpPr>
          <p:spPr>
            <a:xfrm>
              <a:off x="995978" y="2150858"/>
              <a:ext cx="608650" cy="522058"/>
            </a:xfrm>
            <a:prstGeom prst="upDownArrow">
              <a:avLst>
                <a:gd name="adj1" fmla="val 30489"/>
                <a:gd name="adj2" fmla="val 29528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순서도: 다중 문서 22"/>
            <p:cNvSpPr/>
            <p:nvPr/>
          </p:nvSpPr>
          <p:spPr>
            <a:xfrm>
              <a:off x="2369049" y="1628800"/>
              <a:ext cx="1885744" cy="1908212"/>
            </a:xfrm>
            <a:prstGeom prst="flowChartMultidocumen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1400" dirty="0" smtClean="0">
                  <a:latin typeface="맑은 고딕" pitchFamily="50" charset="-127"/>
                  <a:ea typeface="맑은 고딕" pitchFamily="50" charset="-127"/>
                </a:rPr>
                <a:t>[ </a:t>
              </a:r>
              <a:r>
                <a:rPr lang="ko-KR" altLang="en-US" sz="1400" dirty="0" err="1" smtClean="0">
                  <a:latin typeface="맑은 고딕" pitchFamily="50" charset="-127"/>
                  <a:ea typeface="맑은 고딕" pitchFamily="50" charset="-127"/>
                </a:rPr>
                <a:t>키박스</a:t>
              </a:r>
              <a:r>
                <a:rPr lang="ko-KR" altLang="en-US" sz="1400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400" dirty="0" smtClean="0">
                  <a:latin typeface="맑은 고딕" pitchFamily="50" charset="-127"/>
                  <a:ea typeface="맑은 고딕" pitchFamily="50" charset="-127"/>
                </a:rPr>
                <a:t>]</a:t>
              </a:r>
              <a:endParaRPr lang="ko-KR" altLang="en-US" sz="14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5205028" y="4257092"/>
            <a:ext cx="4066608" cy="2340260"/>
            <a:chOff x="346332" y="1448780"/>
            <a:chExt cx="4066608" cy="2340260"/>
          </a:xfrm>
        </p:grpSpPr>
        <p:sp>
          <p:nvSpPr>
            <p:cNvPr id="25" name="빗면 24"/>
            <p:cNvSpPr/>
            <p:nvPr/>
          </p:nvSpPr>
          <p:spPr>
            <a:xfrm>
              <a:off x="346332" y="1448780"/>
              <a:ext cx="4066608" cy="2340260"/>
            </a:xfrm>
            <a:prstGeom prst="bevel">
              <a:avLst>
                <a:gd name="adj" fmla="val 350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순서도: 문서 25"/>
            <p:cNvSpPr/>
            <p:nvPr/>
          </p:nvSpPr>
          <p:spPr>
            <a:xfrm>
              <a:off x="524507" y="1628800"/>
              <a:ext cx="1565142" cy="648072"/>
            </a:xfrm>
            <a:prstGeom prst="flowChartDocumen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[ </a:t>
              </a:r>
              <a:r>
                <a:rPr lang="ko-KR" altLang="en-US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개인키 </a:t>
              </a:r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algn="ctr"/>
              <a:r>
                <a:rPr lang="en-US" altLang="ko-KR" sz="1400" dirty="0" err="1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id_dsa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순서도: 문서 26"/>
            <p:cNvSpPr/>
            <p:nvPr/>
          </p:nvSpPr>
          <p:spPr>
            <a:xfrm>
              <a:off x="524508" y="2672916"/>
              <a:ext cx="1656184" cy="684076"/>
            </a:xfrm>
            <a:prstGeom prst="flowChartDocumen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[ </a:t>
              </a:r>
              <a:r>
                <a:rPr lang="ko-KR" altLang="en-US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공개키 </a:t>
              </a:r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secondnode.pub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8" name="위쪽/아래쪽 화살표 27"/>
            <p:cNvSpPr/>
            <p:nvPr/>
          </p:nvSpPr>
          <p:spPr>
            <a:xfrm>
              <a:off x="995978" y="2150858"/>
              <a:ext cx="608650" cy="522058"/>
            </a:xfrm>
            <a:prstGeom prst="upDownArrow">
              <a:avLst>
                <a:gd name="adj1" fmla="val 30489"/>
                <a:gd name="adj2" fmla="val 29528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순서도: 다중 문서 28"/>
            <p:cNvSpPr/>
            <p:nvPr/>
          </p:nvSpPr>
          <p:spPr>
            <a:xfrm>
              <a:off x="2369049" y="1628800"/>
              <a:ext cx="1885744" cy="1908212"/>
            </a:xfrm>
            <a:prstGeom prst="flowChartMultidocumen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1400" dirty="0" smtClean="0">
                  <a:latin typeface="맑은 고딕" pitchFamily="50" charset="-127"/>
                  <a:ea typeface="맑은 고딕" pitchFamily="50" charset="-127"/>
                </a:rPr>
                <a:t>[ </a:t>
              </a:r>
              <a:r>
                <a:rPr lang="ko-KR" altLang="en-US" sz="1400" dirty="0" err="1" smtClean="0">
                  <a:latin typeface="맑은 고딕" pitchFamily="50" charset="-127"/>
                  <a:ea typeface="맑은 고딕" pitchFamily="50" charset="-127"/>
                </a:rPr>
                <a:t>키박스</a:t>
              </a:r>
              <a:r>
                <a:rPr lang="ko-KR" altLang="en-US" sz="1400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400" dirty="0" smtClean="0">
                  <a:latin typeface="맑은 고딕" pitchFamily="50" charset="-127"/>
                  <a:ea typeface="맑은 고딕" pitchFamily="50" charset="-127"/>
                </a:rPr>
                <a:t>]</a:t>
              </a:r>
              <a:endParaRPr lang="ko-KR" altLang="en-US" sz="14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30" name="순서도: 문서 29"/>
          <p:cNvSpPr/>
          <p:nvPr/>
        </p:nvSpPr>
        <p:spPr>
          <a:xfrm>
            <a:off x="4877012" y="2330878"/>
            <a:ext cx="1656184" cy="684076"/>
          </a:xfrm>
          <a:prstGeom prst="flowChart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공개키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client.pub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순서도: 문서 30"/>
          <p:cNvSpPr/>
          <p:nvPr/>
        </p:nvSpPr>
        <p:spPr>
          <a:xfrm>
            <a:off x="2813081" y="5114674"/>
            <a:ext cx="1656184" cy="684076"/>
          </a:xfrm>
          <a:prstGeom prst="flowChart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공개키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client.pub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순서도: 문서 31"/>
          <p:cNvSpPr/>
          <p:nvPr/>
        </p:nvSpPr>
        <p:spPr>
          <a:xfrm>
            <a:off x="7457305" y="5139190"/>
            <a:ext cx="1656184" cy="684076"/>
          </a:xfrm>
          <a:prstGeom prst="flowChart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공개키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client.pub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순서도: 문서 32"/>
          <p:cNvSpPr/>
          <p:nvPr/>
        </p:nvSpPr>
        <p:spPr>
          <a:xfrm>
            <a:off x="2652180" y="5633628"/>
            <a:ext cx="1656184" cy="684076"/>
          </a:xfrm>
          <a:prstGeom prst="flowChartDocumen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공개키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namenode.pub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순서도: 문서 33"/>
          <p:cNvSpPr/>
          <p:nvPr/>
        </p:nvSpPr>
        <p:spPr>
          <a:xfrm>
            <a:off x="7342525" y="5654097"/>
            <a:ext cx="1656184" cy="684076"/>
          </a:xfrm>
          <a:prstGeom prst="flowChartDocumen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공개키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namenode.pub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8745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 smtClean="0">
                <a:solidFill>
                  <a:prstClr val="white"/>
                </a:solidFill>
              </a:rPr>
              <a:t>8.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비밀번호 없이 다른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머신에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접속하기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6627455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 smtClean="0">
                <a:solidFill>
                  <a:prstClr val="black"/>
                </a:solidFill>
              </a:rPr>
              <a:t>2</a:t>
            </a:r>
            <a:r>
              <a:rPr lang="ko-KR" altLang="en-US" b="1" dirty="0" smtClean="0">
                <a:solidFill>
                  <a:prstClr val="black"/>
                </a:solidFill>
              </a:rPr>
              <a:t>단계 </a:t>
            </a:r>
            <a:r>
              <a:rPr lang="en-US" altLang="ko-KR" b="1" dirty="0" smtClean="0">
                <a:solidFill>
                  <a:prstClr val="black"/>
                </a:solidFill>
              </a:rPr>
              <a:t>: [</a:t>
            </a:r>
            <a:r>
              <a:rPr lang="ko-KR" altLang="en-US" b="1" dirty="0" smtClean="0">
                <a:solidFill>
                  <a:prstClr val="black"/>
                </a:solidFill>
              </a:rPr>
              <a:t>공개키</a:t>
            </a:r>
            <a:r>
              <a:rPr lang="en-US" altLang="ko-KR" b="1" dirty="0" smtClean="0">
                <a:solidFill>
                  <a:prstClr val="black"/>
                </a:solidFill>
              </a:rPr>
              <a:t>]</a:t>
            </a:r>
            <a:r>
              <a:rPr lang="ko-KR" altLang="en-US" b="1" dirty="0" smtClean="0">
                <a:solidFill>
                  <a:prstClr val="black"/>
                </a:solidFill>
              </a:rPr>
              <a:t>를 접속을 원하는 </a:t>
            </a:r>
            <a:r>
              <a:rPr lang="ko-KR" altLang="en-US" b="1" dirty="0" err="1" smtClean="0">
                <a:solidFill>
                  <a:prstClr val="black"/>
                </a:solidFill>
              </a:rPr>
              <a:t>머신의</a:t>
            </a:r>
            <a:r>
              <a:rPr lang="ko-KR" altLang="en-US" b="1" dirty="0" smtClean="0">
                <a:solidFill>
                  <a:prstClr val="black"/>
                </a:solidFill>
              </a:rPr>
              <a:t> </a:t>
            </a:r>
            <a:r>
              <a:rPr lang="en-US" altLang="ko-KR" b="1" dirty="0" smtClean="0">
                <a:solidFill>
                  <a:prstClr val="black"/>
                </a:solidFill>
              </a:rPr>
              <a:t>[</a:t>
            </a:r>
            <a:r>
              <a:rPr lang="ko-KR" altLang="en-US" b="1" dirty="0" err="1" smtClean="0">
                <a:solidFill>
                  <a:prstClr val="black"/>
                </a:solidFill>
              </a:rPr>
              <a:t>키박스</a:t>
            </a:r>
            <a:r>
              <a:rPr lang="en-US" altLang="ko-KR" b="1" dirty="0" smtClean="0">
                <a:solidFill>
                  <a:prstClr val="black"/>
                </a:solidFill>
              </a:rPr>
              <a:t>]</a:t>
            </a:r>
            <a:r>
              <a:rPr lang="ko-KR" altLang="en-US" b="1" dirty="0" smtClean="0">
                <a:solidFill>
                  <a:prstClr val="black"/>
                </a:solidFill>
              </a:rPr>
              <a:t>에 추가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739515" y="1502786"/>
            <a:ext cx="4066608" cy="2340260"/>
            <a:chOff x="346332" y="1448780"/>
            <a:chExt cx="4066608" cy="2340260"/>
          </a:xfrm>
        </p:grpSpPr>
        <p:sp>
          <p:nvSpPr>
            <p:cNvPr id="6" name="빗면 5"/>
            <p:cNvSpPr/>
            <p:nvPr/>
          </p:nvSpPr>
          <p:spPr>
            <a:xfrm>
              <a:off x="346332" y="1448780"/>
              <a:ext cx="4066608" cy="2340260"/>
            </a:xfrm>
            <a:prstGeom prst="bevel">
              <a:avLst>
                <a:gd name="adj" fmla="val 350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순서도: 문서 1"/>
            <p:cNvSpPr/>
            <p:nvPr/>
          </p:nvSpPr>
          <p:spPr>
            <a:xfrm>
              <a:off x="524507" y="1628800"/>
              <a:ext cx="1565142" cy="648072"/>
            </a:xfrm>
            <a:prstGeom prst="flowChartDocumen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[ </a:t>
              </a:r>
              <a:r>
                <a:rPr lang="ko-KR" altLang="en-US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개인키 </a:t>
              </a:r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algn="ctr"/>
              <a:r>
                <a:rPr lang="en-US" altLang="ko-KR" sz="1400" dirty="0" err="1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id_dsa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" name="순서도: 문서 8"/>
            <p:cNvSpPr/>
            <p:nvPr/>
          </p:nvSpPr>
          <p:spPr>
            <a:xfrm>
              <a:off x="524508" y="2672916"/>
              <a:ext cx="1656184" cy="684076"/>
            </a:xfrm>
            <a:prstGeom prst="flowChartDocumen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[ </a:t>
              </a:r>
              <a:r>
                <a:rPr lang="ko-KR" altLang="en-US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공개키 </a:t>
              </a:r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client.pub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위쪽/아래쪽 화살표 6"/>
            <p:cNvSpPr/>
            <p:nvPr/>
          </p:nvSpPr>
          <p:spPr>
            <a:xfrm>
              <a:off x="995978" y="2150858"/>
              <a:ext cx="608650" cy="522058"/>
            </a:xfrm>
            <a:prstGeom prst="upDownArrow">
              <a:avLst>
                <a:gd name="adj1" fmla="val 30489"/>
                <a:gd name="adj2" fmla="val 29528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순서도: 다중 문서 15"/>
            <p:cNvSpPr/>
            <p:nvPr/>
          </p:nvSpPr>
          <p:spPr>
            <a:xfrm>
              <a:off x="2369049" y="1628800"/>
              <a:ext cx="1885744" cy="1908212"/>
            </a:xfrm>
            <a:prstGeom prst="flowChartMultidocumen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1400" dirty="0" smtClean="0">
                  <a:latin typeface="맑은 고딕" pitchFamily="50" charset="-127"/>
                  <a:ea typeface="맑은 고딕" pitchFamily="50" charset="-127"/>
                </a:rPr>
                <a:t>[ </a:t>
              </a:r>
              <a:r>
                <a:rPr lang="ko-KR" altLang="en-US" sz="1400" dirty="0" err="1" smtClean="0">
                  <a:latin typeface="맑은 고딕" pitchFamily="50" charset="-127"/>
                  <a:ea typeface="맑은 고딕" pitchFamily="50" charset="-127"/>
                </a:rPr>
                <a:t>키박스</a:t>
              </a:r>
              <a:r>
                <a:rPr lang="ko-KR" altLang="en-US" sz="1400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400" dirty="0" smtClean="0">
                  <a:latin typeface="맑은 고딕" pitchFamily="50" charset="-127"/>
                  <a:ea typeface="맑은 고딕" pitchFamily="50" charset="-127"/>
                </a:rPr>
                <a:t>]</a:t>
              </a:r>
              <a:endParaRPr lang="ko-KR" altLang="en-US" sz="14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514683" y="4257092"/>
            <a:ext cx="4066608" cy="2340260"/>
            <a:chOff x="346332" y="1448780"/>
            <a:chExt cx="4066608" cy="2340260"/>
          </a:xfrm>
        </p:grpSpPr>
        <p:sp>
          <p:nvSpPr>
            <p:cNvPr id="19" name="빗면 18"/>
            <p:cNvSpPr/>
            <p:nvPr/>
          </p:nvSpPr>
          <p:spPr>
            <a:xfrm>
              <a:off x="346332" y="1448780"/>
              <a:ext cx="4066608" cy="2340260"/>
            </a:xfrm>
            <a:prstGeom prst="bevel">
              <a:avLst>
                <a:gd name="adj" fmla="val 350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순서도: 문서 19"/>
            <p:cNvSpPr/>
            <p:nvPr/>
          </p:nvSpPr>
          <p:spPr>
            <a:xfrm>
              <a:off x="524507" y="1628800"/>
              <a:ext cx="1565142" cy="648072"/>
            </a:xfrm>
            <a:prstGeom prst="flowChartDocumen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[ </a:t>
              </a:r>
              <a:r>
                <a:rPr lang="ko-KR" altLang="en-US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개인키 </a:t>
              </a:r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algn="ctr"/>
              <a:r>
                <a:rPr lang="en-US" altLang="ko-KR" sz="1400" dirty="0" err="1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id_dsa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" name="순서도: 문서 20"/>
            <p:cNvSpPr/>
            <p:nvPr/>
          </p:nvSpPr>
          <p:spPr>
            <a:xfrm>
              <a:off x="524508" y="2672916"/>
              <a:ext cx="1656184" cy="684076"/>
            </a:xfrm>
            <a:prstGeom prst="flowChartDocumen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[ </a:t>
              </a:r>
              <a:r>
                <a:rPr lang="ko-KR" altLang="en-US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공개키 </a:t>
              </a:r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namenode.pub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" name="위쪽/아래쪽 화살표 21"/>
            <p:cNvSpPr/>
            <p:nvPr/>
          </p:nvSpPr>
          <p:spPr>
            <a:xfrm>
              <a:off x="995978" y="2150858"/>
              <a:ext cx="608650" cy="522058"/>
            </a:xfrm>
            <a:prstGeom prst="upDownArrow">
              <a:avLst>
                <a:gd name="adj1" fmla="val 30489"/>
                <a:gd name="adj2" fmla="val 29528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순서도: 다중 문서 22"/>
            <p:cNvSpPr/>
            <p:nvPr/>
          </p:nvSpPr>
          <p:spPr>
            <a:xfrm>
              <a:off x="2369049" y="1628800"/>
              <a:ext cx="1885744" cy="1908212"/>
            </a:xfrm>
            <a:prstGeom prst="flowChartMultidocumen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1400" dirty="0" smtClean="0">
                  <a:latin typeface="맑은 고딕" pitchFamily="50" charset="-127"/>
                  <a:ea typeface="맑은 고딕" pitchFamily="50" charset="-127"/>
                </a:rPr>
                <a:t>[ </a:t>
              </a:r>
              <a:r>
                <a:rPr lang="ko-KR" altLang="en-US" sz="1400" dirty="0" err="1" smtClean="0">
                  <a:latin typeface="맑은 고딕" pitchFamily="50" charset="-127"/>
                  <a:ea typeface="맑은 고딕" pitchFamily="50" charset="-127"/>
                </a:rPr>
                <a:t>키박스</a:t>
              </a:r>
              <a:r>
                <a:rPr lang="ko-KR" altLang="en-US" sz="1400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400" dirty="0" smtClean="0">
                  <a:latin typeface="맑은 고딕" pitchFamily="50" charset="-127"/>
                  <a:ea typeface="맑은 고딕" pitchFamily="50" charset="-127"/>
                </a:rPr>
                <a:t>]</a:t>
              </a:r>
              <a:endParaRPr lang="ko-KR" altLang="en-US" sz="14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5205028" y="4257092"/>
            <a:ext cx="4066608" cy="2340260"/>
            <a:chOff x="346332" y="1448780"/>
            <a:chExt cx="4066608" cy="2340260"/>
          </a:xfrm>
        </p:grpSpPr>
        <p:sp>
          <p:nvSpPr>
            <p:cNvPr id="25" name="빗면 24"/>
            <p:cNvSpPr/>
            <p:nvPr/>
          </p:nvSpPr>
          <p:spPr>
            <a:xfrm>
              <a:off x="346332" y="1448780"/>
              <a:ext cx="4066608" cy="2340260"/>
            </a:xfrm>
            <a:prstGeom prst="bevel">
              <a:avLst>
                <a:gd name="adj" fmla="val 3505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순서도: 문서 25"/>
            <p:cNvSpPr/>
            <p:nvPr/>
          </p:nvSpPr>
          <p:spPr>
            <a:xfrm>
              <a:off x="524507" y="1628800"/>
              <a:ext cx="1565142" cy="648072"/>
            </a:xfrm>
            <a:prstGeom prst="flowChartDocumen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[ </a:t>
              </a:r>
              <a:r>
                <a:rPr lang="ko-KR" altLang="en-US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개인키 </a:t>
              </a:r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algn="ctr"/>
              <a:r>
                <a:rPr lang="en-US" altLang="ko-KR" sz="1400" dirty="0" err="1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id_dsa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순서도: 문서 26"/>
            <p:cNvSpPr/>
            <p:nvPr/>
          </p:nvSpPr>
          <p:spPr>
            <a:xfrm>
              <a:off x="524508" y="2672916"/>
              <a:ext cx="1656184" cy="684076"/>
            </a:xfrm>
            <a:prstGeom prst="flowChartDocument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[ </a:t>
              </a:r>
              <a:r>
                <a:rPr lang="ko-KR" altLang="en-US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공개키 </a:t>
              </a:r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</a:p>
            <a:p>
              <a:pPr algn="ctr"/>
              <a:r>
                <a:rPr lang="en-US" altLang="ko-KR" sz="1400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secondnode.pub</a:t>
              </a:r>
              <a:endPara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8" name="위쪽/아래쪽 화살표 27"/>
            <p:cNvSpPr/>
            <p:nvPr/>
          </p:nvSpPr>
          <p:spPr>
            <a:xfrm>
              <a:off x="995978" y="2150858"/>
              <a:ext cx="608650" cy="522058"/>
            </a:xfrm>
            <a:prstGeom prst="upDownArrow">
              <a:avLst>
                <a:gd name="adj1" fmla="val 30489"/>
                <a:gd name="adj2" fmla="val 29528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순서도: 다중 문서 28"/>
            <p:cNvSpPr/>
            <p:nvPr/>
          </p:nvSpPr>
          <p:spPr>
            <a:xfrm>
              <a:off x="2369049" y="1628800"/>
              <a:ext cx="1885744" cy="1908212"/>
            </a:xfrm>
            <a:prstGeom prst="flowChartMultidocumen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algn="ctr"/>
              <a:r>
                <a:rPr lang="en-US" altLang="ko-KR" sz="1400" dirty="0" smtClean="0">
                  <a:latin typeface="맑은 고딕" pitchFamily="50" charset="-127"/>
                  <a:ea typeface="맑은 고딕" pitchFamily="50" charset="-127"/>
                </a:rPr>
                <a:t>[ </a:t>
              </a:r>
              <a:r>
                <a:rPr lang="ko-KR" altLang="en-US" sz="1400" dirty="0" err="1" smtClean="0">
                  <a:latin typeface="맑은 고딕" pitchFamily="50" charset="-127"/>
                  <a:ea typeface="맑은 고딕" pitchFamily="50" charset="-127"/>
                </a:rPr>
                <a:t>키박스</a:t>
              </a:r>
              <a:r>
                <a:rPr lang="ko-KR" altLang="en-US" sz="1400" dirty="0" smtClean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400" dirty="0" smtClean="0">
                  <a:latin typeface="맑은 고딕" pitchFamily="50" charset="-127"/>
                  <a:ea typeface="맑은 고딕" pitchFamily="50" charset="-127"/>
                </a:rPr>
                <a:t>]</a:t>
              </a:r>
              <a:endParaRPr lang="ko-KR" altLang="en-US" sz="14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30" name="순서도: 문서 29"/>
          <p:cNvSpPr/>
          <p:nvPr/>
        </p:nvSpPr>
        <p:spPr>
          <a:xfrm>
            <a:off x="4877012" y="2330878"/>
            <a:ext cx="1656184" cy="684076"/>
          </a:xfrm>
          <a:prstGeom prst="flowChart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공개키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client.pub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순서도: 문서 30"/>
          <p:cNvSpPr/>
          <p:nvPr/>
        </p:nvSpPr>
        <p:spPr>
          <a:xfrm>
            <a:off x="2813081" y="5114674"/>
            <a:ext cx="1656184" cy="684076"/>
          </a:xfrm>
          <a:prstGeom prst="flowChart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공개키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client.pub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순서도: 문서 31"/>
          <p:cNvSpPr/>
          <p:nvPr/>
        </p:nvSpPr>
        <p:spPr>
          <a:xfrm>
            <a:off x="7457305" y="5139190"/>
            <a:ext cx="1656184" cy="684076"/>
          </a:xfrm>
          <a:prstGeom prst="flowChart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공개키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client.pub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순서도: 문서 32"/>
          <p:cNvSpPr/>
          <p:nvPr/>
        </p:nvSpPr>
        <p:spPr>
          <a:xfrm>
            <a:off x="2652180" y="5404914"/>
            <a:ext cx="1656184" cy="684076"/>
          </a:xfrm>
          <a:prstGeom prst="flowChartDocumen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공개키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namenode.pub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순서도: 문서 33"/>
          <p:cNvSpPr/>
          <p:nvPr/>
        </p:nvSpPr>
        <p:spPr>
          <a:xfrm>
            <a:off x="7291444" y="5445147"/>
            <a:ext cx="1656184" cy="684076"/>
          </a:xfrm>
          <a:prstGeom prst="flowChartDocumen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공개키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namenode.pub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순서도: 문서 34"/>
          <p:cNvSpPr/>
          <p:nvPr/>
        </p:nvSpPr>
        <p:spPr>
          <a:xfrm>
            <a:off x="2848020" y="5664840"/>
            <a:ext cx="1656184" cy="684076"/>
          </a:xfrm>
          <a:prstGeom prst="flowChartDocumen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공개키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secondnode.pub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순서도: 문서 35"/>
          <p:cNvSpPr/>
          <p:nvPr/>
        </p:nvSpPr>
        <p:spPr>
          <a:xfrm>
            <a:off x="7529913" y="5763125"/>
            <a:ext cx="1656184" cy="684076"/>
          </a:xfrm>
          <a:prstGeom prst="flowChartDocumen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공개키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</a:p>
          <a:p>
            <a:pPr algn="ctr"/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secondnode.pub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4" name="직선 화살표 연결선 3"/>
          <p:cNvCxnSpPr>
            <a:stCxn id="9" idx="3"/>
            <a:endCxn id="30" idx="1"/>
          </p:cNvCxnSpPr>
          <p:nvPr/>
        </p:nvCxnSpPr>
        <p:spPr>
          <a:xfrm flipV="1">
            <a:off x="4573875" y="2672916"/>
            <a:ext cx="303137" cy="396044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stCxn id="9" idx="3"/>
            <a:endCxn id="31" idx="0"/>
          </p:cNvCxnSpPr>
          <p:nvPr/>
        </p:nvCxnSpPr>
        <p:spPr>
          <a:xfrm flipH="1">
            <a:off x="3641173" y="3068960"/>
            <a:ext cx="932702" cy="2045714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>
            <a:stCxn id="9" idx="3"/>
            <a:endCxn id="32" idx="0"/>
          </p:cNvCxnSpPr>
          <p:nvPr/>
        </p:nvCxnSpPr>
        <p:spPr>
          <a:xfrm>
            <a:off x="4573875" y="3068960"/>
            <a:ext cx="3711522" cy="207023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>
            <a:stCxn id="21" idx="0"/>
            <a:endCxn id="33" idx="1"/>
          </p:cNvCxnSpPr>
          <p:nvPr/>
        </p:nvCxnSpPr>
        <p:spPr>
          <a:xfrm>
            <a:off x="1520951" y="5481228"/>
            <a:ext cx="1131229" cy="265724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>
            <a:stCxn id="21" idx="0"/>
            <a:endCxn id="34" idx="1"/>
          </p:cNvCxnSpPr>
          <p:nvPr/>
        </p:nvCxnSpPr>
        <p:spPr>
          <a:xfrm>
            <a:off x="1520951" y="5481228"/>
            <a:ext cx="5770493" cy="305957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/>
          <p:cNvCxnSpPr>
            <a:stCxn id="27" idx="2"/>
            <a:endCxn id="36" idx="1"/>
          </p:cNvCxnSpPr>
          <p:nvPr/>
        </p:nvCxnSpPr>
        <p:spPr>
          <a:xfrm flipV="1">
            <a:off x="6211296" y="6105163"/>
            <a:ext cx="1318617" cy="14916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>
            <a:stCxn id="27" idx="2"/>
            <a:endCxn id="35" idx="3"/>
          </p:cNvCxnSpPr>
          <p:nvPr/>
        </p:nvCxnSpPr>
        <p:spPr>
          <a:xfrm flipH="1" flipV="1">
            <a:off x="4504204" y="6006878"/>
            <a:ext cx="1707092" cy="113201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505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8.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비밀번호 없이 다른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머신에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접속하기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105932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>
                <a:solidFill>
                  <a:srgbClr val="C00000"/>
                </a:solidFill>
              </a:rPr>
              <a:t># </a:t>
            </a:r>
            <a:r>
              <a:rPr lang="ko-KR" altLang="en-US" b="1" dirty="0">
                <a:solidFill>
                  <a:srgbClr val="C00000"/>
                </a:solidFill>
              </a:rPr>
              <a:t>클러스터 </a:t>
            </a:r>
            <a:r>
              <a:rPr lang="en-US" altLang="ko-KR" b="1" dirty="0">
                <a:solidFill>
                  <a:srgbClr val="C00000"/>
                </a:solidFill>
              </a:rPr>
              <a:t>1</a:t>
            </a:r>
            <a:r>
              <a:rPr lang="ko-KR" altLang="en-US" b="1" dirty="0">
                <a:solidFill>
                  <a:srgbClr val="C00000"/>
                </a:solidFill>
              </a:rPr>
              <a:t>번 머신 </a:t>
            </a:r>
            <a:r>
              <a:rPr lang="en-US" altLang="ko-KR" b="1" dirty="0">
                <a:solidFill>
                  <a:srgbClr val="C00000"/>
                </a:solidFill>
              </a:rPr>
              <a:t>[ hd1-client ]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513185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비밀번호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입력없이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접속하는지 확인하기</a:t>
            </a: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개인키와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공개키를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생성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ssh-keygen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-t   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dsa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-P    ''    -f    ~/.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id_dsa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공개키를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키박스에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추가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[2]$ cat   ~/.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/id_dsa.pub   &gt;&gt;  ~/.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authorized_keys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접근권한 변경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다른 사람이 보면 안되므로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[3]$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chmod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400   ~/.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authorized_keys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읽기만 할 수 있도록 접근 권한을 변경해야 함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확인하기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[4]$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ls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-al  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[5]$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localhost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w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exit</a:t>
            </a:r>
          </a:p>
        </p:txBody>
      </p:sp>
      <p:sp>
        <p:nvSpPr>
          <p:cNvPr id="5" name="빗면 4"/>
          <p:cNvSpPr/>
          <p:nvPr/>
        </p:nvSpPr>
        <p:spPr>
          <a:xfrm>
            <a:off x="6874889" y="1297060"/>
            <a:ext cx="2535945" cy="73642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HD1-Client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4806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8.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비밀번호 없이 다른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머신에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접속하기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105932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dirty="0">
                <a:solidFill>
                  <a:srgbClr val="C00000"/>
                </a:solidFill>
              </a:rPr>
              <a:t># </a:t>
            </a:r>
            <a:r>
              <a:rPr lang="ko-KR" altLang="en-US" b="1" dirty="0">
                <a:solidFill>
                  <a:srgbClr val="C00000"/>
                </a:solidFill>
              </a:rPr>
              <a:t>클러스터 </a:t>
            </a:r>
            <a:r>
              <a:rPr lang="en-US" altLang="ko-KR" b="1" dirty="0">
                <a:solidFill>
                  <a:srgbClr val="C00000"/>
                </a:solidFill>
              </a:rPr>
              <a:t>1</a:t>
            </a:r>
            <a:r>
              <a:rPr lang="ko-KR" altLang="en-US" b="1" dirty="0">
                <a:solidFill>
                  <a:srgbClr val="C00000"/>
                </a:solidFill>
              </a:rPr>
              <a:t>번 머신 </a:t>
            </a:r>
            <a:r>
              <a:rPr lang="en-US" altLang="ko-KR" b="1" dirty="0">
                <a:solidFill>
                  <a:srgbClr val="C00000"/>
                </a:solidFill>
              </a:rPr>
              <a:t>[ hd1-client ]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153087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(client)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의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공개키를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,3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머신에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전송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[6]$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scp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~/.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/id_dsa.pub 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hadoop@namenode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://home/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/client.pub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[7]$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scp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~/.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/id_dsa.pub 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hadoop@secondnode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://home/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/client.pub</a:t>
            </a:r>
          </a:p>
        </p:txBody>
      </p:sp>
      <p:sp>
        <p:nvSpPr>
          <p:cNvPr id="5" name="가로로 말린 두루마리 모양 4"/>
          <p:cNvSpPr/>
          <p:nvPr/>
        </p:nvSpPr>
        <p:spPr>
          <a:xfrm>
            <a:off x="1334459" y="3465004"/>
            <a:ext cx="7138795" cy="1476164"/>
          </a:xfrm>
          <a:prstGeom prst="horizontalScroll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 latinLnBrk="0">
              <a:spcBef>
                <a:spcPct val="30000"/>
              </a:spcBef>
            </a:pPr>
            <a:r>
              <a:rPr lang="en-US" altLang="ko-KR" sz="16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[NOTE] </a:t>
            </a:r>
            <a:endParaRPr lang="en-US" altLang="ko-KR" sz="16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algn="ctr" latinLnBrk="0">
              <a:spcBef>
                <a:spcPct val="30000"/>
              </a:spcBef>
            </a:pPr>
            <a:r>
              <a:rPr lang="en-US" altLang="ko-KR" sz="16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계정의 비밀번호</a:t>
            </a: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en-US" altLang="ko-KR" sz="1600" b="1" dirty="0" err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을 입력하세요</a:t>
            </a:r>
            <a:r>
              <a:rPr lang="en-US" altLang="ko-KR" sz="16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!</a:t>
            </a:r>
            <a:endParaRPr lang="en-US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2780678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8.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비밀번호 없이 다른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머신에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접속하기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7756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# </a:t>
            </a:r>
            <a:r>
              <a:rPr lang="ko-KR" altLang="en-US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클러스터 </a:t>
            </a:r>
            <a:r>
              <a:rPr lang="en-US" altLang="ko-KR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2</a:t>
            </a:r>
            <a:r>
              <a:rPr lang="ko-KR" altLang="en-US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번 머신 </a:t>
            </a:r>
            <a:r>
              <a:rPr lang="en-US" altLang="ko-KR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[ hd2-namenode ] 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363144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namenode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개인키와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공개키를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생성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[2]$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ssh-keygen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-t   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dsa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-P    ''    -f    ~/.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id_dsa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공개키 이름을 식별하기 쉽게 변경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[3]$ mv ~/.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/id_dsa.pub ~/.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/namenode.pub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공개키를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머신에만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전송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[4]$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scp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~/.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/namenode.pub 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hadoop@secondnode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://home/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/namenode.pub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[5]$ exit</a:t>
            </a:r>
          </a:p>
        </p:txBody>
      </p:sp>
      <p:sp>
        <p:nvSpPr>
          <p:cNvPr id="5" name="빗면 4"/>
          <p:cNvSpPr/>
          <p:nvPr/>
        </p:nvSpPr>
        <p:spPr>
          <a:xfrm>
            <a:off x="6213141" y="1232756"/>
            <a:ext cx="3197694" cy="800732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/>
              <a:t>HD2-Namenode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24783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8.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비밀번호 없이 다른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머신에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접속하기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9439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# </a:t>
            </a:r>
            <a:r>
              <a:rPr lang="ko-KR" altLang="en-US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클러스터 </a:t>
            </a:r>
            <a:r>
              <a:rPr lang="en-US" altLang="ko-KR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3</a:t>
            </a:r>
            <a:r>
              <a:rPr lang="ko-KR" altLang="en-US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번 머신 </a:t>
            </a:r>
            <a:r>
              <a:rPr lang="en-US" altLang="ko-KR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[ hd3-secondnode ] 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363144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secondnode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개인키와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공개키를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생성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[2]$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ssh-keygen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-t   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dsa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-P    ''    -f    ~/.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id_dsa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공개키 이름을 식별하기 쉽게 변경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[3]$ mv ~/.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/id_dsa.pub ~/.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/secondnode.pub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공개키를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머신에만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전송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[4]$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scp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~/.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/secondnode.pub 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hadoop@namenode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://home/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/secondnode.pub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[5]$ exit</a:t>
            </a:r>
          </a:p>
        </p:txBody>
      </p:sp>
      <p:sp>
        <p:nvSpPr>
          <p:cNvPr id="5" name="빗면 4"/>
          <p:cNvSpPr/>
          <p:nvPr/>
        </p:nvSpPr>
        <p:spPr>
          <a:xfrm>
            <a:off x="6874889" y="1297060"/>
            <a:ext cx="2535945" cy="736428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/>
              <a:t>HD3-Second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18931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8.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비밀번호 없이 다른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머신에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접속하기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7756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# </a:t>
            </a:r>
            <a:r>
              <a:rPr lang="ko-KR" altLang="en-US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클러스터 </a:t>
            </a:r>
            <a:r>
              <a:rPr lang="en-US" altLang="ko-KR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2</a:t>
            </a:r>
            <a:r>
              <a:rPr lang="ko-KR" altLang="en-US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번 머신 </a:t>
            </a:r>
            <a:r>
              <a:rPr lang="en-US" altLang="ko-KR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[ hd2-namenode ] 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393152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namenode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[2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ll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공개키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(client,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namenode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secondnode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들을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키박스에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추가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[3]$ cat   ~/.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/client.pub   &gt;&gt;  ~/.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authorized_keys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cat   ~/.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/namenode.pub   &gt;&gt;  ~/.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authorized_keys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cat   ~/.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/secondnode.pub   &gt;&gt;  ~/.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authorized_keys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접근권한 변경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다른 사람이 보면 안되므로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[4]$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chmod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400   ~/.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authorized_keys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[5]$ exit</a:t>
            </a:r>
          </a:p>
        </p:txBody>
      </p:sp>
      <p:sp>
        <p:nvSpPr>
          <p:cNvPr id="5" name="빗면 4"/>
          <p:cNvSpPr/>
          <p:nvPr/>
        </p:nvSpPr>
        <p:spPr>
          <a:xfrm>
            <a:off x="6213141" y="1232756"/>
            <a:ext cx="3197694" cy="800732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/>
              <a:t>HD2-Namenode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32904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8.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비밀번호 없이 다른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머신에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접속하기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494398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# </a:t>
            </a:r>
            <a:r>
              <a:rPr lang="ko-KR" altLang="en-US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클러스터 </a:t>
            </a:r>
            <a:r>
              <a:rPr lang="en-US" altLang="ko-KR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3</a:t>
            </a:r>
            <a:r>
              <a:rPr lang="ko-KR" altLang="en-US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번 머신 </a:t>
            </a:r>
            <a:r>
              <a:rPr lang="en-US" altLang="ko-KR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[ hd3-secondnode ] 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393152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secondnode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[2]$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ll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공개키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(client,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namenode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secondnode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들을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키박스에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추가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[3]$ cat   ~/.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/client.pub   &gt;&gt;  ~/.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authorized_keys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cat   ~/.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/namenode.pub   &gt;&gt;  ~/.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authorized_keys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cat   ~/.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/secondnode.pub   &gt;&gt;  ~/.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authorized_keys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접근권한 변경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다른 사람이 보면 안되므로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[4]$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chmod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400   ~/.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authorized_keys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[5]$ exit</a:t>
            </a:r>
          </a:p>
        </p:txBody>
      </p:sp>
      <p:sp>
        <p:nvSpPr>
          <p:cNvPr id="5" name="빗면 4"/>
          <p:cNvSpPr/>
          <p:nvPr/>
        </p:nvSpPr>
        <p:spPr>
          <a:xfrm>
            <a:off x="6874889" y="1297060"/>
            <a:ext cx="2535945" cy="736428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/>
              <a:t>HD3-Second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750782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8.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비밀번호 없이 다른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머신에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접속하기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61205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비밀번호 없이 다른 </a:t>
            </a:r>
            <a:r>
              <a:rPr lang="ko-KR" altLang="en-US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머신에</a:t>
            </a:r>
            <a:r>
              <a:rPr lang="ko-KR" altLang="en-US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 </a:t>
            </a:r>
            <a:r>
              <a:rPr lang="ko-KR" altLang="en-US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접속하기 </a:t>
            </a:r>
            <a:r>
              <a:rPr lang="en-US" altLang="ko-KR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: </a:t>
            </a:r>
            <a:r>
              <a:rPr lang="ko-KR" altLang="en-US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확인 작업</a:t>
            </a:r>
            <a:r>
              <a:rPr lang="en-US" altLang="ko-KR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(</a:t>
            </a:r>
            <a:r>
              <a:rPr lang="ko-KR" altLang="en-US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중요</a:t>
            </a:r>
            <a:r>
              <a:rPr lang="en-US" altLang="ko-KR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)</a:t>
            </a:r>
            <a:endParaRPr lang="en-US" altLang="ko-KR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C00000"/>
              </a:solidFill>
              <a:effectLst>
                <a:glow>
                  <a:prstClr val="white"/>
                </a:glow>
              </a:effectLst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30312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클러스터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 hd1-client ]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번과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머신으로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접속 테스트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namenode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w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exit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[2]$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secondnode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w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exit</a:t>
            </a:r>
          </a:p>
        </p:txBody>
      </p:sp>
      <p:sp>
        <p:nvSpPr>
          <p:cNvPr id="5" name="빗면 4"/>
          <p:cNvSpPr/>
          <p:nvPr/>
        </p:nvSpPr>
        <p:spPr>
          <a:xfrm>
            <a:off x="6874889" y="1297060"/>
            <a:ext cx="2535945" cy="73642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HD1-Client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80646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8.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비밀번호 없이 다른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머신에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접속하기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61205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비밀번호 없이 다른 </a:t>
            </a:r>
            <a:r>
              <a:rPr lang="ko-KR" altLang="en-US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머신에</a:t>
            </a:r>
            <a:r>
              <a:rPr lang="ko-KR" altLang="en-US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 </a:t>
            </a:r>
            <a:r>
              <a:rPr lang="ko-KR" altLang="en-US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접속하기 </a:t>
            </a:r>
            <a:r>
              <a:rPr lang="en-US" altLang="ko-KR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: </a:t>
            </a:r>
            <a:r>
              <a:rPr lang="ko-KR" altLang="en-US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확인 작업</a:t>
            </a:r>
            <a:r>
              <a:rPr lang="en-US" altLang="ko-KR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(</a:t>
            </a:r>
            <a:r>
              <a:rPr lang="ko-KR" altLang="en-US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중요</a:t>
            </a:r>
            <a:r>
              <a:rPr lang="en-US" altLang="ko-KR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)</a:t>
            </a:r>
            <a:endParaRPr lang="en-US" altLang="ko-KR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C00000"/>
              </a:solidFill>
              <a:effectLst>
                <a:glow>
                  <a:prstClr val="white"/>
                </a:glow>
              </a:effectLst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54319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클러스터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 hd2-namenode ] 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먼저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머신으로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접속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namenode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자신과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머신으로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접속 테스트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localhost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w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exit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[3]$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namenode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w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exit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[4]$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secondnode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w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exit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2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머신에서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로그아웃해서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다시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client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머신으로</a:t>
            </a: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5]  exit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6]  w</a:t>
            </a:r>
          </a:p>
        </p:txBody>
      </p:sp>
      <p:sp>
        <p:nvSpPr>
          <p:cNvPr id="5" name="빗면 4"/>
          <p:cNvSpPr/>
          <p:nvPr/>
        </p:nvSpPr>
        <p:spPr>
          <a:xfrm>
            <a:off x="6213141" y="1232756"/>
            <a:ext cx="3197694" cy="800732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/>
              <a:t>HD2-Namenode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4132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dirty="0">
                <a:solidFill>
                  <a:prstClr val="white"/>
                </a:solidFill>
              </a:rPr>
              <a:t>8. 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비밀번호 없이 다른 </a:t>
            </a:r>
            <a:r>
              <a:rPr kumimoji="0" lang="ko-KR" altLang="en-US" sz="3000" b="1" dirty="0" err="1">
                <a:solidFill>
                  <a:prstClr val="white"/>
                </a:solidFill>
              </a:rPr>
              <a:t>머신에</a:t>
            </a:r>
            <a:r>
              <a:rPr kumimoji="0" lang="ko-KR" altLang="en-US" sz="3000" b="1" dirty="0">
                <a:solidFill>
                  <a:prstClr val="white"/>
                </a:solidFill>
              </a:rPr>
              <a:t> 접속하기 설정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61205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비밀번호 없이 다른 </a:t>
            </a:r>
            <a:r>
              <a:rPr lang="ko-KR" altLang="en-US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머신에</a:t>
            </a:r>
            <a:r>
              <a:rPr lang="ko-KR" altLang="en-US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 </a:t>
            </a:r>
            <a:r>
              <a:rPr lang="ko-KR" altLang="en-US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접속하기 </a:t>
            </a:r>
            <a:r>
              <a:rPr lang="en-US" altLang="ko-KR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: </a:t>
            </a:r>
            <a:r>
              <a:rPr lang="ko-KR" altLang="en-US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확인 작업</a:t>
            </a:r>
            <a:r>
              <a:rPr lang="en-US" altLang="ko-KR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(</a:t>
            </a:r>
            <a:r>
              <a:rPr lang="ko-KR" altLang="en-US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중요</a:t>
            </a:r>
            <a:r>
              <a:rPr lang="en-US" altLang="ko-KR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</a:rPr>
              <a:t>)</a:t>
            </a:r>
            <a:endParaRPr lang="en-US" altLang="ko-KR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srgbClr val="C00000"/>
              </a:solidFill>
              <a:effectLst>
                <a:glow>
                  <a:prstClr val="white"/>
                </a:glow>
              </a:effectLst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54319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#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클러스터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srgbClr val="C00000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 hd3-secondnode ] 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먼저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머신으로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접속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secondnode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자신과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머신으로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접속 테스트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localhost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w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exit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[3]$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namenode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w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exit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[4]$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secondnode</a:t>
            </a: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w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exit</a:t>
            </a: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endParaRPr lang="en-US" altLang="ko-KR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itchFamily="34" charset="0"/>
              <a:buChar char="•"/>
            </a:pP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=&gt; 3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머신에서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로그아웃해서</a:t>
            </a:r>
            <a:r>
              <a:rPr lang="ko-KR" altLang="en-US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다시 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client </a:t>
            </a:r>
            <a:r>
              <a:rPr lang="ko-KR" altLang="en-US" sz="1500" b="1" dirty="0" err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머신으로</a:t>
            </a:r>
            <a:endParaRPr lang="ko-KR" altLang="en-US" sz="1500" b="1" dirty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5]  exit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dirty="0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 dirty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6]  w</a:t>
            </a:r>
          </a:p>
        </p:txBody>
      </p:sp>
      <p:sp>
        <p:nvSpPr>
          <p:cNvPr id="5" name="빗면 4"/>
          <p:cNvSpPr/>
          <p:nvPr/>
        </p:nvSpPr>
        <p:spPr>
          <a:xfrm>
            <a:off x="6874889" y="1297060"/>
            <a:ext cx="2535945" cy="736428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/>
              <a:t>HD3-Second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14326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9. HDFS </a:t>
            </a:r>
            <a:r>
              <a:rPr kumimoji="0" lang="ko-KR" altLang="en-US" sz="3000" b="1" smtClean="0">
                <a:solidFill>
                  <a:prstClr val="white"/>
                </a:solidFill>
              </a:rPr>
              <a:t>포맷하기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591333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>
                <a:solidFill>
                  <a:prstClr val="black"/>
                </a:solidFill>
              </a:rPr>
              <a:t>HDFS </a:t>
            </a:r>
            <a:r>
              <a:rPr lang="ko-KR" altLang="en-US" b="1" smtClean="0">
                <a:solidFill>
                  <a:prstClr val="black"/>
                </a:solidFill>
              </a:rPr>
              <a:t>포맷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333136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머신에서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머신으로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접속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[1]$ ssh namenode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호스트명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반드시 확인하세요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!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[2]$ hostname 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처음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포맷하기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[3]$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hadoop/bin/hdfs  namenode  -format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파일시스템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생성 확인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[4]$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ls /data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ls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-R /data 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로그아웃하여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다시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머신으로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[5]$ exit</a:t>
            </a:r>
          </a:p>
        </p:txBody>
      </p:sp>
      <p:sp>
        <p:nvSpPr>
          <p:cNvPr id="7" name="가로로 말린 두루마리 모양 6"/>
          <p:cNvSpPr/>
          <p:nvPr/>
        </p:nvSpPr>
        <p:spPr>
          <a:xfrm>
            <a:off x="5349044" y="1901548"/>
            <a:ext cx="4177952" cy="3636404"/>
          </a:xfrm>
          <a:prstGeom prst="horizont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6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6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NOTE]</a:t>
            </a:r>
          </a:p>
          <a:p>
            <a:pPr algn="ctr" latinLnBrk="0">
              <a:spcBef>
                <a:spcPct val="30000"/>
              </a:spcBef>
            </a:pPr>
            <a:r>
              <a:rPr lang="ko-KR" altLang="en-US" sz="16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포맷을 다시 하고 싶거나</a:t>
            </a:r>
            <a:endParaRPr lang="en-US" altLang="ko-KR" sz="16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ko-KR" altLang="en-US" sz="16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하둡 서비스</a:t>
            </a:r>
            <a:r>
              <a:rPr lang="en-US" altLang="ko-KR" sz="16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6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데몬들</a:t>
            </a:r>
            <a:r>
              <a:rPr lang="en-US" altLang="ko-KR" sz="16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16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을 </a:t>
            </a:r>
            <a:endParaRPr lang="en-US" altLang="ko-KR" sz="16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en-US" altLang="ko-KR" sz="16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root </a:t>
            </a:r>
            <a:r>
              <a:rPr lang="ko-KR" altLang="en-US" sz="16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계정으로 시작했으면</a:t>
            </a:r>
            <a:endParaRPr lang="en-US" altLang="ko-KR" sz="16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endParaRPr lang="en-US" altLang="ko-KR" sz="16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ko-KR" altLang="en-US" sz="16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모든 머신에서</a:t>
            </a:r>
            <a:endParaRPr lang="en-US" altLang="ko-KR" sz="16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endParaRPr lang="en-US" altLang="ko-KR" sz="16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en-US" altLang="ko-KR" sz="16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$ rm –rf /data/*</a:t>
            </a:r>
            <a:endParaRPr lang="ko-KR" altLang="en-US" sz="16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타원형 설명선 5"/>
          <p:cNvSpPr/>
          <p:nvPr/>
        </p:nvSpPr>
        <p:spPr>
          <a:xfrm>
            <a:off x="2324708" y="4672132"/>
            <a:ext cx="3240360" cy="1728192"/>
          </a:xfrm>
          <a:prstGeom prst="wedgeEllipseCallout">
            <a:avLst>
              <a:gd name="adj1" fmla="val -52513"/>
              <a:gd name="adj2" fmla="val -6249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[NOTE] </a:t>
            </a:r>
            <a:endParaRPr lang="en-US" altLang="ko-KR" sz="14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HDFS </a:t>
            </a:r>
            <a:r>
              <a:rPr lang="ko-KR" altLang="en-US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포맷은 네임노드에서 해야 함</a:t>
            </a:r>
          </a:p>
        </p:txBody>
      </p:sp>
      <p:sp>
        <p:nvSpPr>
          <p:cNvPr id="8" name="빗면 7"/>
          <p:cNvSpPr/>
          <p:nvPr/>
        </p:nvSpPr>
        <p:spPr>
          <a:xfrm>
            <a:off x="6213141" y="1232756"/>
            <a:ext cx="3197694" cy="800732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/>
              <a:t>HD2-Namenode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41087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9. HDFS </a:t>
            </a:r>
            <a:r>
              <a:rPr kumimoji="0" lang="ko-KR" altLang="en-US" sz="3000" b="1">
                <a:solidFill>
                  <a:prstClr val="white"/>
                </a:solidFill>
              </a:rPr>
              <a:t>포맷하기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591333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>
                <a:solidFill>
                  <a:prstClr val="black"/>
                </a:solidFill>
              </a:rPr>
              <a:t>HDFS </a:t>
            </a:r>
            <a:r>
              <a:rPr lang="ko-KR" altLang="en-US" b="1" smtClean="0">
                <a:solidFill>
                  <a:prstClr val="black"/>
                </a:solidFill>
              </a:rPr>
              <a:t>포맷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93367" y="1376772"/>
            <a:ext cx="4747665" cy="5381156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[hadoop@client ~]$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ssh namenode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Last login: Thu Jun  1 18:02:38 2017 from secondnode.hadoop.kr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[hadoop@namenode ~]$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hostname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namenode.hadoop.kr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[hadoop@namenode ~]$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hadoop/bin/hdfs  namenode  -format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17/06/07 14:34:02 INFO namenode.NameNode: STARTUP_MSG: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/************************************************************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STARTUP_MSG: Starting NameNode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STARTUP_MSG:   host = namenode.hadoop.kr/192.168.56.31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STARTUP_MSG:   args = [-format]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STARTUP_MSG:   version = 2.6.4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...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...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00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17/06/07 14:34:05 INFO common.Storage: Storage directory /data/name1 has been successfully formatted.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17/06/07 14:34:05 INFO common.Storage: Storage directory /data/name2 has been successfully formatted.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17/06/07 14:34:05 INFO namenode.NNStorageRetentionManager: Going to retain 1 images with txid &gt;= 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17/06/07 14:34:05 INFO util.ExitUtil: Exiting with status 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17/06/07 14:34:05 INFO namenode.NameNode: SHUTDOWN_MSG: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/************************************************************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SHUTDOWN_MSG: Shutting down NameNode at namenode.hadoop.kr/192.168.56.31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************************************************************/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[hadoop@namenode ~]$</a:t>
            </a:r>
            <a:endParaRPr lang="en-US" altLang="ko-KR" sz="700" b="1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493060" y="1464488"/>
            <a:ext cx="3888432" cy="5318831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[hadoop@namenode ~]$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ls /data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name1  name2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[hadoop@namenode </a:t>
            </a:r>
            <a:r>
              <a:rPr lang="en-US" altLang="ko-KR" sz="1050" smtClean="0">
                <a:latin typeface="맑은 고딕" pitchFamily="50" charset="-127"/>
                <a:ea typeface="맑은 고딕" pitchFamily="50" charset="-127"/>
              </a:rPr>
              <a:t>~]$ </a:t>
            </a:r>
            <a:r>
              <a:rPr lang="en-US" altLang="ko-KR" sz="1200" b="1" smtClean="0">
                <a:latin typeface="맑은 고딕" pitchFamily="50" charset="-127"/>
                <a:ea typeface="맑은 고딕" pitchFamily="50" charset="-127"/>
              </a:rPr>
              <a:t>ls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-R /data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/data: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name1  name2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05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/data/name1: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current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05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/data/name1/current: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VERSION                      fsimage_0000000000000000000.md5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fsimage_0000000000000000000  seen_txid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05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/data/name2: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current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05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/data/name2/current: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VERSION                      fsimage_0000000000000000000.md5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fsimage_0000000000000000000  seen_txid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[hadoop@namenode ~]$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exit</a:t>
            </a:r>
            <a:endParaRPr lang="en-US" altLang="ko-KR" sz="1050" b="1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logout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Connection to namenode closed.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[hadoop@client ~]$</a:t>
            </a:r>
          </a:p>
        </p:txBody>
      </p:sp>
    </p:spTree>
    <p:extLst>
      <p:ext uri="{BB962C8B-B14F-4D97-AF65-F5344CB8AC3E}">
        <p14:creationId xmlns:p14="http://schemas.microsoft.com/office/powerpoint/2010/main" val="2878962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10. </a:t>
            </a:r>
            <a:r>
              <a:rPr kumimoji="0" lang="ko-KR" altLang="en-US" sz="3000" b="1">
                <a:solidFill>
                  <a:prstClr val="white"/>
                </a:solidFill>
              </a:rPr>
              <a:t>하둡 서비스 </a:t>
            </a:r>
            <a:r>
              <a:rPr kumimoji="0" lang="ko-KR" altLang="en-US" sz="3000" b="1" smtClean="0">
                <a:solidFill>
                  <a:prstClr val="white"/>
                </a:solidFill>
              </a:rPr>
              <a:t>시작하기</a:t>
            </a:r>
            <a:endParaRPr kumimoji="0" lang="ko-KR" altLang="en-US" sz="3000" b="1" dirty="0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1685398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>
                <a:solidFill>
                  <a:prstClr val="black"/>
                </a:solidFill>
              </a:rPr>
              <a:t>머신별 역할</a:t>
            </a:r>
            <a:endParaRPr lang="ko-KR" altLang="en-US" b="1" dirty="0">
              <a:solidFill>
                <a:prstClr val="black"/>
              </a:solidFill>
            </a:endParaRPr>
          </a:p>
        </p:txBody>
      </p:sp>
      <p:sp>
        <p:nvSpPr>
          <p:cNvPr id="25" name="빗면 24"/>
          <p:cNvSpPr/>
          <p:nvPr/>
        </p:nvSpPr>
        <p:spPr>
          <a:xfrm>
            <a:off x="706211" y="1808820"/>
            <a:ext cx="4066608" cy="2340260"/>
          </a:xfrm>
          <a:prstGeom prst="bevel">
            <a:avLst>
              <a:gd name="adj" fmla="val 3505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빗면 29"/>
          <p:cNvSpPr/>
          <p:nvPr/>
        </p:nvSpPr>
        <p:spPr>
          <a:xfrm>
            <a:off x="706211" y="4167057"/>
            <a:ext cx="4066608" cy="2340260"/>
          </a:xfrm>
          <a:prstGeom prst="bevel">
            <a:avLst>
              <a:gd name="adj" fmla="val 3505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빗면 30"/>
          <p:cNvSpPr/>
          <p:nvPr/>
        </p:nvSpPr>
        <p:spPr>
          <a:xfrm>
            <a:off x="5241032" y="1808820"/>
            <a:ext cx="4066608" cy="2340260"/>
          </a:xfrm>
          <a:prstGeom prst="bevel">
            <a:avLst>
              <a:gd name="adj" fmla="val 3505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빗면 31"/>
          <p:cNvSpPr/>
          <p:nvPr/>
        </p:nvSpPr>
        <p:spPr>
          <a:xfrm>
            <a:off x="5241032" y="4149080"/>
            <a:ext cx="4066608" cy="2340260"/>
          </a:xfrm>
          <a:prstGeom prst="bevel">
            <a:avLst>
              <a:gd name="adj" fmla="val 3505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380008" y="1388089"/>
            <a:ext cx="2807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smtClean="0"/>
              <a:t>[ 2</a:t>
            </a:r>
            <a:r>
              <a:rPr lang="ko-KR" altLang="en-US" b="1" smtClean="0"/>
              <a:t>번 머신 </a:t>
            </a:r>
            <a:r>
              <a:rPr lang="en-US" altLang="ko-KR" b="1" smtClean="0"/>
              <a:t>: namenode ]</a:t>
            </a:r>
            <a:endParaRPr lang="ko-KR" altLang="en-US" b="1"/>
          </a:p>
        </p:txBody>
      </p:sp>
      <p:sp>
        <p:nvSpPr>
          <p:cNvPr id="33" name="TextBox 32"/>
          <p:cNvSpPr txBox="1"/>
          <p:nvPr/>
        </p:nvSpPr>
        <p:spPr>
          <a:xfrm>
            <a:off x="5870746" y="1388089"/>
            <a:ext cx="2975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smtClean="0"/>
              <a:t>[ 3</a:t>
            </a:r>
            <a:r>
              <a:rPr lang="ko-KR" altLang="en-US" b="1" smtClean="0"/>
              <a:t>번 머신 </a:t>
            </a:r>
            <a:r>
              <a:rPr lang="en-US" altLang="ko-KR" b="1" smtClean="0"/>
              <a:t>: secondnode ]</a:t>
            </a:r>
            <a:endParaRPr lang="ko-KR" altLang="en-US" b="1"/>
          </a:p>
        </p:txBody>
      </p:sp>
      <p:sp>
        <p:nvSpPr>
          <p:cNvPr id="4" name="원통 3"/>
          <p:cNvSpPr/>
          <p:nvPr/>
        </p:nvSpPr>
        <p:spPr>
          <a:xfrm>
            <a:off x="956556" y="2482387"/>
            <a:ext cx="1440160" cy="92628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Namenode</a:t>
            </a:r>
            <a:endParaRPr lang="ko-KR" altLang="en-US"/>
          </a:p>
        </p:txBody>
      </p:sp>
      <p:sp>
        <p:nvSpPr>
          <p:cNvPr id="34" name="원통 33"/>
          <p:cNvSpPr/>
          <p:nvPr/>
        </p:nvSpPr>
        <p:spPr>
          <a:xfrm>
            <a:off x="5601072" y="2482387"/>
            <a:ext cx="1440160" cy="92628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Secondary</a:t>
            </a:r>
          </a:p>
          <a:p>
            <a:pPr algn="ctr"/>
            <a:r>
              <a:rPr lang="en-US" altLang="ko-KR" smtClean="0"/>
              <a:t>Namenode</a:t>
            </a:r>
            <a:endParaRPr lang="ko-KR" altLang="en-US"/>
          </a:p>
        </p:txBody>
      </p:sp>
      <p:sp>
        <p:nvSpPr>
          <p:cNvPr id="35" name="원통 34"/>
          <p:cNvSpPr/>
          <p:nvPr/>
        </p:nvSpPr>
        <p:spPr>
          <a:xfrm>
            <a:off x="956556" y="4822647"/>
            <a:ext cx="1440160" cy="92628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Datanode</a:t>
            </a:r>
            <a:endParaRPr lang="ko-KR" altLang="en-US"/>
          </a:p>
        </p:txBody>
      </p:sp>
      <p:sp>
        <p:nvSpPr>
          <p:cNvPr id="36" name="원통 35"/>
          <p:cNvSpPr/>
          <p:nvPr/>
        </p:nvSpPr>
        <p:spPr>
          <a:xfrm>
            <a:off x="5601072" y="4822647"/>
            <a:ext cx="1440160" cy="92628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Datanode</a:t>
            </a: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407367" y="3661869"/>
            <a:ext cx="2664296" cy="3188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namenode.hadoop.kr</a:t>
            </a:r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6026345" y="3669424"/>
            <a:ext cx="2664296" cy="3188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secondnode.hadoop.kr</a:t>
            </a:r>
            <a:endParaRPr lang="ko-KR" altLang="en-US"/>
          </a:p>
        </p:txBody>
      </p:sp>
      <p:sp>
        <p:nvSpPr>
          <p:cNvPr id="38" name="직사각형 37"/>
          <p:cNvSpPr/>
          <p:nvPr/>
        </p:nvSpPr>
        <p:spPr>
          <a:xfrm>
            <a:off x="1380008" y="6002129"/>
            <a:ext cx="2664296" cy="3188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datanode1.hadoop.kr</a:t>
            </a:r>
            <a:endParaRPr lang="ko-KR" altLang="en-US"/>
          </a:p>
        </p:txBody>
      </p:sp>
      <p:sp>
        <p:nvSpPr>
          <p:cNvPr id="39" name="직사각형 38"/>
          <p:cNvSpPr/>
          <p:nvPr/>
        </p:nvSpPr>
        <p:spPr>
          <a:xfrm>
            <a:off x="6030858" y="6002128"/>
            <a:ext cx="2664296" cy="3188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datanode2.hadoop.kr</a:t>
            </a:r>
            <a:endParaRPr lang="ko-KR" altLang="en-US"/>
          </a:p>
        </p:txBody>
      </p:sp>
      <p:sp>
        <p:nvSpPr>
          <p:cNvPr id="8" name="오각형 7"/>
          <p:cNvSpPr/>
          <p:nvPr/>
        </p:nvSpPr>
        <p:spPr>
          <a:xfrm>
            <a:off x="7452012" y="2671490"/>
            <a:ext cx="1440160" cy="807761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2"/>
                </a:solidFill>
              </a:rPr>
              <a:t>Resource</a:t>
            </a:r>
          </a:p>
          <a:p>
            <a:pPr algn="ctr"/>
            <a:r>
              <a:rPr lang="en-US" altLang="ko-KR" smtClean="0">
                <a:solidFill>
                  <a:schemeClr val="tx2"/>
                </a:solidFill>
              </a:rPr>
              <a:t>Manager</a:t>
            </a:r>
            <a:endParaRPr lang="ko-KR" altLang="en-US">
              <a:solidFill>
                <a:schemeClr val="tx2"/>
              </a:solidFill>
            </a:endParaRPr>
          </a:p>
        </p:txBody>
      </p:sp>
      <p:sp>
        <p:nvSpPr>
          <p:cNvPr id="40" name="오각형 39"/>
          <p:cNvSpPr/>
          <p:nvPr/>
        </p:nvSpPr>
        <p:spPr>
          <a:xfrm>
            <a:off x="2864687" y="5067768"/>
            <a:ext cx="1440160" cy="807761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2"/>
                </a:solidFill>
              </a:rPr>
              <a:t>Node</a:t>
            </a:r>
          </a:p>
          <a:p>
            <a:pPr algn="ctr"/>
            <a:r>
              <a:rPr lang="en-US" altLang="ko-KR" smtClean="0">
                <a:solidFill>
                  <a:schemeClr val="tx2"/>
                </a:solidFill>
              </a:rPr>
              <a:t>Manager</a:t>
            </a:r>
            <a:endParaRPr lang="ko-KR" altLang="en-US">
              <a:solidFill>
                <a:schemeClr val="tx2"/>
              </a:solidFill>
            </a:endParaRPr>
          </a:p>
        </p:txBody>
      </p:sp>
      <p:sp>
        <p:nvSpPr>
          <p:cNvPr id="41" name="오각형 40"/>
          <p:cNvSpPr/>
          <p:nvPr/>
        </p:nvSpPr>
        <p:spPr>
          <a:xfrm>
            <a:off x="7452012" y="5011750"/>
            <a:ext cx="1440160" cy="807761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mtClean="0">
                <a:solidFill>
                  <a:schemeClr val="tx2"/>
                </a:solidFill>
              </a:rPr>
              <a:t>Node</a:t>
            </a:r>
          </a:p>
          <a:p>
            <a:pPr algn="ctr"/>
            <a:r>
              <a:rPr lang="en-US" altLang="ko-KR" smtClean="0">
                <a:solidFill>
                  <a:schemeClr val="tx2"/>
                </a:solidFill>
              </a:rPr>
              <a:t>Manager</a:t>
            </a:r>
            <a:endParaRPr lang="ko-KR" altLang="en-US">
              <a:solidFill>
                <a:schemeClr val="tx2"/>
              </a:solidFill>
            </a:endParaRPr>
          </a:p>
        </p:txBody>
      </p:sp>
      <p:sp>
        <p:nvSpPr>
          <p:cNvPr id="11" name="순서도: 다중 문서 10"/>
          <p:cNvSpPr/>
          <p:nvPr/>
        </p:nvSpPr>
        <p:spPr>
          <a:xfrm>
            <a:off x="2848029" y="2074620"/>
            <a:ext cx="1475322" cy="963442"/>
          </a:xfrm>
          <a:prstGeom prst="flowChartMultidocumen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JobHistory</a:t>
            </a:r>
          </a:p>
          <a:p>
            <a:pPr algn="ctr"/>
            <a:r>
              <a:rPr lang="en-US" altLang="ko-KR" smtClean="0"/>
              <a:t>Server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444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10. </a:t>
            </a:r>
            <a:r>
              <a:rPr kumimoji="0" lang="ko-KR" altLang="en-US" sz="3000" b="1">
                <a:solidFill>
                  <a:prstClr val="white"/>
                </a:solidFill>
              </a:rPr>
              <a:t>하둡 서비스 시작하기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641300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>
                <a:solidFill>
                  <a:prstClr val="black"/>
                </a:solidFill>
              </a:rPr>
              <a:t>1. HDFS </a:t>
            </a:r>
            <a:r>
              <a:rPr lang="ko-KR" altLang="en-US" b="1">
                <a:solidFill>
                  <a:prstClr val="black"/>
                </a:solidFill>
              </a:rPr>
              <a:t>서비스 시작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54319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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머신에서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머신으로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접속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[1]$ ssh namenode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호스트명 반드시 확인하세요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!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[2]$ hostname 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자바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프로세스 조회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[3]$ jps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HDFS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서비스 시작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[4]$ hadoop/sbin/start-dfs.sh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머신에서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HDFS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자바 데몬 확인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[5]$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jps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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머신에서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머신으로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접속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[6]$ ssh secondnode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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머신에서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HDFS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자바 데몬 확인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[7]$ jps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&lt;- 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로그아웃하여 다시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머신으로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[8]$ exit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&lt;-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로그아웃하여 다시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머신으로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[9]$ exit</a:t>
            </a:r>
          </a:p>
        </p:txBody>
      </p:sp>
      <p:sp>
        <p:nvSpPr>
          <p:cNvPr id="8" name="타원형 설명선 7"/>
          <p:cNvSpPr/>
          <p:nvPr/>
        </p:nvSpPr>
        <p:spPr>
          <a:xfrm>
            <a:off x="5709084" y="4617132"/>
            <a:ext cx="3996444" cy="2016224"/>
          </a:xfrm>
          <a:prstGeom prst="wedgeEllipseCallout">
            <a:avLst>
              <a:gd name="adj1" fmla="val -52513"/>
              <a:gd name="adj2" fmla="val -6249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[NOTE] </a:t>
            </a:r>
            <a:endParaRPr lang="en-US" altLang="ko-KR" sz="14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HDFS </a:t>
            </a:r>
            <a:r>
              <a:rPr lang="ko-KR" altLang="en-US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서비스 시작과 종료는 네임노드에서 해야 함</a:t>
            </a:r>
          </a:p>
        </p:txBody>
      </p:sp>
      <p:sp>
        <p:nvSpPr>
          <p:cNvPr id="9" name="빗면 8"/>
          <p:cNvSpPr/>
          <p:nvPr/>
        </p:nvSpPr>
        <p:spPr>
          <a:xfrm>
            <a:off x="6213141" y="1232756"/>
            <a:ext cx="3197694" cy="800732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/>
              <a:t>HD2-Namenode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80713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10. </a:t>
            </a:r>
            <a:r>
              <a:rPr kumimoji="0" lang="ko-KR" altLang="en-US" sz="3000" b="1">
                <a:solidFill>
                  <a:prstClr val="white"/>
                </a:solidFill>
              </a:rPr>
              <a:t>하둡 서비스 시작하기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641300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>
                <a:solidFill>
                  <a:prstClr val="black"/>
                </a:solidFill>
              </a:rPr>
              <a:t>1. HDFS </a:t>
            </a:r>
            <a:r>
              <a:rPr lang="ko-KR" altLang="en-US" b="1">
                <a:solidFill>
                  <a:prstClr val="black"/>
                </a:solidFill>
              </a:rPr>
              <a:t>서비스 시작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93367" y="1376772"/>
            <a:ext cx="4747665" cy="4408582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[hadoop@client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ssh namenode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Last login: Wed Jun  7 14:33:51 2017 from client.hadoop.kr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[hadoop@namenode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hostname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namenode.hadoop.kr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[hadoop@namenode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1227 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[hadoop@namenode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hadoop/sbin/start-dfs.sh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Starting namenodes on [namenode.hadoop.kr]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namenode.hadoop.kr: starting namenode, logging to /home/hadoop/hadoop/logs/hadoop-hadoop-namenode-namenode.hadoop.kr.out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datanode1.hadoop.kr: starting datanode, logging to /home/hadoop/hadoop/logs/hadoop-hadoop-datanode-namenode.hadoop.kr.out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datanode2.hadoop.kr: starting datanode, logging to /home/hadoop/hadoop/logs/hadoop-hadoop-datanode-secondnode.hadoop.kr.out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Starting secondary namenodes [secondnode.hadoop.kr]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secondnode.hadoop.kr: starting secondarynamenode, logging to /home/hadoop/hadoop/logs/hadoop-hadoop-secondarynamenode-secondnode.hadoop.kr.out</a:t>
            </a:r>
            <a:endParaRPr lang="en-US" altLang="ko-KR" sz="800" b="1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493060" y="1464488"/>
            <a:ext cx="3888432" cy="4605559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[hadoop@namenode ~]$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 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2017 NameNode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2326 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2139 DataNode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[hadoop@namenode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ssh secondnode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Last login: Thu Jun  1 18:02:47 2017 from secondnode.hadoop.kr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[hadoop@secondnode ~]$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 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1294 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1147 DataNode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1235 SecondaryNameNode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[hadoop@secondnode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exit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logout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Connection to secondnode closed.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[hadoop@namenode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exit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logout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Connection to namenode closed.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[hadoop@client ~]$</a:t>
            </a:r>
            <a:endParaRPr lang="en-US" altLang="ko-KR" sz="1400" b="1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7723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10. </a:t>
            </a:r>
            <a:r>
              <a:rPr kumimoji="0" lang="ko-KR" altLang="en-US" sz="3000" b="1">
                <a:solidFill>
                  <a:prstClr val="white"/>
                </a:solidFill>
              </a:rPr>
              <a:t>하둡 서비스 시작하기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641300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>
                <a:solidFill>
                  <a:prstClr val="black"/>
                </a:solidFill>
              </a:rPr>
              <a:t>2. YARN </a:t>
            </a:r>
            <a:r>
              <a:rPr lang="ko-KR" altLang="en-US" b="1">
                <a:solidFill>
                  <a:prstClr val="black"/>
                </a:solidFill>
              </a:rPr>
              <a:t>서비스 시작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54319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-&gt; 1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머신에서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3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머신으로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SSH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접속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[1]$ ssh secondnode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-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호스트명 반드시 확인하세요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!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[2]$ hostname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-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자바 프로세스 조회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[3]$ jps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-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YARN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서비스 시작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[4]$ hadoop/sbin/start-yarn.sh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-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3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머신에서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YARN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자바 데몬 확인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[5]$ jps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-&gt;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3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머신에서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2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머신으로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SSH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접속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[6]$ ssh namenode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-&gt;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2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머신에서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HDFS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자바 데몬 확인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[7]$ jps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&lt;-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로그아웃하여 다시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3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머신으로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[8]$ exit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&lt;-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로그아웃하여 다시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1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번 머신으로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[9]$ exit</a:t>
            </a: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타원형 설명선 7"/>
          <p:cNvSpPr/>
          <p:nvPr/>
        </p:nvSpPr>
        <p:spPr>
          <a:xfrm>
            <a:off x="5709084" y="4617132"/>
            <a:ext cx="3996444" cy="2016224"/>
          </a:xfrm>
          <a:prstGeom prst="wedgeEllipseCallout">
            <a:avLst>
              <a:gd name="adj1" fmla="val -52513"/>
              <a:gd name="adj2" fmla="val -6249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[NOTE]</a:t>
            </a:r>
          </a:p>
          <a:p>
            <a:pPr algn="ctr" latinLnBrk="0">
              <a:spcBef>
                <a:spcPct val="30000"/>
              </a:spcBef>
            </a:pPr>
            <a:r>
              <a:rPr lang="en-US" altLang="ko-KR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YARN </a:t>
            </a:r>
            <a:r>
              <a:rPr lang="ko-KR" altLang="en-US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서비스 시작과 종료는 리소스매니저 노드에서 해야 함</a:t>
            </a:r>
          </a:p>
        </p:txBody>
      </p:sp>
      <p:sp>
        <p:nvSpPr>
          <p:cNvPr id="7" name="빗면 6"/>
          <p:cNvSpPr/>
          <p:nvPr/>
        </p:nvSpPr>
        <p:spPr>
          <a:xfrm>
            <a:off x="6874889" y="1297060"/>
            <a:ext cx="2535945" cy="736428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/>
              <a:t>HD3-Second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878212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10. </a:t>
            </a:r>
            <a:r>
              <a:rPr kumimoji="0" lang="ko-KR" altLang="en-US" sz="3000" b="1">
                <a:solidFill>
                  <a:prstClr val="white"/>
                </a:solidFill>
              </a:rPr>
              <a:t>하둡 서비스 시작하기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641300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>
                <a:solidFill>
                  <a:prstClr val="black"/>
                </a:solidFill>
              </a:rPr>
              <a:t>2. YARN </a:t>
            </a:r>
            <a:r>
              <a:rPr lang="ko-KR" altLang="en-US" b="1">
                <a:solidFill>
                  <a:prstClr val="black"/>
                </a:solidFill>
              </a:rPr>
              <a:t>서비스 시작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93367" y="1376772"/>
            <a:ext cx="4747665" cy="4343949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[hadoop@client ~]$ 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ssh secondnode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Last login: Wed Jun  7 14:49:54 2017 from namenode.hadoop.kr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[hadoop@secondnode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hostname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secondnode.hadoop.kr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[hadoop@secondnode ~]$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 jps</a:t>
            </a:r>
            <a:endParaRPr lang="en-US" altLang="ko-KR" sz="1050" b="1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1424 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1147 DataNode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1235 SecondaryNameNode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[hadoop@secondnode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hadoop/sbin/start-yarn.sh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starting yarn daemons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starting resourcemanager, logging to /home/hadoop/hadoop/logs/yarn-hadoop-resourcemanager-secondnode.hadoop.kr.out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datanode1.hadoop.kr: starting nodemanager, logging to /home/hadoop/hadoop/logs/yarn-hadoop-nodemanager-namenode.hadoop.kr.out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datanode2.hadoop.kr: starting nodemanager, logging to /home/hadoop/hadoop/logs/yarn-hadoop-nodemanager-secondnode.hadoop.kr.out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05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05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493060" y="1464488"/>
            <a:ext cx="3888432" cy="5445789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[hadoop@secondnode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1700 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1147 DataNode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1560 NodeManager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1235 SecondaryNameNode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1466 ResourceManager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[hadoop@secondnode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ssh namenode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Last login: Wed Jun  7 14:42:54 2017 from client.hadoop.kr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[hadoop@namenode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jps</a:t>
            </a:r>
            <a:endParaRPr lang="en-US" altLang="ko-KR" sz="1100" b="1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2017 NameNode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2557 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2427 NodeManager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2139 DataNode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[hadoop@namenode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exit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logout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Connection to namenode closed.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[hadoop@secondnode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exit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logout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Connection to secondnode closed.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[hadoop@client ~]$</a:t>
            </a:r>
            <a:endParaRPr lang="en-US" altLang="ko-KR" sz="1400" b="1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6624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10. </a:t>
            </a:r>
            <a:r>
              <a:rPr kumimoji="0" lang="ko-KR" altLang="en-US" sz="3000" b="1">
                <a:solidFill>
                  <a:prstClr val="white"/>
                </a:solidFill>
              </a:rPr>
              <a:t>하둡 서비스 시작하기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330207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>
                <a:solidFill>
                  <a:prstClr val="black"/>
                </a:solidFill>
              </a:rPr>
              <a:t>3. MapReduce </a:t>
            </a:r>
            <a:r>
              <a:rPr lang="ko-KR" altLang="en-US" b="1">
                <a:solidFill>
                  <a:prstClr val="black"/>
                </a:solidFill>
              </a:rPr>
              <a:t>서비스 시작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393152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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머신에서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머신으로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접속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[1]$ ssh namenode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호스트명 반드시 확인하세요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!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[2]$ hostname 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자바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프로세스 조회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[3]$ jps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잡히스토리 서버 시작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[4]$ hadoop/sbin/mr-jobhistory-daemon.sh start historyserver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머신에서 잡히스토리 서버 데몬 확인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[5]$ jps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&lt;-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로그아웃하여 다시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머신으로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[6]$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exit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타원형 설명선 7"/>
          <p:cNvSpPr/>
          <p:nvPr/>
        </p:nvSpPr>
        <p:spPr>
          <a:xfrm>
            <a:off x="5709084" y="4617132"/>
            <a:ext cx="3996444" cy="2016224"/>
          </a:xfrm>
          <a:prstGeom prst="wedgeEllipseCallout">
            <a:avLst>
              <a:gd name="adj1" fmla="val -52513"/>
              <a:gd name="adj2" fmla="val -6249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[NOTE] </a:t>
            </a:r>
            <a:endParaRPr lang="en-US" altLang="ko-KR" sz="14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ko-KR" altLang="en-US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잡히스토리 서버 시작과 종료는 </a:t>
            </a:r>
            <a:r>
              <a:rPr lang="ko-KR" altLang="en-US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네임노드에서</a:t>
            </a:r>
            <a:endParaRPr lang="ko-KR" altLang="en-US" sz="14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빗면 8"/>
          <p:cNvSpPr/>
          <p:nvPr/>
        </p:nvSpPr>
        <p:spPr>
          <a:xfrm>
            <a:off x="6213141" y="1232756"/>
            <a:ext cx="3197694" cy="800732"/>
          </a:xfrm>
          <a:prstGeom prst="bevel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smtClean="0"/>
              <a:t>HD2-Namenode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87050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10. </a:t>
            </a:r>
            <a:r>
              <a:rPr kumimoji="0" lang="ko-KR" altLang="en-US" sz="3000" b="1">
                <a:solidFill>
                  <a:prstClr val="white"/>
                </a:solidFill>
              </a:rPr>
              <a:t>하둡 서비스 </a:t>
            </a:r>
            <a:r>
              <a:rPr kumimoji="0" lang="ko-KR" altLang="en-US" sz="3000" b="1" smtClean="0">
                <a:solidFill>
                  <a:prstClr val="white"/>
                </a:solidFill>
              </a:rPr>
              <a:t>시작하기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330207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>
                <a:solidFill>
                  <a:prstClr val="black"/>
                </a:solidFill>
              </a:rPr>
              <a:t>3. MapReduce </a:t>
            </a:r>
            <a:r>
              <a:rPr lang="ko-KR" altLang="en-US" b="1">
                <a:solidFill>
                  <a:prstClr val="black"/>
                </a:solidFill>
              </a:rPr>
              <a:t>서비스 시작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93367" y="1376772"/>
            <a:ext cx="4747665" cy="3072832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[hadoop@client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ssh namenode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Last login: Wed Jun  7 14:33:51 2017 from client.hadoop.kr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[hadoop@namenode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hostname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namenode.hadoop.kr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[hadoop@namenode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1227 Jps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050" smtClean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[hadoop@namenode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hadoop/sbin/mr-jobhistory-daemon.sh start historyserver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50">
                <a:latin typeface="맑은 고딕" pitchFamily="50" charset="-127"/>
                <a:ea typeface="맑은 고딕" pitchFamily="50" charset="-127"/>
              </a:rPr>
              <a:t>starting historyserver, logging to /home/hadoop/hadoop/logs/mapred-hadoop-historyserver-namenode.hadoop.kr.out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05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05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493060" y="3011676"/>
            <a:ext cx="3888432" cy="2875855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10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hadoop@namenode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jps</a:t>
            </a:r>
            <a:endParaRPr lang="en-US" altLang="ko-KR" sz="1100" b="1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2017 NameNode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2645 JobHistoryServer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2709 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2427 NodeManager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2139 </a:t>
            </a:r>
            <a:r>
              <a:rPr lang="en-US" altLang="ko-KR" sz="1400" b="1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DataNode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100" smtClean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smtClean="0">
                <a:latin typeface="맑은 고딕" pitchFamily="50" charset="-127"/>
                <a:ea typeface="맑은 고딕" pitchFamily="50" charset="-127"/>
              </a:rPr>
              <a:t>[hadoop@namenode </a:t>
            </a: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exit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logout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Connection to namenode closed.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10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100">
                <a:latin typeface="맑은 고딕" pitchFamily="50" charset="-127"/>
                <a:ea typeface="맑은 고딕" pitchFamily="50" charset="-127"/>
              </a:rPr>
              <a:t>hadoop@client ~]$</a:t>
            </a:r>
            <a:endParaRPr lang="en-US" altLang="ko-KR" sz="1400" b="1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7961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11. </a:t>
            </a:r>
            <a:r>
              <a:rPr kumimoji="0" lang="en-US" altLang="ko-KR" sz="3000" b="1">
                <a:solidFill>
                  <a:prstClr val="white"/>
                </a:solidFill>
              </a:rPr>
              <a:t>HDFS </a:t>
            </a:r>
            <a:r>
              <a:rPr kumimoji="0" lang="ko-KR" altLang="en-US" sz="3000" b="1">
                <a:solidFill>
                  <a:prstClr val="white"/>
                </a:solidFill>
              </a:rPr>
              <a:t>테스트하기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283830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>
                <a:solidFill>
                  <a:prstClr val="black"/>
                </a:solidFill>
              </a:rPr>
              <a:t>HDFS </a:t>
            </a:r>
            <a:r>
              <a:rPr lang="ko-KR" altLang="en-US" b="1">
                <a:solidFill>
                  <a:prstClr val="black"/>
                </a:solidFill>
              </a:rPr>
              <a:t>테스트하기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2731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[1]$ hostname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2]$  hadoop  fs  -lsr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/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hdfs dfs -chmod 777 /tmp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hdfs dfs -mkdir /user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hdfs dfs -mkdir /user/hadoop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echo 'test' &gt; test.txt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hdfs dfs -put test.txt /user/hadoop/hadooptest.txt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hdfs dfs -ls -R /user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hdfs dfs -ls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93367" y="4071968"/>
            <a:ext cx="8820980" cy="2555767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[hadoop@client ~]$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hostname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client.hadoop.kr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[hadoop@client ~]$  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hadoop  fs  -lsr /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lsr: DEPRECATED: Please use 'ls -R' instead.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drwxrwx---   - hadoop supergroup          0 2017-06-07 15:13 /tmp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drwxrwx---   - hadoop supergroup          0 2017-06-07 15:13 /tmp/hadoop-yarn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drwxrwx---   - hadoop supergroup          0 2017-06-07 15:13 /tmp/hadoop-yarn/staging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drwxrwx---   - hadoop supergroup          0 2017-06-07 15:13 /tmp/hadoop-yarn/staging/history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drwxrwx---   - hadoop supergroup          0 2017-06-07 15:13 /tmp/hadoop-yarn/staging/history/done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drwxrwxrwt   - hadoop supergroup          0 2017-06-07 15:13 /tmp/hadoop-yarn/staging/history/done_intermediate</a:t>
            </a:r>
            <a:endParaRPr lang="en-US" altLang="ko-KR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타원형 설명선 5"/>
          <p:cNvSpPr/>
          <p:nvPr/>
        </p:nvSpPr>
        <p:spPr>
          <a:xfrm>
            <a:off x="5824616" y="2343776"/>
            <a:ext cx="3240360" cy="1728192"/>
          </a:xfrm>
          <a:prstGeom prst="wedgeEllipseCallout">
            <a:avLst>
              <a:gd name="adj1" fmla="val -52513"/>
              <a:gd name="adj2" fmla="val 5817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[NOTE] </a:t>
            </a:r>
            <a:endParaRPr lang="en-US" altLang="ko-KR" sz="14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ko-KR" altLang="en-US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하둡 </a:t>
            </a: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HDFS, MapReduce </a:t>
            </a:r>
            <a:r>
              <a:rPr lang="ko-KR" altLang="en-US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테스트는 클라이언트 노드에서</a:t>
            </a:r>
          </a:p>
        </p:txBody>
      </p:sp>
      <p:sp>
        <p:nvSpPr>
          <p:cNvPr id="8" name="빗면 7"/>
          <p:cNvSpPr/>
          <p:nvPr/>
        </p:nvSpPr>
        <p:spPr>
          <a:xfrm>
            <a:off x="6874889" y="1297060"/>
            <a:ext cx="2535945" cy="73642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HD1-Client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6861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11. HDFS </a:t>
            </a:r>
            <a:r>
              <a:rPr kumimoji="0" lang="ko-KR" altLang="en-US" sz="3000" b="1">
                <a:solidFill>
                  <a:prstClr val="white"/>
                </a:solidFill>
              </a:rPr>
              <a:t>테스트하기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283830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>
                <a:solidFill>
                  <a:prstClr val="black"/>
                </a:solidFill>
              </a:rPr>
              <a:t>HDFS </a:t>
            </a:r>
            <a:r>
              <a:rPr lang="ko-KR" altLang="en-US" b="1">
                <a:solidFill>
                  <a:prstClr val="black"/>
                </a:solidFill>
              </a:rPr>
              <a:t>테스트하기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93367" y="1417845"/>
            <a:ext cx="8820980" cy="3275964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[hadoop@client ~]$      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hdfs dfs -chmod 777 /tmp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[hadoop@client ~]$      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hdfs dfs -mkdir /user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[hadoop@client ~]$      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hdfs dfs -mkdir /user/hadoop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[hadoop@client ~]$      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echo 'test' &gt; test.txt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[hadoop@client ~]$      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hdfs dfs -put test.txt /user/hadoop/hadooptest.txt</a:t>
            </a:r>
            <a:endParaRPr lang="en-US" altLang="ko-KR" sz="1200" b="1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[hadoop@client ~]$      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hdfs dfs -ls -R /user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drwxr-xr-x   - hadoop supergroup          0 2017-06-07 15:20 /user/hadoop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-rw-r--r--   1 hadoop supergroup          5 2017-06-07 15:20 /user/hadoop/hadooptest.txt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[hadoop@client ~]$      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hdfs dfs -ls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Found 1 items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-rw-r--r--   1 hadoop supergroup          5 2017-06-07 15:20 hadooptest.txt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[hadoop@client ~]$</a:t>
            </a:r>
            <a:endParaRPr lang="en-US" altLang="ko-KR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가로로 말린 두루마리 모양 7"/>
          <p:cNvSpPr/>
          <p:nvPr/>
        </p:nvSpPr>
        <p:spPr>
          <a:xfrm>
            <a:off x="2228290" y="4547031"/>
            <a:ext cx="5351134" cy="2230341"/>
          </a:xfrm>
          <a:prstGeom prst="horizont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6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6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NOTE]</a:t>
            </a:r>
          </a:p>
          <a:p>
            <a:pPr algn="ctr" latinLnBrk="0">
              <a:spcBef>
                <a:spcPct val="30000"/>
              </a:spcBef>
            </a:pPr>
            <a:r>
              <a:rPr lang="en-US" altLang="ko-KR" sz="16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put get </a:t>
            </a:r>
            <a:r>
              <a:rPr lang="ko-KR" altLang="en-US" sz="16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명령어는</a:t>
            </a:r>
            <a:endParaRPr lang="en-US" altLang="ko-KR" sz="16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en-US" altLang="ko-KR" sz="16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[Source] [Target]</a:t>
            </a:r>
            <a:r>
              <a:rPr lang="ko-KR" altLang="en-US" sz="16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을</a:t>
            </a:r>
            <a:endParaRPr lang="en-US" altLang="ko-KR" sz="16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ko-KR" altLang="en-US" sz="16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둘 다 반드시 지정해야 함</a:t>
            </a:r>
            <a:endParaRPr lang="ko-KR" altLang="en-US" sz="16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5629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12. Pig</a:t>
            </a:r>
            <a:r>
              <a:rPr kumimoji="0" lang="ko-KR" altLang="en-US" sz="3000" b="1" smtClean="0">
                <a:solidFill>
                  <a:prstClr val="white"/>
                </a:solidFill>
              </a:rPr>
              <a:t>로 </a:t>
            </a:r>
            <a:r>
              <a:rPr kumimoji="0" lang="ko-KR" altLang="en-US" sz="3000" b="1">
                <a:solidFill>
                  <a:prstClr val="white"/>
                </a:solidFill>
              </a:rPr>
              <a:t>테스트하기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874137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>
                <a:solidFill>
                  <a:prstClr val="black"/>
                </a:solidFill>
              </a:rPr>
              <a:t>Pig</a:t>
            </a:r>
            <a:r>
              <a:rPr lang="ko-KR" altLang="en-US" b="1" smtClean="0">
                <a:solidFill>
                  <a:prstClr val="black"/>
                </a:solidFill>
              </a:rPr>
              <a:t>로 </a:t>
            </a:r>
            <a:r>
              <a:rPr lang="en-US" altLang="ko-KR" b="1" smtClean="0">
                <a:solidFill>
                  <a:prstClr val="black"/>
                </a:solidFill>
              </a:rPr>
              <a:t>HDFS/MapReduce </a:t>
            </a:r>
            <a:r>
              <a:rPr lang="ko-KR" altLang="en-US" b="1" smtClean="0">
                <a:solidFill>
                  <a:prstClr val="black"/>
                </a:solidFill>
              </a:rPr>
              <a:t>테스트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42316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Pig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는 클라이언트 머신에서 실행함</a:t>
            </a:r>
            <a:endParaRPr lang="ko-KR" altLang="en-US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[1]$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hostname</a:t>
            </a: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Pig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설치 확인</a:t>
            </a: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[2]$ ln -s  pig-0.16.0  pig 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테스트용 파일 만들어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HDFS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에 올리기</a:t>
            </a: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[3]$ echo 'aaa,100' &gt; pig.txt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 echo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'bbb,200' &gt;&gt; pig.txt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 echo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'ccc,300' &gt;&gt; pig.txt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 echo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'aaa,400' &gt;&gt; pig.txt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4]$ hdfs dfs -put  pig.txt  /user/hadoop/pig.txt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5]$ hdfs dfs -ls  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6]$ hdfs dfs -cat   pig.txt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Pig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의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CLI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인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Grunt </a:t>
            </a:r>
            <a:r>
              <a:rPr lang="ko-KR" altLang="en-US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쉘에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접속하기</a:t>
            </a:r>
            <a:endParaRPr lang="en-US" altLang="ko-KR" sz="15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7]$ pig</a:t>
            </a:r>
          </a:p>
        </p:txBody>
      </p:sp>
      <p:sp>
        <p:nvSpPr>
          <p:cNvPr id="5" name="빗면 4"/>
          <p:cNvSpPr/>
          <p:nvPr/>
        </p:nvSpPr>
        <p:spPr>
          <a:xfrm>
            <a:off x="6874889" y="1297060"/>
            <a:ext cx="2535945" cy="736428"/>
          </a:xfrm>
          <a:prstGeom prst="beve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/>
              <a:t>HD1-Client</a:t>
            </a:r>
            <a:endParaRPr lang="ko-KR" altLang="en-US" sz="2400" dirty="0"/>
          </a:p>
        </p:txBody>
      </p:sp>
      <p:sp>
        <p:nvSpPr>
          <p:cNvPr id="6" name="타원형 설명선 5"/>
          <p:cNvSpPr/>
          <p:nvPr/>
        </p:nvSpPr>
        <p:spPr>
          <a:xfrm>
            <a:off x="4520952" y="4240231"/>
            <a:ext cx="4896544" cy="1728192"/>
          </a:xfrm>
          <a:prstGeom prst="wedgeEllipseCallout">
            <a:avLst>
              <a:gd name="adj1" fmla="val -52513"/>
              <a:gd name="adj2" fmla="val 5817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[NOTE] </a:t>
            </a:r>
            <a:endParaRPr lang="en-US" altLang="ko-KR" sz="14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en-US" altLang="ko-KR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Pig</a:t>
            </a:r>
            <a:r>
              <a:rPr lang="ko-KR" altLang="en-US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와 </a:t>
            </a:r>
            <a:r>
              <a:rPr lang="en-US" altLang="ko-KR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Hive</a:t>
            </a:r>
            <a:r>
              <a:rPr lang="ko-KR" altLang="en-US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는</a:t>
            </a:r>
            <a:endParaRPr lang="en-US" altLang="ko-KR" sz="14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ko-KR" altLang="en-US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클라이언트 </a:t>
            </a:r>
            <a:r>
              <a:rPr lang="en-US" altLang="ko-KR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Application</a:t>
            </a:r>
            <a:r>
              <a:rPr lang="ko-KR" altLang="en-US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으로</a:t>
            </a:r>
            <a:endParaRPr lang="en-US" altLang="ko-KR" sz="14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ko-KR" altLang="en-US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하둡이 설치된 모든 머신에서 </a:t>
            </a:r>
            <a:endParaRPr lang="en-US" altLang="ko-KR" sz="14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ko-KR" altLang="en-US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실행할 수 있음</a:t>
            </a:r>
            <a:endParaRPr lang="ko-KR" altLang="en-US" sz="14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6336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12. Pig</a:t>
            </a:r>
            <a:r>
              <a:rPr kumimoji="0" lang="ko-KR" altLang="en-US" sz="3000" b="1">
                <a:solidFill>
                  <a:prstClr val="white"/>
                </a:solidFill>
              </a:rPr>
              <a:t>로 테스트하기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3874137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>
                <a:solidFill>
                  <a:prstClr val="black"/>
                </a:solidFill>
              </a:rPr>
              <a:t>Pig</a:t>
            </a:r>
            <a:r>
              <a:rPr lang="ko-KR" altLang="en-US" b="1">
                <a:solidFill>
                  <a:prstClr val="black"/>
                </a:solidFill>
              </a:rPr>
              <a:t>로 </a:t>
            </a:r>
            <a:r>
              <a:rPr lang="en-US" altLang="ko-KR" b="1">
                <a:solidFill>
                  <a:prstClr val="black"/>
                </a:solidFill>
              </a:rPr>
              <a:t>HDFS/MapReduce </a:t>
            </a:r>
            <a:r>
              <a:rPr lang="ko-KR" altLang="en-US" b="1">
                <a:solidFill>
                  <a:prstClr val="black"/>
                </a:solidFill>
              </a:rPr>
              <a:t>테스트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24508" y="1484784"/>
            <a:ext cx="8820980" cy="4725592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[hadoop@client ~]$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hostname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client.hadoop.kr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[hadoop@client ~]$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ls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apache-hive-1.2.1-bin  </a:t>
            </a:r>
            <a:r>
              <a:rPr lang="en-US" altLang="ko-KR" sz="1000" smtClean="0">
                <a:latin typeface="맑은 고딕" pitchFamily="50" charset="-127"/>
                <a:ea typeface="맑은 고딕" pitchFamily="50" charset="-127"/>
              </a:rPr>
              <a:t>mysql-connector-java-5.1.23-bin.jar bashrc2.txt            org_bashrc  etc_hadoop_2017       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pig        </a:t>
            </a:r>
            <a:r>
              <a:rPr lang="en-US" altLang="ko-KR" sz="1000" smtClean="0">
                <a:latin typeface="맑은 고딕" pitchFamily="50" charset="-127"/>
                <a:ea typeface="맑은 고딕" pitchFamily="50" charset="-127"/>
              </a:rPr>
              <a:t>hadoop                 </a:t>
            </a:r>
            <a:r>
              <a:rPr lang="en-US" altLang="ko-KR" sz="1400" b="1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pig-0.16.0        </a:t>
            </a:r>
            <a:r>
              <a:rPr lang="en-US" altLang="ko-KR" sz="1000" smtClean="0">
                <a:latin typeface="맑은 고딕" pitchFamily="50" charset="-127"/>
                <a:ea typeface="맑은 고딕" pitchFamily="50" charset="-127"/>
              </a:rPr>
              <a:t>hadoop-2.6.4           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spark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hdconf_2017.tgz        spark-1.6.2-bin-hadoop2.6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hive                   </a:t>
            </a:r>
            <a:r>
              <a:rPr lang="en-US" altLang="ko-KR" sz="1000" smtClean="0">
                <a:latin typeface="맑은 고딕" pitchFamily="50" charset="-127"/>
                <a:ea typeface="맑은 고딕" pitchFamily="50" charset="-127"/>
              </a:rPr>
              <a:t>test.txt              hive-1.2.1-site.xml</a:t>
            </a:r>
            <a:endParaRPr lang="en-US" altLang="ko-KR" sz="100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[hadoop@client 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~]$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echo 'aaa,100' &gt; pig.txt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[hadoop@client 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~]$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echo 'bbb,200' &gt;&gt; pig.txt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[hadoop@client 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~]$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echo 'ccc,300' &gt;&gt; pig.txt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[hadoop@client </a:t>
            </a:r>
            <a:r>
              <a:rPr lang="en-US" altLang="ko-KR" sz="1200">
                <a:latin typeface="맑은 고딕" pitchFamily="50" charset="-127"/>
                <a:ea typeface="맑은 고딕" pitchFamily="50" charset="-127"/>
              </a:rPr>
              <a:t>~]$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echo 'aaa,400' &gt;&gt; pig.txt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 smtClean="0">
                <a:latin typeface="맑은 고딕" pitchFamily="50" charset="-127"/>
                <a:ea typeface="맑은 고딕" pitchFamily="50" charset="-127"/>
              </a:rPr>
              <a:t>[hadoop@client 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~]$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hdfs dfs -put  pig.txt  /user/hadoop/pig.txt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smtClean="0">
                <a:latin typeface="맑은 고딕" pitchFamily="50" charset="-127"/>
                <a:ea typeface="맑은 고딕" pitchFamily="50" charset="-127"/>
              </a:rPr>
              <a:t>[hadoop@client 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~]$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hdfs dfs -ls  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Found 2 items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-rw-r--r--   1 hadoop supergroup          5 2017-05-31 13:18 hadooptest.txt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-rw-r--r--   1 hadoop supergroup         32 2017-05-31 13:19 </a:t>
            </a:r>
            <a:r>
              <a:rPr lang="en-US" altLang="ko-KR" sz="1200" b="1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pig.txt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smtClean="0">
                <a:latin typeface="맑은 고딕" pitchFamily="50" charset="-127"/>
                <a:ea typeface="맑은 고딕" pitchFamily="50" charset="-127"/>
              </a:rPr>
              <a:t>[hadoop@client 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~]$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hdfs dfs -cat   pig.txt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aaa,100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bbb,200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ccc,300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aaa,400</a:t>
            </a:r>
          </a:p>
        </p:txBody>
      </p:sp>
    </p:spTree>
    <p:extLst>
      <p:ext uri="{BB962C8B-B14F-4D97-AF65-F5344CB8AC3E}">
        <p14:creationId xmlns:p14="http://schemas.microsoft.com/office/powerpoint/2010/main" val="2573156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12. Pig</a:t>
            </a:r>
            <a:r>
              <a:rPr kumimoji="0" lang="ko-KR" altLang="en-US" sz="3000" b="1">
                <a:solidFill>
                  <a:prstClr val="white"/>
                </a:solidFill>
              </a:rPr>
              <a:t>로 테스트하기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118209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>
                <a:solidFill>
                  <a:prstClr val="black"/>
                </a:solidFill>
              </a:rPr>
              <a:t>Pig </a:t>
            </a:r>
            <a:r>
              <a:rPr lang="ko-KR" altLang="en-US" b="1" smtClean="0">
                <a:solidFill>
                  <a:prstClr val="black"/>
                </a:solidFill>
              </a:rPr>
              <a:t>테스트 하기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0218" y="1340768"/>
            <a:ext cx="9027278" cy="363144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Grunt </a:t>
            </a: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쉘에서 테스트하기</a:t>
            </a:r>
            <a:endParaRPr lang="en-US" altLang="ko-KR" sz="15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grunt&gt; ls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grunt&gt; cat  pig.txt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grunt&gt; k2 = load 'pig.txt' using PigStorage(',')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                as ( str:chararray, price:int );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grunt&gt; k4 = GROUP k2 BY $0;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grunt&gt; k8 = foreach k4 generate group, SUM(k2.price);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grunt&gt; dump  k8;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grunt&gt; store  k8  into 'mr_pig';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grunt&gt; cat  mr_pig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grunt&gt; illustrate  k8;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grunt&gt; quit</a:t>
            </a:r>
          </a:p>
        </p:txBody>
      </p:sp>
    </p:spTree>
    <p:extLst>
      <p:ext uri="{BB962C8B-B14F-4D97-AF65-F5344CB8AC3E}">
        <p14:creationId xmlns:p14="http://schemas.microsoft.com/office/powerpoint/2010/main" val="4047670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12. Pig</a:t>
            </a:r>
            <a:r>
              <a:rPr kumimoji="0" lang="ko-KR" altLang="en-US" sz="3000" b="1">
                <a:solidFill>
                  <a:prstClr val="white"/>
                </a:solidFill>
              </a:rPr>
              <a:t>로 테스트하기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036455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>
                <a:solidFill>
                  <a:prstClr val="black"/>
                </a:solidFill>
              </a:rPr>
              <a:t>Pig </a:t>
            </a:r>
            <a:r>
              <a:rPr lang="ko-KR" altLang="en-US" b="1" smtClean="0">
                <a:solidFill>
                  <a:prstClr val="black"/>
                </a:solidFill>
              </a:rPr>
              <a:t>테스트하기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24508" y="1484784"/>
            <a:ext cx="8820980" cy="3685307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grunt&gt;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ls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hdfs://namenode.hadoop.kr:8020/user/hadoop/hadooptest.txt&lt;r 1&gt;  5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hdfs://namenode.hadoop.kr:8020/user/hadoop/pig.txt&lt;r 1&gt; 32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grunt&gt;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cat  pig.txt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aaa,100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bbb,200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ccc,300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smtClean="0">
                <a:latin typeface="맑은 고딕" pitchFamily="50" charset="-127"/>
                <a:ea typeface="맑은 고딕" pitchFamily="50" charset="-127"/>
              </a:rPr>
              <a:t>aaa,400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00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000" smtClean="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00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grunt&gt;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k2 = load 'pig.txt' using PigStorage(',')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&gt;&gt;                   as ( str:chararray, price:int );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2017-05-31 13:28:00,902 [main] INFO  org.apache.hadoop.conf.Configuration.deprecation - fs.default.name is deprecated. Instead, use fs.defaultFS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grunt&gt;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k4 = GROUP k2 BY $0;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grunt&gt;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k8 = foreach k4 generate group, SUM(k2.price);</a:t>
            </a:r>
            <a:endParaRPr lang="en-US" altLang="ko-KR" sz="1000" b="1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grunt&gt;</a:t>
            </a:r>
          </a:p>
        </p:txBody>
      </p:sp>
      <p:sp>
        <p:nvSpPr>
          <p:cNvPr id="5" name="타원형 설명선 4"/>
          <p:cNvSpPr/>
          <p:nvPr/>
        </p:nvSpPr>
        <p:spPr>
          <a:xfrm>
            <a:off x="5457056" y="1664804"/>
            <a:ext cx="3132348" cy="2268252"/>
          </a:xfrm>
          <a:prstGeom prst="wedgeEllipseCallout">
            <a:avLst>
              <a:gd name="adj1" fmla="val -97416"/>
              <a:gd name="adj2" fmla="val -1963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$ hdfs dfs –ls</a:t>
            </a:r>
          </a:p>
          <a:p>
            <a:pPr algn="ctr" latinLnBrk="0">
              <a:spcBef>
                <a:spcPct val="30000"/>
              </a:spcBef>
            </a:pPr>
            <a:r>
              <a:rPr lang="en-US" altLang="ko-KR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$ hdfs dfs –cat pig.txt</a:t>
            </a:r>
          </a:p>
          <a:p>
            <a:pPr algn="ctr" latinLnBrk="0">
              <a:spcBef>
                <a:spcPct val="30000"/>
              </a:spcBef>
            </a:pPr>
            <a:endParaRPr lang="en-US" altLang="ko-KR" sz="14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ko-KR" altLang="en-US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그냥 리눅스 파일시스템처럼</a:t>
            </a:r>
            <a:endParaRPr lang="en-US" altLang="ko-KR" sz="14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ko-KR" altLang="en-US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명령어를 실행하면 됨</a:t>
            </a:r>
            <a:endParaRPr lang="ko-KR" altLang="en-US" sz="14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가로로 말린 두루마리 모양 5"/>
          <p:cNvSpPr/>
          <p:nvPr/>
        </p:nvSpPr>
        <p:spPr>
          <a:xfrm>
            <a:off x="2228290" y="4833156"/>
            <a:ext cx="5351134" cy="1833022"/>
          </a:xfrm>
          <a:prstGeom prst="horizont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6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Select  str, SUM( price )</a:t>
            </a:r>
          </a:p>
          <a:p>
            <a:pPr algn="ctr" latinLnBrk="0">
              <a:spcBef>
                <a:spcPct val="30000"/>
              </a:spcBef>
            </a:pPr>
            <a:r>
              <a:rPr lang="en-US" altLang="ko-KR" sz="16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From ‘pig.txt’</a:t>
            </a:r>
          </a:p>
          <a:p>
            <a:pPr algn="ctr" latinLnBrk="0">
              <a:spcBef>
                <a:spcPct val="30000"/>
              </a:spcBef>
            </a:pPr>
            <a:r>
              <a:rPr lang="en-US" altLang="ko-KR" sz="16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Group by str;</a:t>
            </a:r>
            <a:endParaRPr lang="ko-KR" altLang="en-US" sz="16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0091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12. Pig</a:t>
            </a:r>
            <a:r>
              <a:rPr kumimoji="0" lang="ko-KR" altLang="en-US" sz="3000" b="1">
                <a:solidFill>
                  <a:prstClr val="white"/>
                </a:solidFill>
              </a:rPr>
              <a:t>로 테스트하기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036455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>
                <a:solidFill>
                  <a:prstClr val="black"/>
                </a:solidFill>
              </a:rPr>
              <a:t>Pig </a:t>
            </a:r>
            <a:r>
              <a:rPr lang="ko-KR" altLang="en-US" b="1" smtClean="0">
                <a:solidFill>
                  <a:prstClr val="black"/>
                </a:solidFill>
              </a:rPr>
              <a:t>테스트하기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24508" y="1484784"/>
            <a:ext cx="3924436" cy="3977695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grunt&gt; </a:t>
            </a:r>
            <a:r>
              <a:rPr lang="en-US" altLang="ko-KR" sz="1100" b="1">
                <a:latin typeface="맑은 고딕" pitchFamily="50" charset="-127"/>
                <a:ea typeface="맑은 고딕" pitchFamily="50" charset="-127"/>
              </a:rPr>
              <a:t>dump  k8;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...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[ MapReduce</a:t>
            </a:r>
            <a:r>
              <a:rPr lang="ko-KR" altLang="en-US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가 실행됨 </a:t>
            </a: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=&gt; </a:t>
            </a:r>
            <a:r>
              <a:rPr lang="ko-KR" altLang="en-US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결과값을 바로 확인 </a:t>
            </a: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]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...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(aaa,500)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(bbb,200)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(ccc,300)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smtClean="0">
                <a:latin typeface="맑은 고딕" pitchFamily="50" charset="-127"/>
                <a:ea typeface="맑은 고딕" pitchFamily="50" charset="-127"/>
              </a:rPr>
              <a:t>grunt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store  k8  into 'mr_pig';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...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[ MapReduce</a:t>
            </a:r>
            <a:r>
              <a:rPr lang="ko-KR" altLang="en-US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가 실행됨 </a:t>
            </a: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=&gt; 'mr_pig'</a:t>
            </a:r>
            <a:r>
              <a:rPr lang="ko-KR" altLang="en-US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에 결과값 저장 </a:t>
            </a: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]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...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2017-05-31 13:35:15,901 [main] INFO  org.apache.pig.backend.hadoop.executionengine.mapReduceLayer.MapReduceLauncher - </a:t>
            </a: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Success</a:t>
            </a:r>
            <a:r>
              <a:rPr lang="en-US" altLang="ko-KR" sz="1200" b="1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!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grunt&gt;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cat  mr_pig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aaa     500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bbb     200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ccc     300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592960" y="1772816"/>
            <a:ext cx="4896544" cy="4659420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grunt&gt;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illustrate  k8; 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--------------------------------------------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| k2     | str:chararray    | price:int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--------------------------------------------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|        | aaa              | 400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|        | aaa              | 100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--------------------------------------------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---------------------------------------------------------------------------------------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| k4     | group:chararray    | k2:bag{:tuple(str:chararray,price:int)}     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---------------------------------------------------------------------------------------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|        | aaa                | {}                                          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|        | aaa                | {}                                             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---------------------------------------------------------------------------------------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-------------------------------------------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| k8     | group:chararray    | :long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-------------------------------------------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|        | aaa                | 500       |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-------------------------------------------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00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grunt&gt;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quit;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2017-05-31 13:38:13,071 [main] INFO  org.apache.pig.Main - Pig script completed in 12 minutes, 28 seconds and 538 milliseconds (748538 ms)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smtClean="0">
                <a:latin typeface="맑은 고딕" pitchFamily="50" charset="-127"/>
                <a:ea typeface="맑은 고딕" pitchFamily="50" charset="-127"/>
              </a:rPr>
              <a:t>[hadoop@client 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~]$</a:t>
            </a:r>
            <a:endParaRPr lang="en-US" altLang="ko-KR" sz="1200" b="1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3320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12. Pig</a:t>
            </a:r>
            <a:r>
              <a:rPr kumimoji="0" lang="ko-KR" altLang="en-US" sz="3000" b="1">
                <a:solidFill>
                  <a:prstClr val="white"/>
                </a:solidFill>
              </a:rPr>
              <a:t>로 테스트하기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036455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en-US" altLang="ko-KR" b="1" smtClean="0">
                <a:solidFill>
                  <a:prstClr val="black"/>
                </a:solidFill>
              </a:rPr>
              <a:t>Pig </a:t>
            </a:r>
            <a:r>
              <a:rPr lang="ko-KR" altLang="en-US" b="1" smtClean="0">
                <a:solidFill>
                  <a:prstClr val="black"/>
                </a:solidFill>
              </a:rPr>
              <a:t>테스트하기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60512" y="1445962"/>
            <a:ext cx="3924436" cy="964562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00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hadoop@client ~]$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1813 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1705 RunJar =&gt; pig</a:t>
            </a:r>
            <a:r>
              <a:rPr lang="ko-KR" altLang="en-US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의 </a:t>
            </a:r>
            <a:r>
              <a:rPr lang="en-US" altLang="ko-KR" sz="14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grunt&gt; </a:t>
            </a:r>
            <a:r>
              <a:rPr lang="ko-KR" altLang="en-US" sz="1400" b="1" smtClean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쉘</a:t>
            </a:r>
            <a:endParaRPr lang="en-US" altLang="ko-KR" sz="1400" b="1" smtClean="0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[hadoop@client ~]$</a:t>
            </a:r>
            <a:endParaRPr lang="ko-KR" altLang="en-US" sz="1400" b="1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484948" y="3645024"/>
            <a:ext cx="4896544" cy="3045132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[hadoop@client ~]$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ssh namenode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Last login: Wed Jun  7 15:47:50 2017 from client.hadoop.kr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 smtClean="0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hadoop@namenode ~]$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2017 NameNode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3747 MRAppMaster       =&gt; </a:t>
            </a:r>
            <a:r>
              <a:rPr lang="ko-KR" altLang="en-US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맵리듀스 어플리케이션 마스터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2645 JobHistoryServer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3917 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3878 YarnChild         =&gt; </a:t>
            </a:r>
            <a:r>
              <a:rPr lang="ko-KR" altLang="en-US" sz="1200" b="1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맵리듀스 태스크 콘테이너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2427 NodeManager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2139 DataNode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[hadoop@namenode ~]$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exit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logout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Connection to namenode closed.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[hadoop@client ~]$</a:t>
            </a:r>
            <a:endParaRPr lang="en-US" altLang="ko-KR" sz="1200" b="1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타원형 설명선 5"/>
          <p:cNvSpPr/>
          <p:nvPr/>
        </p:nvSpPr>
        <p:spPr>
          <a:xfrm>
            <a:off x="4484948" y="944724"/>
            <a:ext cx="5112568" cy="1465800"/>
          </a:xfrm>
          <a:prstGeom prst="wedgeEllipseCallout">
            <a:avLst>
              <a:gd name="adj1" fmla="val -68154"/>
              <a:gd name="adj2" fmla="val 2581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pig</a:t>
            </a:r>
            <a:r>
              <a:rPr lang="ko-KR" altLang="en-US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의 </a:t>
            </a: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grunt&gt;</a:t>
            </a:r>
            <a:r>
              <a:rPr lang="ko-KR" altLang="en-US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에 접속해 있을 때</a:t>
            </a:r>
          </a:p>
          <a:p>
            <a:pPr algn="ctr" latinLnBrk="0">
              <a:spcBef>
                <a:spcPct val="30000"/>
              </a:spcBef>
            </a:pPr>
            <a:r>
              <a:rPr lang="ko-KR" altLang="en-US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 </a:t>
            </a: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 </a:t>
            </a:r>
            <a:r>
              <a:rPr lang="ko-KR" altLang="en-US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클라이언트 노드의 </a:t>
            </a: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jps </a:t>
            </a:r>
            <a:r>
              <a:rPr lang="ko-KR" altLang="en-US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결과</a:t>
            </a:r>
          </a:p>
        </p:txBody>
      </p:sp>
      <p:sp>
        <p:nvSpPr>
          <p:cNvPr id="9" name="타원형 설명선 8"/>
          <p:cNvSpPr/>
          <p:nvPr/>
        </p:nvSpPr>
        <p:spPr>
          <a:xfrm>
            <a:off x="280718" y="2584103"/>
            <a:ext cx="5356358" cy="1456965"/>
          </a:xfrm>
          <a:prstGeom prst="wedgeEllipseCallout">
            <a:avLst>
              <a:gd name="adj1" fmla="val 24823"/>
              <a:gd name="adj2" fmla="val 110795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pig</a:t>
            </a:r>
            <a:r>
              <a:rPr lang="ko-KR" altLang="en-US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의 </a:t>
            </a: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grunt&gt;</a:t>
            </a:r>
            <a:r>
              <a:rPr lang="ko-KR" altLang="en-US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에서 맵리듀스를 실행할 때 </a:t>
            </a:r>
          </a:p>
          <a:p>
            <a:pPr algn="ctr" latinLnBrk="0">
              <a:spcBef>
                <a:spcPct val="30000"/>
              </a:spcBef>
            </a:pPr>
            <a:r>
              <a:rPr lang="ko-KR" altLang="en-US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 </a:t>
            </a: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= </a:t>
            </a:r>
            <a:r>
              <a:rPr lang="ko-KR" altLang="en-US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네임노드의 </a:t>
            </a:r>
            <a:r>
              <a:rPr lang="en-US" altLang="ko-KR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jps </a:t>
            </a:r>
            <a:r>
              <a:rPr lang="ko-KR" altLang="en-US" sz="14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결과</a:t>
            </a:r>
          </a:p>
        </p:txBody>
      </p:sp>
    </p:spTree>
    <p:extLst>
      <p:ext uri="{BB962C8B-B14F-4D97-AF65-F5344CB8AC3E}">
        <p14:creationId xmlns:p14="http://schemas.microsoft.com/office/powerpoint/2010/main" val="1260781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90218" y="1340768"/>
            <a:ext cx="9027278" cy="495180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서비스 시작 순서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         HDFS -&gt; YARN -&gt; MR-History Server</a:t>
            </a:r>
          </a:p>
          <a:p>
            <a:pPr marL="285750" indent="-2857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ko-KR" altLang="en-US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서비스 중단하기 순서 </a:t>
            </a:r>
            <a:r>
              <a:rPr lang="en-US" altLang="ko-KR" sz="15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:    </a:t>
            </a:r>
            <a:r>
              <a:rPr lang="en-US" altLang="ko-KR" sz="15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YARN -&gt; MR-History Server -&gt; HDFS</a:t>
            </a:r>
          </a:p>
          <a:p>
            <a:pPr marL="171450" indent="-1714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1</a:t>
            </a:r>
            <a:r>
              <a:rPr lang="ko-KR" altLang="en-US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머신에서 </a:t>
            </a:r>
            <a:r>
              <a:rPr lang="en-US" altLang="ko-KR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머신으로 </a:t>
            </a:r>
            <a:r>
              <a:rPr lang="en-US" altLang="ko-KR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 </a:t>
            </a:r>
            <a:r>
              <a:rPr lang="ko-KR" altLang="en-US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접속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1]$ ssh secondnode</a:t>
            </a:r>
          </a:p>
          <a:p>
            <a:pPr marL="171450" indent="-1714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2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en-US" altLang="ko-KR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YARN </a:t>
            </a:r>
            <a:r>
              <a:rPr lang="ko-KR" altLang="en-US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서비스 중단하기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2]$ hadoop/sbin/stop-yarn.sh</a:t>
            </a:r>
          </a:p>
          <a:p>
            <a:pPr marL="171450" indent="-1714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2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</a:t>
            </a:r>
            <a:r>
              <a:rPr lang="en-US" altLang="ko-KR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머신에서 자바 데몬 확인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3]$ jps</a:t>
            </a:r>
          </a:p>
          <a:p>
            <a:pPr marL="171450" indent="-1714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2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</a:t>
            </a:r>
            <a:r>
              <a:rPr lang="en-US" altLang="ko-KR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머신에서 </a:t>
            </a:r>
            <a:r>
              <a:rPr lang="en-US" altLang="ko-KR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머신으로 </a:t>
            </a:r>
            <a:r>
              <a:rPr lang="en-US" altLang="ko-KR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SSH </a:t>
            </a:r>
            <a:r>
              <a:rPr lang="ko-KR" altLang="en-US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접속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4]$ ssh namenode</a:t>
            </a:r>
          </a:p>
          <a:p>
            <a:pPr marL="171450" indent="-1714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2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en-US" altLang="ko-KR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MR-History Server </a:t>
            </a:r>
            <a:r>
              <a:rPr lang="ko-KR" altLang="en-US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중단하기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5]$ hadoop/sbin/mr-jobhistory-daemon.sh stop historyserver</a:t>
            </a:r>
          </a:p>
          <a:p>
            <a:pPr marL="171450" indent="-1714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2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en-US" altLang="ko-KR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HDFS </a:t>
            </a:r>
            <a:r>
              <a:rPr lang="ko-KR" altLang="en-US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서비스 중단하기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en-US" altLang="ko-KR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6]$ hadoop/sbin/stop-dfs.sh</a:t>
            </a:r>
          </a:p>
          <a:p>
            <a:pPr marL="171450" indent="-1714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2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-&gt; </a:t>
            </a:r>
            <a:r>
              <a:rPr lang="en-US" altLang="ko-KR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머신에서 </a:t>
            </a:r>
            <a:r>
              <a:rPr lang="en-US" altLang="ko-KR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HDFS </a:t>
            </a:r>
            <a:r>
              <a:rPr lang="ko-KR" altLang="en-US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자바 데몬 확인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[7</a:t>
            </a:r>
            <a:r>
              <a:rPr lang="en-US" altLang="ko-KR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]$ jps</a:t>
            </a:r>
          </a:p>
          <a:p>
            <a:pPr marL="171450" indent="-1714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2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&lt;- </a:t>
            </a:r>
            <a:r>
              <a:rPr lang="ko-KR" altLang="en-US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로그아웃하여 다시 </a:t>
            </a:r>
            <a:r>
              <a:rPr lang="en-US" altLang="ko-KR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머신으로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[8]$ exit</a:t>
            </a:r>
          </a:p>
          <a:p>
            <a:pPr marL="171450" indent="-171450" latinLnBrk="0">
              <a:spcBef>
                <a:spcPct val="30000"/>
              </a:spcBef>
              <a:buFont typeface="Arial" panose="020B0604020202020204" pitchFamily="34" charset="0"/>
              <a:buChar char="•"/>
            </a:pPr>
            <a:r>
              <a:rPr lang="en-US" altLang="ko-KR" sz="12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&lt;- </a:t>
            </a:r>
            <a:r>
              <a:rPr lang="ko-KR" altLang="en-US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로그아웃하여 다시 </a:t>
            </a:r>
            <a:r>
              <a:rPr lang="en-US" altLang="ko-KR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번 머신으로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[9]$ exit</a:t>
            </a:r>
          </a:p>
        </p:txBody>
      </p:sp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 smtClean="0">
                <a:solidFill>
                  <a:prstClr val="white"/>
                </a:solidFill>
              </a:rPr>
              <a:t>13. </a:t>
            </a:r>
            <a:r>
              <a:rPr kumimoji="0" lang="ko-KR" altLang="en-US" sz="3000" b="1" smtClean="0">
                <a:solidFill>
                  <a:prstClr val="white"/>
                </a:solidFill>
              </a:rPr>
              <a:t>하둡 서비스 중단하기</a:t>
            </a:r>
            <a:endParaRPr kumimoji="0" lang="ko-KR" altLang="en-US" sz="3000" b="1">
              <a:solidFill>
                <a:prstClr val="white"/>
              </a:solidFill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690480" cy="391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>
                <a:solidFill>
                  <a:prstClr val="black"/>
                </a:solidFill>
              </a:rPr>
              <a:t>하둡 서비스 중단하기</a:t>
            </a:r>
          </a:p>
        </p:txBody>
      </p:sp>
      <p:sp>
        <p:nvSpPr>
          <p:cNvPr id="6" name="타원형 설명선 5"/>
          <p:cNvSpPr/>
          <p:nvPr/>
        </p:nvSpPr>
        <p:spPr>
          <a:xfrm>
            <a:off x="5925357" y="2060848"/>
            <a:ext cx="3204356" cy="1656184"/>
          </a:xfrm>
          <a:prstGeom prst="wedgeEllipseCallout">
            <a:avLst>
              <a:gd name="adj1" fmla="val -75884"/>
              <a:gd name="adj2" fmla="val -1183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latinLnBrk="0">
              <a:spcBef>
                <a:spcPct val="30000"/>
              </a:spcBef>
            </a:pPr>
            <a:r>
              <a:rPr lang="en-US" altLang="ko-KR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[NOTE]</a:t>
            </a:r>
          </a:p>
          <a:p>
            <a:pPr algn="ctr" latinLnBrk="0">
              <a:spcBef>
                <a:spcPct val="30000"/>
              </a:spcBef>
            </a:pPr>
            <a:r>
              <a:rPr lang="en-US" altLang="ko-KR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HDFS </a:t>
            </a:r>
            <a:r>
              <a:rPr lang="ko-KR" altLang="en-US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서비스를</a:t>
            </a:r>
            <a:endParaRPr lang="en-US" altLang="ko-KR" sz="14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ko-KR" altLang="en-US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처음 시작하고 </a:t>
            </a:r>
            <a:endParaRPr lang="en-US" altLang="ko-KR" sz="1400" b="1" smtClean="0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spcBef>
                <a:spcPct val="30000"/>
              </a:spcBef>
            </a:pPr>
            <a:r>
              <a:rPr lang="ko-KR" altLang="en-US" sz="1400" b="1" smtClean="0">
                <a:ln>
                  <a:gradFill>
                    <a:gsLst>
                      <a:gs pos="100000">
                        <a:prstClr val="white">
                          <a:alpha val="0"/>
                        </a:prstClr>
                      </a:gs>
                      <a:gs pos="100000">
                        <a:srgbClr val="4F81BD">
                          <a:tint val="23500"/>
                          <a:satMod val="160000"/>
                        </a:srgbClr>
                      </a:gs>
                    </a:gsLst>
                    <a:lin ang="5400000" scaled="0"/>
                  </a:gradFill>
                </a:ln>
                <a:solidFill>
                  <a:prstClr val="black"/>
                </a:solidFill>
                <a:effectLst>
                  <a:glow>
                    <a:prstClr val="white"/>
                  </a:glow>
                </a:effectLst>
                <a:latin typeface="맑은 고딕" pitchFamily="50" charset="-127"/>
                <a:ea typeface="맑은 고딕" pitchFamily="50" charset="-127"/>
              </a:rPr>
              <a:t>마지막에 종료</a:t>
            </a:r>
            <a:endParaRPr lang="ko-KR" altLang="en-US" sz="1400" b="1">
              <a:ln>
                <a:gradFill>
                  <a:gsLst>
                    <a:gs pos="100000">
                      <a:prstClr val="white">
                        <a:alpha val="0"/>
                      </a:prstClr>
                    </a:gs>
                    <a:gs pos="100000">
                      <a:srgbClr val="4F81BD">
                        <a:tint val="23500"/>
                        <a:satMod val="160000"/>
                      </a:srgbClr>
                    </a:gs>
                  </a:gsLst>
                  <a:lin ang="5400000" scaled="0"/>
                </a:gradFill>
              </a:ln>
              <a:solidFill>
                <a:prstClr val="black"/>
              </a:solidFill>
              <a:effectLst>
                <a:glow>
                  <a:prstClr val="white"/>
                </a:glow>
              </a:effectLst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3286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제목 2"/>
          <p:cNvSpPr>
            <a:spLocks/>
          </p:cNvSpPr>
          <p:nvPr/>
        </p:nvSpPr>
        <p:spPr bwMode="auto">
          <a:xfrm>
            <a:off x="415925" y="188913"/>
            <a:ext cx="87137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ko-KR" sz="3000" b="1">
                <a:solidFill>
                  <a:prstClr val="white"/>
                </a:solidFill>
              </a:rPr>
              <a:t>13. </a:t>
            </a:r>
            <a:r>
              <a:rPr kumimoji="0" lang="ko-KR" altLang="en-US" sz="3000" b="1">
                <a:solidFill>
                  <a:prstClr val="white"/>
                </a:solidFill>
              </a:rPr>
              <a:t>하둡 서비스 중단하기</a:t>
            </a: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280718" y="944724"/>
            <a:ext cx="2690480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261938" indent="-261938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30000"/>
              </a:spcBef>
              <a:buFont typeface="Wingdings" pitchFamily="2" charset="2"/>
              <a:buChar char="l"/>
            </a:pPr>
            <a:r>
              <a:rPr lang="ko-KR" altLang="en-US" b="1" smtClean="0">
                <a:solidFill>
                  <a:prstClr val="black"/>
                </a:solidFill>
              </a:rPr>
              <a:t>하둡 서비스 중단하기</a:t>
            </a:r>
            <a:endParaRPr lang="ko-KR" altLang="en-US" b="1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28845" y="1375333"/>
            <a:ext cx="4456257" cy="4379343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[hadoop@client ~]$ ssh secondnode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Last login: Wed Jun  7 15:47:23 2017 from namenode.hadoop.kr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[hadoop@secondnode ~]$ hadoop/sbin/stop-yarn.sh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stopping yarn daemons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stopping resourcemanager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datanode2.hadoop.kr: stopping nodemanager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datanode1.hadoop.kr: stopping nodemanager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datanode2.hadoop.kr: nodemanager did not stop gracefully after 5 seconds: killing with kill -9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datanode1.hadoop.kr: nodemanager did not stop gracefully after 5 seconds: killing with kill -9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no proxyserver to stop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[hadoop@secondnode ~]$ 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1147 DataNode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1235 SecondaryNameNode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2686 Jps</a:t>
            </a:r>
          </a:p>
          <a:p>
            <a:pPr marL="0" indent="0" latinLnBrk="0">
              <a:spcBef>
                <a:spcPct val="30000"/>
              </a:spcBef>
            </a:pPr>
            <a:endParaRPr lang="en-US" altLang="ko-KR" sz="1050">
              <a:latin typeface="맑은 고딕" pitchFamily="50" charset="-127"/>
              <a:ea typeface="맑은 고딕" pitchFamily="50" charset="-127"/>
            </a:endParaRPr>
          </a:p>
          <a:p>
            <a:pPr marL="0" indent="0" latinLnBrk="0">
              <a:spcBef>
                <a:spcPct val="30000"/>
              </a:spcBef>
            </a:pPr>
            <a:endParaRPr lang="en-US" altLang="ko-KR" sz="105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847656" y="1369456"/>
            <a:ext cx="4701733" cy="5030291"/>
          </a:xfrm>
          <a:prstGeom prst="rect">
            <a:avLst/>
          </a:prstGeom>
          <a:solidFill>
            <a:schemeClr val="tx1">
              <a:lumMod val="50000"/>
              <a:lumOff val="50000"/>
              <a:alpha val="28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wrap="square" lIns="98746" tIns="49373" rIns="98746" bIns="49373">
            <a:spAutoFit/>
          </a:bodyPr>
          <a:lstStyle>
            <a:lvl1pPr marL="261938" indent="-261938">
              <a:defRPr kumimoji="1" sz="32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1pPr>
            <a:lvl2pPr marL="481013" indent="-184150">
              <a:defRPr kumimoji="1" sz="2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2pPr>
            <a:lvl3pPr marL="682625" indent="-182563">
              <a:defRPr kumimoji="1" sz="24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3pPr>
            <a:lvl4pPr marL="885825" indent="-19685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4pPr>
            <a:lvl5pPr marL="2057400" indent="-228600"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5pPr>
            <a:lvl6pPr marL="25146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6pPr>
            <a:lvl7pPr marL="29718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7pPr>
            <a:lvl8pPr marL="34290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8pPr>
            <a:lvl9pPr marL="3886200" indent="-228600" eaLnBrk="0" hangingPunct="0">
              <a:buFont typeface="Arial" pitchFamily="34" charset="0"/>
              <a:defRPr kumimoji="1" sz="20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sym typeface="나눔고딕" pitchFamily="50" charset="-127"/>
              </a:defRPr>
            </a:lvl9pPr>
          </a:lstStyle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[hadoop@secondnode ~]$ ssh namenode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Last login: Wed Jun  7 15:50:09 2017 from client.hadoop.kr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[hadoop@namenode ~]$ hadoop/sbin/mr-jobhistory-daemon.sh stop historyserver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stopping historyserver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[hadoop@namenode ~]$ hadoop/sbin/stop-dfs.sh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Stopping namenodes on [namenode.hadoop.kr]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namenode.hadoop.kr: stopping namenode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datanode2.hadoop.kr: stopping datanode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datanode1.hadoop.kr: stopping datanode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Stopping secondary namenodes [secondnode.hadoop.kr]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secondnode.hadoop.kr: stopping secondarynamenode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[hadoop@namenode ~]$ 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4425 Jps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[hadoop@namenode ~]$ exit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logout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Connection to namenode closed.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[hadoop@secondnode ~]$ exit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logout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Connection to secondnode closed.</a:t>
            </a:r>
          </a:p>
          <a:p>
            <a:pPr marL="0" indent="0" latinLnBrk="0">
              <a:spcBef>
                <a:spcPct val="30000"/>
              </a:spcBef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[hadoop@client ~]$</a:t>
            </a:r>
            <a:endParaRPr lang="en-US" altLang="ko-KR" sz="1600" b="1">
              <a:solidFill>
                <a:srgbClr val="C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8883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 idx="4294967295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pPr eaLnBrk="1" hangingPunct="1"/>
            <a:endParaRPr lang="ko-KR" altLang="en-US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699" name="Rectangle 3"/>
          <p:cNvSpPr>
            <a:spLocks noGrp="1"/>
          </p:cNvSpPr>
          <p:nvPr>
            <p:ph type="body" idx="4294967295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eaLnBrk="1" hangingPunct="1"/>
            <a:endParaRPr lang="ko-KR" altLang="en-US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>
              <a:lnSpc>
                <a:spcPct val="120000"/>
              </a:lnSpc>
              <a:spcBef>
                <a:spcPct val="30000"/>
              </a:spcBef>
            </a:pPr>
            <a:r>
              <a:rPr lang="ko-KR" altLang="en-US" sz="4000" b="1" smtClean="0">
                <a:solidFill>
                  <a:prstClr val="black"/>
                </a:solidFill>
              </a:rPr>
              <a:t>감사합니다</a:t>
            </a:r>
            <a:r>
              <a:rPr lang="en-US" altLang="ko-KR" sz="4000" b="1" smtClean="0">
                <a:solidFill>
                  <a:prstClr val="black"/>
                </a:solidFill>
              </a:rPr>
              <a:t>.</a:t>
            </a:r>
            <a:endParaRPr lang="ko-KR" altLang="en-US" sz="4000" b="1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8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맑은 고딕"/>
        <a:ea typeface="맑은 고딕"/>
        <a:cs typeface="굴림"/>
      </a:majorFont>
      <a:minorFont>
        <a:latin typeface="맑은 고딕"/>
        <a:ea typeface="맑은 고딕"/>
        <a:cs typeface="굴림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7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7_Office 테마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8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7_Office 테마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2651</TotalTime>
  <Words>10836</Words>
  <Application>Microsoft Office PowerPoint</Application>
  <PresentationFormat>A4 용지(210x297mm)</PresentationFormat>
  <Paragraphs>2116</Paragraphs>
  <Slides>67</Slides>
  <Notes>65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67</vt:i4>
      </vt:variant>
    </vt:vector>
  </HeadingPairs>
  <TitlesOfParts>
    <vt:vector size="77" baseType="lpstr">
      <vt:lpstr>@산돌퍼즐Bk</vt:lpstr>
      <vt:lpstr>굴림</vt:lpstr>
      <vt:lpstr>나눔고딕</vt:lpstr>
      <vt:lpstr>맑은 고딕</vt:lpstr>
      <vt:lpstr>Arial</vt:lpstr>
      <vt:lpstr>Symbol</vt:lpstr>
      <vt:lpstr>Wingdings</vt:lpstr>
      <vt:lpstr>디자인 사용자 지정</vt:lpstr>
      <vt:lpstr>17_Office 테마</vt:lpstr>
      <vt:lpstr>18_Office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클라우드 빅데이타 개발자 과정</dc:title>
  <dc:creator>장형석</dc:creator>
  <cp:lastModifiedBy>user</cp:lastModifiedBy>
  <cp:revision>249</cp:revision>
  <dcterms:created xsi:type="dcterms:W3CDTF">2012-04-02T02:40:52Z</dcterms:created>
  <dcterms:modified xsi:type="dcterms:W3CDTF">2017-06-12T06:48:48Z</dcterms:modified>
</cp:coreProperties>
</file>